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c3ae86f3c44fc3" /><Relationship Type="http://schemas.openxmlformats.org/officeDocument/2006/relationships/extended-properties" Target="/docProps/app.xml" Id="R01f3a3ea28df49d8" /><Relationship Type="http://schemas.openxmlformats.org/officeDocument/2006/relationships/officeDocument" Target="/ppt/presentation.xml" Id="R56ed996be7df48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a4691411bf497b"/>
  </p:sldMasterIdLst>
  <p:notesMasterIdLst>
    <p:notesMasterId xmlns:r="http://schemas.openxmlformats.org/officeDocument/2006/relationships" r:id="Ra42f75bed97f4bd7"/>
  </p:notesMasterIdLst>
  <p:sldIdLst>
    <p:sldId xmlns:r="http://schemas.openxmlformats.org/officeDocument/2006/relationships" id="256" r:id="Rb940803168854aff"/>
  </p:sldIdLst>
  <p:sldSz cx="43891200" cy="3291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670e77301745c0" /><Relationship Type="http://schemas.openxmlformats.org/officeDocument/2006/relationships/slideMaster" Target="/ppt/slideMasters/slideMaster1.xml" Id="Rd8a4691411bf497b" /><Relationship Type="http://schemas.openxmlformats.org/officeDocument/2006/relationships/notesMaster" Target="/ppt/notesMasters/notesMaster1.xml" Id="Ra42f75bed97f4bd7" /><Relationship Type="http://schemas.openxmlformats.org/officeDocument/2006/relationships/presProps" Target="/ppt/presProps.xml" Id="R50c99b9b50d3405a" /><Relationship Type="http://schemas.openxmlformats.org/officeDocument/2006/relationships/tableStyles" Target="/ppt/tableStyles.xml" Id="Rc93b55cef15843d3" /><Relationship Type="http://schemas.openxmlformats.org/officeDocument/2006/relationships/slide" Target="/ppt/slides/slide1.xml" Id="Rb940803168854a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2f9327a4064b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668e5420514187" /><Relationship Type="http://schemas.openxmlformats.org/officeDocument/2006/relationships/notesMaster" Target="/ppt/notesMasters/notesMaster1.xml" Id="R89c4475f0a474a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Paper: https://arxiv.org/abs/2511.21075 (v4), supplied camera-ready source E:/NeurIPS2026/BFT_NeurIPS2026_camera_ready_source/neurips_2026_arxiv.tex and BFT-arxiv.pdf. Authors, affiliations, diagnostic values, equations and GRPO figures are from this source. VCWorld values use three-decimal averages in Results, rather than the two-decimal main table. Figures 1 and 2 are original author-provided raster assets; they can be replaced independently. All poster text and the VCWorld chart are native editable objects. Logo originals: author-supplied E:/NeurIPS2026/logo/tencent.png and tencent_ai4ls.png. Only these two institutional logos appear. Layout inspiration: NeurIPS 2022 DynamicD PPTX, https://github.com/dave21-py/cvpr_templates/blob/main/poster_neurips22_dynamicd.pptx (48x36 inches, white background, blue section headings, two columns). This poster adapts the layout and retains a 48x36 inch canvas. NeurIPS link supplied by author: https://nips.cc/virtual/2026/loc/sydney/poster/149582. Caveats: dense concept enrichment is corroboration, not direct epistemic ground truth. BFT's Gemini comparison is not statistically significant at five-cell-line p=.088. GRPO pattern is specific to the evaluated setup. Representation comparisons are task-specific; scMODAL remains higher in scIB integration. Profile generation, not STATE decoder training, is zero-shot with respect to perturbation datasets.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3a81d0e1c341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e08323024049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9efbbc2be443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357f0c9a7d41f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385092552c445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cde44e9b3344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3DE373-0A70-4A7A-8B53-5BF5AC0C38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389120" y="12435840"/>
            <a:ext cx="35112960" cy="4754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728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7EC0180-0241-483B-915F-314A8BE04B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83680" y="18105120"/>
            <a:ext cx="3072384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6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84CC432-60A4-49F2-BDB4-BD1F50AB91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389120" y="13716000"/>
            <a:ext cx="35112960" cy="548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1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B9C3FCD-A0B2-4CCD-8D30-B3065C2C51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468880" y="2560320"/>
            <a:ext cx="38953440" cy="402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88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AB07D13-9431-41E5-95B0-B4A1077AA5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468880" y="9144000"/>
            <a:ext cx="38953440" cy="2048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8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82296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1pPr>
            <a:lvl2pPr marL="192024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2pPr>
            <a:lvl3pPr marL="301752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3pPr>
            <a:lvl4pPr marL="411480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4pPr>
            <a:lvl5pPr marL="521208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5pPr>
            <a:lvl6pPr marL="630936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6pPr>
            <a:lvl7pPr marL="740664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7pPr>
            <a:lvl8pPr marL="850392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8pPr>
            <a:lvl9pPr marL="960120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F3702A2-4A98-4461-AFB5-3817C0D2F0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468880" y="2560320"/>
            <a:ext cx="38953440" cy="402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88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0BD9D9-1D83-4899-8D10-5601F80EF5E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468880" y="9144000"/>
            <a:ext cx="18105120" cy="2048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756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82296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1pPr>
            <a:lvl2pPr marL="192024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2pPr>
            <a:lvl3pPr marL="301752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3pPr>
            <a:lvl4pPr marL="411480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4pPr>
            <a:lvl5pPr marL="521208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5pPr>
            <a:lvl6pPr marL="630936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6pPr>
            <a:lvl7pPr marL="740664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7pPr>
            <a:lvl8pPr marL="850392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8pPr>
            <a:lvl9pPr marL="960120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70488D1-F299-4870-B54B-675284C3F5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317200" y="9144000"/>
            <a:ext cx="18105120" cy="2048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756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82296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1pPr>
            <a:lvl2pPr marL="192024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2pPr>
            <a:lvl3pPr marL="301752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3pPr>
            <a:lvl4pPr marL="411480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4pPr>
            <a:lvl5pPr marL="521208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5pPr>
            <a:lvl6pPr marL="630936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6pPr>
            <a:lvl7pPr marL="740664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7pPr>
            <a:lvl8pPr marL="850392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8pPr>
            <a:lvl9pPr marL="960120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259EE7-DB92-44ED-8ABF-A042D92BC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468880" y="2560320"/>
            <a:ext cx="38953440" cy="402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88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45EAF4-EA29-4364-B506-083507AA26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468880" y="9144000"/>
            <a:ext cx="18105120" cy="2048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8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82296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1pPr>
            <a:lvl2pPr marL="192024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2pPr>
            <a:lvl3pPr marL="301752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3pPr>
            <a:lvl4pPr marL="411480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4pPr>
            <a:lvl5pPr marL="521208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5pPr>
            <a:lvl6pPr marL="630936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6pPr>
            <a:lvl7pPr marL="740664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7pPr>
            <a:lvl8pPr marL="850392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8pPr>
            <a:lvl9pPr marL="9601200" indent="-822960">
              <a:lnSpc>
                <a:spcPct val="110000"/>
              </a:lnSpc>
              <a:spcBef>
                <a:spcPts val="0"/>
              </a:spcBef>
              <a:spcAft>
                <a:spcPts val="432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ee194f1ebb4ac1" /><Relationship Type="http://schemas.openxmlformats.org/officeDocument/2006/relationships/slideLayout" Target="/ppt/slideLayouts/slideLayout1.xml" Id="R62771445f1064fdd" /><Relationship Type="http://schemas.openxmlformats.org/officeDocument/2006/relationships/slideLayout" Target="/ppt/slideLayouts/slideLayout2.xml" Id="Racd9666120944f8a" /><Relationship Type="http://schemas.openxmlformats.org/officeDocument/2006/relationships/slideLayout" Target="/ppt/slideLayouts/slideLayout3.xml" Id="Re13964054a0c41a3" /><Relationship Type="http://schemas.openxmlformats.org/officeDocument/2006/relationships/slideLayout" Target="/ppt/slideLayouts/slideLayout4.xml" Id="R108aa9aacf334ab4" /><Relationship Type="http://schemas.openxmlformats.org/officeDocument/2006/relationships/slideLayout" Target="/ppt/slideLayouts/slideLayout5.xml" Id="R7831ddbacbf04dd3" /><Relationship Type="http://schemas.openxmlformats.org/officeDocument/2006/relationships/slideLayout" Target="/ppt/slideLayouts/slideLayout6.xml" Id="R6dc00ab088ee41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771445f1064fdd"/>
    <p:sldLayoutId xmlns:r="http://schemas.openxmlformats.org/officeDocument/2006/relationships" id="2147483650" r:id="Racd9666120944f8a"/>
    <p:sldLayoutId xmlns:r="http://schemas.openxmlformats.org/officeDocument/2006/relationships" id="2147483651" r:id="Re13964054a0c41a3"/>
    <p:sldLayoutId xmlns:r="http://schemas.openxmlformats.org/officeDocument/2006/relationships" id="2147483652" r:id="R108aa9aacf334ab4"/>
    <p:sldLayoutId xmlns:r="http://schemas.openxmlformats.org/officeDocument/2006/relationships" id="2147483653" r:id="R7831ddbacbf04dd3"/>
    <p:sldLayoutId xmlns:r="http://schemas.openxmlformats.org/officeDocument/2006/relationships" id="2147483654" r:id="R6dc00ab088ee41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309804d48a4bc3" /><Relationship Type="http://schemas.openxmlformats.org/officeDocument/2006/relationships/image" Target="/ppt/media/image.png" Id="Re33a66776ac3497b" /><Relationship Type="http://schemas.openxmlformats.org/officeDocument/2006/relationships/image" Target="/ppt/media/image2.png" Id="Re6dc8a3c14924ef0" /><Relationship Type="http://schemas.openxmlformats.org/officeDocument/2006/relationships/image" Target="/ppt/media/image3.png" Id="R0eb224ca069340b3" /><Relationship Type="http://schemas.openxmlformats.org/officeDocument/2006/relationships/chart" Target="/ppt/slides/charts/chart1.xml" Id="Ra42469700c004104" /><Relationship Type="http://schemas.openxmlformats.org/officeDocument/2006/relationships/image" Target="/ppt/media/image4.png" Id="R485a6e214a5b4c21" /><Relationship Type="http://schemas.openxmlformats.org/officeDocument/2006/relationships/notesSlide" Target="/ppt/notesSlides/notesSlide1.xml" Id="R976e6d30440b44c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Before GRPO</c:v>
          </c:tx>
          <c:spPr>
            <a:solidFill xmlns:a="http://schemas.openxmlformats.org/drawingml/2006/main">
              <a:srgbClr val="B1C9DB"/>
            </a:solidFill>
          </c:spPr>
          <c:cat>
            <c:strRef>
              <c:f>'Chart Data'!$A$2:$A$6</c:f>
              <c:strCache>
                <c:ptCount val="5"/>
                <c:pt idx="0">
                  <c:v>DFT</c:v>
                </c:pt>
                <c:pt idx="1">
                  <c:v>SFT</c:v>
                </c:pt>
                <c:pt idx="2">
                  <c:v>BFT-sample</c:v>
                </c:pt>
                <c:pt idx="3">
                  <c:v>BFT-token</c:v>
                </c:pt>
                <c:pt idx="4">
                  <c:v>BFT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0.49</c:v>
                </c:pt>
                <c:pt idx="1">
                  <c:v>0.562</c:v>
                </c:pt>
                <c:pt idx="2">
                  <c:v>0.596</c:v>
                </c:pt>
                <c:pt idx="3">
                  <c:v>0.66</c:v>
                </c:pt>
                <c:pt idx="4">
                  <c:v>0.696</c:v>
                </c:pt>
              </c:numCache>
            </c:numRef>
          </c:val>
        </c:ser>
        <c:ser>
          <c:idx val="1"/>
          <c:order val="1"/>
          <c:tx>
            <c:v>After GRPO</c:v>
          </c:tx>
          <c:spPr>
            <a:solidFill xmlns:a="http://schemas.openxmlformats.org/drawingml/2006/main">
              <a:srgbClr val="08756D"/>
            </a:solidFill>
          </c:spPr>
          <c:cat>
            <c:strRef>
              <c:f>'Chart Data'!$C$2:$C$6</c:f>
              <c:strCache>
                <c:ptCount val="5"/>
                <c:pt idx="0">
                  <c:v>DFT</c:v>
                </c:pt>
                <c:pt idx="1">
                  <c:v>SFT</c:v>
                </c:pt>
                <c:pt idx="2">
                  <c:v>BFT-sample</c:v>
                </c:pt>
                <c:pt idx="3">
                  <c:v>BFT-token</c:v>
                </c:pt>
                <c:pt idx="4">
                  <c:v>BFT</c:v>
                </c:pt>
              </c:strCache>
            </c:str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0.42</c:v>
                </c:pt>
                <c:pt idx="1">
                  <c:v>0.486</c:v>
                </c:pt>
                <c:pt idx="2">
                  <c:v>0.624</c:v>
                </c:pt>
                <c:pt idx="3">
                  <c:v>0.694</c:v>
                </c:pt>
                <c:pt idx="4">
                  <c:v>0.736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550">
                  <a:solidFill>
                    <a:srgbClr val="183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BE4E7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475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925">
              <a:solidFill>
                <a:srgbClr val="18343D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conference">
            <a:extLst xmlns:a="http://schemas.openxmlformats.org/drawingml/2006/main">
              <a:ext uri="{FF2B5EF4-FFF2-40B4-BE49-F238E27FC236}">
                <a16:creationId xmlns:a16="http://schemas.microsoft.com/office/drawing/2014/main" id="{B3CB59B3-D025-4656-82B4-A770EC92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"/>
            <a:ext cx="3238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5D9B"/>
                </a:solidFill>
                <a:latin typeface="Arial"/>
                <a:ea typeface="Arial"/>
                <a:cs typeface="Arial"/>
              </a:rPr>
              <a:t>NeurIPS 2026</a:t>
            </a:r>
          </a:p>
        </p:txBody>
      </p:sp>
      <p:sp>
        <p:nvSpPr>
          <p:cNvPr id="2" name="paper-title">
            <a:extLst xmlns:a="http://schemas.openxmlformats.org/drawingml/2006/main">
              <a:ext uri="{FF2B5EF4-FFF2-40B4-BE49-F238E27FC236}">
                <a16:creationId xmlns:a16="http://schemas.microsoft.com/office/drawing/2014/main" id="{BE4B3642-8E35-401D-BA5D-D5C8F240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04900"/>
            <a:ext cx="3362325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825" b="1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825" b="1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6825" b="1">
                <a:solidFill>
                  <a:srgbClr val="18343D"/>
                </a:solidFill>
                <a:latin typeface="Arial"/>
                <a:ea typeface="Arial"/>
                <a:cs typeface="Arial"/>
              </a:rPr>
              <a:t>Aligning LLMs with Biomedical Knowledge</a:t>
            </a:r>
          </a:p>
          <a:p xmlns:a="http://schemas.openxmlformats.org/drawingml/2006/main">
            <a:pPr>
              <a:defRPr sz="6825" b="1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6825" b="1">
                <a:solidFill>
                  <a:srgbClr val="18343D"/>
                </a:solidFill>
                <a:latin typeface="Arial"/>
                <a:ea typeface="Arial"/>
                <a:cs typeface="Arial"/>
              </a:rPr>
              <a:t>using Balanced Fine-Tuning</a:t>
            </a:r>
          </a:p>
        </p:txBody>
      </p:sp>
      <p:sp>
        <p:nvSpPr>
          <p:cNvPr id="3" name="authors">
            <a:extLst xmlns:a="http://schemas.openxmlformats.org/drawingml/2006/main">
              <a:ext uri="{FF2B5EF4-FFF2-40B4-BE49-F238E27FC236}">
                <a16:creationId xmlns:a16="http://schemas.microsoft.com/office/drawing/2014/main" id="{A2B39D62-6260-4374-AB85-C3D071AB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3352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8343D"/>
                </a:solidFill>
                <a:latin typeface="Arial"/>
                <a:ea typeface="Arial"/>
                <a:cs typeface="Arial"/>
              </a:rPr>
              <a:t>Zhenchao Tang*¹, Fang Wang*†¹, Haohuai He¹, Jiale Zhou¹, Tianxu Lv¹, Jun Zhu¹, Shouzhi Chen¹, Minghao Yang¹,</a:t>
            </a:r>
          </a:p>
          <a:p xmlns:a="http://schemas.openxmlformats.org/drawingml/2006/main">
            <a:pPr>
              <a:defRPr sz="255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8343D"/>
                </a:solidFill>
                <a:latin typeface="Arial"/>
                <a:ea typeface="Arial"/>
                <a:cs typeface="Arial"/>
              </a:rPr>
              <a:t>Yu Wang¹, Jiayang Wu¹, Yidong Song², Yaokun Li³, Jiehui Huang⁴, Jun Zhou⁵, Bing He¹, Jianhua Yao†¹</a:t>
            </a:r>
          </a:p>
        </p:txBody>
      </p:sp>
      <p:sp>
        <p:nvSpPr>
          <p:cNvPr id="4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789413D4-DCE3-44AF-940F-90F33190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333375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6C"/>
                </a:solidFill>
                <a:latin typeface="Arial"/>
                <a:ea typeface="Arial"/>
                <a:cs typeface="Arial"/>
              </a:rPr>
              <a:t>¹Tencent AI for Life Sciences Lab   ²Nankai University   ³Sun Yat-sen University</a:t>
            </a:r>
          </a:p>
          <a:p xmlns:a="http://schemas.openxmlformats.org/drawingml/2006/main">
            <a:pPr>
              <a:defRPr sz="2100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6C"/>
                </a:solidFill>
                <a:latin typeface="Arial"/>
                <a:ea typeface="Arial"/>
                <a:cs typeface="Arial"/>
              </a:rPr>
              <a:t>⁴The Hong Kong University of Science and Technology   ⁵Tsinghua University</a:t>
            </a:r>
          </a:p>
          <a:p xmlns:a="http://schemas.openxmlformats.org/drawingml/2006/main">
            <a:pPr>
              <a:defRPr sz="2100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6C"/>
                </a:solidFill>
                <a:latin typeface="Arial"/>
                <a:ea typeface="Arial"/>
                <a:cs typeface="Arial"/>
              </a:rPr>
              <a:t>*Equal contribution   †Corresponding authors: avonwanghit@gmail.com, jianhua.yao@gmail.com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236C47-371F-484A-ACDE-966E907B2B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a66776ac3497b"/>
          <a:stretch xmlns:a="http://schemas.openxmlformats.org/drawingml/2006/main"/>
        </p:blipFill>
        <p:spPr>
          <a:xfrm xmlns:a="http://schemas.openxmlformats.org/drawingml/2006/main">
            <a:off x="35718750" y="1200934"/>
            <a:ext cx="6667500" cy="2741632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5ABA67-80A7-436C-9B60-34CC7A39D9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c8a3c14924ef0"/>
          <a:stretch xmlns:a="http://schemas.openxmlformats.org/drawingml/2006/main"/>
        </p:blipFill>
        <p:spPr>
          <a:xfrm xmlns:a="http://schemas.openxmlformats.org/drawingml/2006/main">
            <a:off x="35433000" y="3877397"/>
            <a:ext cx="7000875" cy="2475057"/>
          </a:xfrm>
          <a:prstGeom xmlns:a="http://schemas.openxmlformats.org/drawingml/2006/main" prst="rect">
            <a:avLst/>
          </a:prstGeom>
        </p:spPr>
      </p:pic>
      <p:sp>
        <p:nvSpPr>
          <p:cNvPr id="7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8158DF6-C63C-4FFB-A526-D39B72B7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143625"/>
            <a:ext cx="4217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ADD"/>
          </a:solidFill>
          <a:ln xmlns:a="http://schemas.openxmlformats.org/drawingml/2006/main" w="0">
            <a:noFill/>
          </a:ln>
        </p:spPr>
      </p:sp>
      <p:sp>
        <p:nvSpPr>
          <p:cNvPr id="8" name="column-rule">
            <a:extLst xmlns:a="http://schemas.openxmlformats.org/drawingml/2006/main">
              <a:ext uri="{FF2B5EF4-FFF2-40B4-BE49-F238E27FC236}">
                <a16:creationId xmlns:a16="http://schemas.microsoft.com/office/drawing/2014/main" id="{ED200718-FA20-4962-B38E-58559351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0" y="6810375"/>
            <a:ext cx="28575" cy="2395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ADD"/>
          </a:solidFill>
          <a:ln xmlns:a="http://schemas.openxmlformats.org/drawingml/2006/main" w="0">
            <a:noFill/>
          </a:ln>
        </p:spPr>
      </p:sp>
      <p:sp>
        <p:nvSpPr>
          <p:cNvPr id="9" name="motivation-heading">
            <a:extLst xmlns:a="http://schemas.openxmlformats.org/drawingml/2006/main">
              <a:ext uri="{FF2B5EF4-FFF2-40B4-BE49-F238E27FC236}">
                <a16:creationId xmlns:a16="http://schemas.microsoft.com/office/drawing/2014/main" id="{2838A915-26B1-419A-8B09-BF98EADC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667500"/>
            <a:ext cx="19907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0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75D9B"/>
                </a:solidFill>
                <a:latin typeface="Arial"/>
                <a:ea typeface="Arial"/>
                <a:cs typeface="Arial"/>
              </a:rPr>
              <a:t>Biomedical uncertainty has local structure</a:t>
            </a:r>
          </a:p>
        </p:txBody>
      </p:sp>
      <p:sp>
        <p:nvSpPr>
          <p:cNvPr id="10" name="motivation">
            <a:extLst xmlns:a="http://schemas.openxmlformats.org/drawingml/2006/main">
              <a:ext uri="{FF2B5EF4-FFF2-40B4-BE49-F238E27FC236}">
                <a16:creationId xmlns:a16="http://schemas.microsoft.com/office/drawing/2014/main" id="{46E511F7-D28C-4586-A103-DB3F156D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48600"/>
            <a:ext cx="19907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8343D"/>
                </a:solidFill>
                <a:latin typeface="Arial"/>
                <a:ea typeface="Arial"/>
                <a:cs typeface="Arial"/>
              </a:rPr>
              <a:t>Dense low-confidence runs are enriched for biomedical entities and causal chains. Absolute-confidence weighting can suppress these learning signals.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7A5BD-314A-4C22-B181-11CC22F8A0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b224ca069340b3"/>
          <a:stretch xmlns:a="http://schemas.openxmlformats.org/drawingml/2006/main"/>
        </p:blipFill>
        <p:spPr>
          <a:xfrm xmlns:a="http://schemas.openxmlformats.org/drawingml/2006/main">
            <a:off x="857250" y="9621165"/>
            <a:ext cx="19907250" cy="12656895"/>
          </a:xfrm>
          <a:prstGeom xmlns:a="http://schemas.openxmlformats.org/drawingml/2006/main" prst="rect">
            <a:avLst/>
          </a:prstGeom>
        </p:spPr>
      </p:pic>
      <p:sp>
        <p:nvSpPr>
          <p:cNvPr id="12" name="diagnostic-caption">
            <a:extLst xmlns:a="http://schemas.openxmlformats.org/drawingml/2006/main">
              <a:ext uri="{FF2B5EF4-FFF2-40B4-BE49-F238E27FC236}">
                <a16:creationId xmlns:a16="http://schemas.microsoft.com/office/drawing/2014/main" id="{F404B48E-886D-4C89-9083-C7FD0633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0"/>
            <a:ext cx="19907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92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52656C"/>
                </a:solidFill>
                <a:latin typeface="Arial"/>
                <a:ea typeface="Arial"/>
                <a:cs typeface="Arial"/>
              </a:rPr>
              <a:t>PMC: biomedical entities account for 60.9% of low-confidence tokens in dense windows, versus 12.5% in sparse windows. Expert CRAFT annotations corroborate concept enrichment (63.8% versus 11.2%).</a:t>
            </a:r>
          </a:p>
        </p:txBody>
      </p:sp>
      <p:sp>
        <p:nvSpPr>
          <p:cNvPr id="13" name="method-heading">
            <a:extLst xmlns:a="http://schemas.openxmlformats.org/drawingml/2006/main">
              <a:ext uri="{FF2B5EF4-FFF2-40B4-BE49-F238E27FC236}">
                <a16:creationId xmlns:a16="http://schemas.microsoft.com/office/drawing/2014/main" id="{6816BB8A-7B9E-41A5-A531-6E4EAFC1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0"/>
            <a:ext cx="1990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65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65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75D9B"/>
                </a:solidFill>
                <a:latin typeface="Arial"/>
                <a:ea typeface="Arial"/>
                <a:cs typeface="Arial"/>
              </a:rPr>
              <a:t>Balanced Fine-Tuning at two scales</a:t>
            </a:r>
          </a:p>
        </p:txBody>
      </p:sp>
      <p:sp>
        <p:nvSpPr>
          <p:cNvPr id="14" name="token-label">
            <a:extLst xmlns:a="http://schemas.openxmlformats.org/drawingml/2006/main">
              <a:ext uri="{FF2B5EF4-FFF2-40B4-BE49-F238E27FC236}">
                <a16:creationId xmlns:a16="http://schemas.microsoft.com/office/drawing/2014/main" id="{2D6D8E5B-4C71-4819-B1E6-4CE277D2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641300"/>
            <a:ext cx="1990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43D"/>
                </a:solidFill>
                <a:latin typeface="Arial"/>
                <a:ea typeface="Arial"/>
                <a:cs typeface="Arial"/>
              </a:rPr>
              <a:t>Token weight: relative to the local context</a:t>
            </a:r>
          </a:p>
        </p:txBody>
      </p:sp>
      <p:sp>
        <p:nvSpPr>
          <p:cNvPr id="15" name="token-equation">
            <a:extLst xmlns:a="http://schemas.openxmlformats.org/drawingml/2006/main">
              <a:ext uri="{FF2B5EF4-FFF2-40B4-BE49-F238E27FC236}">
                <a16:creationId xmlns:a16="http://schemas.microsoft.com/office/drawing/2014/main" id="{F90AB06C-9ADF-473E-9751-00F721E4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384250"/>
            <a:ext cx="19907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00" b="0">
                <a:solidFill>
                  <a:srgbClr val="0875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200" b="0">
                <a:solidFill>
                  <a:srgbClr val="08756D"/>
                </a:solidFill>
                <a:latin typeface="Arial"/>
                <a:ea typeface="Arial"/>
                <a:cs typeface="Arial"/>
              </a:defRPr>
            </a:pPr>
            <a:r>
              <a:rPr sz="4200" b="0">
                <a:solidFill>
                  <a:srgbClr val="08756D"/>
                </a:solidFill>
                <a:latin typeface="Arial"/>
                <a:ea typeface="Arial"/>
                <a:cs typeface="Arial"/>
              </a:rPr>
              <a:t>ρᵦ,ₜ = clip(cᵦ,ₜ / (Cᵦ,ₜˡᵒᶜ + ε), 0, 1)</a:t>
            </a:r>
          </a:p>
        </p:txBody>
      </p:sp>
      <p:sp>
        <p:nvSpPr>
          <p:cNvPr id="16" name="sample-label">
            <a:extLst xmlns:a="http://schemas.openxmlformats.org/drawingml/2006/main">
              <a:ext uri="{FF2B5EF4-FFF2-40B4-BE49-F238E27FC236}">
                <a16:creationId xmlns:a16="http://schemas.microsoft.com/office/drawing/2014/main" id="{4519F687-2E74-403A-BC60-DC2D98F5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355800"/>
            <a:ext cx="1990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43D"/>
                </a:solidFill>
                <a:latin typeface="Arial"/>
                <a:ea typeface="Arial"/>
                <a:cs typeface="Arial"/>
              </a:rPr>
              <a:t>Sample weight: emphasize the weakest region</a:t>
            </a:r>
          </a:p>
        </p:txBody>
      </p:sp>
      <p:sp>
        <p:nvSpPr>
          <p:cNvPr id="17" name="sample-equation">
            <a:extLst xmlns:a="http://schemas.openxmlformats.org/drawingml/2006/main">
              <a:ext uri="{FF2B5EF4-FFF2-40B4-BE49-F238E27FC236}">
                <a16:creationId xmlns:a16="http://schemas.microsoft.com/office/drawing/2014/main" id="{9192CFA1-C07A-4329-9732-EB5018D9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98750"/>
            <a:ext cx="1990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00" b="0">
                <a:solidFill>
                  <a:srgbClr val="0875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200" b="0">
                <a:solidFill>
                  <a:srgbClr val="08756D"/>
                </a:solidFill>
                <a:latin typeface="Arial"/>
                <a:ea typeface="Arial"/>
                <a:cs typeface="Arial"/>
              </a:defRPr>
            </a:pPr>
            <a:r>
              <a:rPr sz="4200" b="0">
                <a:solidFill>
                  <a:srgbClr val="08756D"/>
                </a:solidFill>
                <a:latin typeface="Arial"/>
                <a:ea typeface="Arial"/>
                <a:cs typeface="Arial"/>
              </a:rPr>
              <a:t>sᵦ = sg(1 − minₜ Cᵦ,ₜˡᵒᶜ)</a:t>
            </a:r>
          </a:p>
        </p:txBody>
      </p:sp>
      <p:sp>
        <p:nvSpPr>
          <p:cNvPr id="18" name="method-explanation">
            <a:extLst xmlns:a="http://schemas.openxmlformats.org/drawingml/2006/main">
              <a:ext uri="{FF2B5EF4-FFF2-40B4-BE49-F238E27FC236}">
                <a16:creationId xmlns:a16="http://schemas.microsoft.com/office/drawing/2014/main" id="{F255200B-868D-4485-A405-D0EDA32D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0"/>
            <a:ext cx="199072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8343D"/>
                </a:solidFill>
                <a:latin typeface="Arial"/>
                <a:ea typeface="Arial"/>
                <a:cs typeface="Arial"/>
              </a:rPr>
              <a:t>The loss averages sᵦ × sg(ρᵦ,ₜ) × token cross-entropy over valid response tokens, then across samples. Both weights use stop-gradient. The centered window g = 256 is the only additional tunable train-time hyperparameter.</a:t>
            </a:r>
          </a:p>
        </p:txBody>
      </p:sp>
      <p:sp>
        <p:nvSpPr>
          <p:cNvPr id="19" name="results-heading">
            <a:extLst xmlns:a="http://schemas.openxmlformats.org/drawingml/2006/main">
              <a:ext uri="{FF2B5EF4-FFF2-40B4-BE49-F238E27FC236}">
                <a16:creationId xmlns:a16="http://schemas.microsoft.com/office/drawing/2014/main" id="{1BEB3173-EBEC-414C-B8A0-D36E8E12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0" y="6667500"/>
            <a:ext cx="203644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0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75D9B"/>
                </a:solidFill>
                <a:latin typeface="Arial"/>
                <a:ea typeface="Arial"/>
                <a:cs typeface="Arial"/>
              </a:rPr>
              <a:t>BFT supports subsequent sparse-reward RL</a:t>
            </a:r>
          </a:p>
        </p:txBody>
      </p:sp>
      <p:sp>
        <p:nvSpPr>
          <p:cNvPr id="20" name="results-intro">
            <a:extLst xmlns:a="http://schemas.openxmlformats.org/drawingml/2006/main">
              <a:ext uri="{FF2B5EF4-FFF2-40B4-BE49-F238E27FC236}">
                <a16:creationId xmlns:a16="http://schemas.microsoft.com/office/drawing/2014/main" id="{94267AC9-D71D-47B2-B302-9C99B09D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0" y="7753350"/>
            <a:ext cx="20364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8343D"/>
                </a:solidFill>
                <a:latin typeface="Arial"/>
                <a:ea typeface="Arial"/>
                <a:cs typeface="Arial"/>
              </a:rPr>
              <a:t>VCWorld chemical perturbation accuracy, 70B backbones.</a:t>
            </a:r>
          </a:p>
          <a:p xmlns:a="http://schemas.openxmlformats.org/drawingml/2006/main">
            <a:pPr>
              <a:defRPr sz="3225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8343D"/>
                </a:solidFill>
                <a:latin typeface="Arial"/>
                <a:ea typeface="Arial"/>
                <a:cs typeface="Arial"/>
              </a:rPr>
              <a:t>Shared GRPO setup, five held-out cancer cell lines.</a:t>
            </a:r>
          </a:p>
        </p:txBody>
      </p:sp>
      <p:graphicFrame>
        <p:nvGraphicFramePr>
          <p:cNvPr id="21" name="Chart">
            <a:extLst xmlns:a="http://schemas.openxmlformats.org/drawingml/2006/main">
              <a:ext uri="{FF2B5EF4-FFF2-40B4-BE49-F238E27FC236}">
                <a16:creationId xmlns:a16="http://schemas.microsoft.com/office/drawing/2014/main" id="{4F2ECB79-E3D6-4733-976D-EA77433C69BE}"/>
              </a:ext>
            </a:extLst>
          </p:cNvPr>
          <p:cNvGraphicFramePr/>
          <p:nvPr/>
        </p:nvGraphicFramePr>
        <p:xfrm>
          <a:off xmlns:a="http://schemas.openxmlformats.org/drawingml/2006/main" x="22669500" y="9134475"/>
          <a:ext xmlns:a="http://schemas.openxmlformats.org/drawingml/2006/main" cx="20364450" cy="519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2469700c004104"/>
          </a:graphicData>
        </a:graphic>
      </p:graphicFrame>
      <p:sp>
        <p:nvSpPr>
          <p:cNvPr id="22" name="grpo-caption">
            <a:extLst xmlns:a="http://schemas.openxmlformats.org/drawingml/2006/main">
              <a:ext uri="{FF2B5EF4-FFF2-40B4-BE49-F238E27FC236}">
                <a16:creationId xmlns:a16="http://schemas.microsoft.com/office/drawing/2014/main" id="{EEFFCED2-0C28-48A4-B042-D3DAA7AF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0" y="14620875"/>
            <a:ext cx="203644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92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52656C"/>
                </a:solidFill>
                <a:latin typeface="Arial"/>
                <a:ea typeface="Arial"/>
                <a:cs typeface="Arial"/>
              </a:rPr>
              <a:t>BFT: 0.696 to 0.736 (+4.0 pp). SFT: 0.562 to 0.486.</a:t>
            </a:r>
          </a:p>
          <a:p xmlns:a="http://schemas.openxmlformats.org/drawingml/2006/main">
            <a:pPr>
              <a:defRPr sz="292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52656C"/>
                </a:solidFill>
                <a:latin typeface="Arial"/>
                <a:ea typeface="Arial"/>
                <a:cs typeface="Arial"/>
              </a:rPr>
              <a:t>BFT is numerically above Gemini-2.5-Flash before GRPO, but the difference is not significant (p = 0.088).</a:t>
            </a:r>
          </a:p>
        </p:txBody>
      </p:sp>
      <p:sp>
        <p:nvSpPr>
          <p:cNvPr id="23" name="medical-heading">
            <a:extLst xmlns:a="http://schemas.openxmlformats.org/drawingml/2006/main">
              <a:ext uri="{FF2B5EF4-FFF2-40B4-BE49-F238E27FC236}">
                <a16:creationId xmlns:a16="http://schemas.microsoft.com/office/drawing/2014/main" id="{3A1B3CBF-62FE-4E76-8B8B-DDCBA98F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0" y="16478250"/>
            <a:ext cx="20364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5D9B"/>
                </a:solidFill>
                <a:latin typeface="Arial"/>
                <a:ea typeface="Arial"/>
                <a:cs typeface="Arial"/>
              </a:rPr>
              <a:t>Medical competence and biological reasoning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CE8D3A-3827-42D8-9770-8DADAA10D5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a6e214a5b4c21"/>
          <a:stretch xmlns:a="http://schemas.openxmlformats.org/drawingml/2006/main"/>
        </p:blipFill>
        <p:spPr>
          <a:xfrm xmlns:a="http://schemas.openxmlformats.org/drawingml/2006/main">
            <a:off x="22673582" y="17526000"/>
            <a:ext cx="20356286" cy="8905875"/>
          </a:xfrm>
          <a:prstGeom xmlns:a="http://schemas.openxmlformats.org/drawingml/2006/main" prst="rect">
            <a:avLst/>
          </a:prstGeom>
        </p:spPr>
      </p:pic>
      <p:sp>
        <p:nvSpPr>
          <p:cNvPr id="25" name="medical-caption">
            <a:extLst xmlns:a="http://schemas.openxmlformats.org/drawingml/2006/main">
              <a:ext uri="{FF2B5EF4-FFF2-40B4-BE49-F238E27FC236}">
                <a16:creationId xmlns:a16="http://schemas.microsoft.com/office/drawing/2014/main" id="{1991C10E-B517-4DB7-AAE9-35C72DBF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0" y="26650950"/>
            <a:ext cx="203644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7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52656C"/>
                </a:solidFill>
                <a:latin typeface="Arial"/>
                <a:ea typeface="Arial"/>
                <a:cs typeface="Arial"/>
              </a:rPr>
              <a:t>HealthBench Hard and GeneAgent: more consistent improvements under a shared supervised training recipe across 14B, 32B and 70B.</a:t>
            </a:r>
          </a:p>
        </p:txBody>
      </p:sp>
      <p:sp>
        <p:nvSpPr>
          <p:cNvPr id="26" name="representation-heading">
            <a:extLst xmlns:a="http://schemas.openxmlformats.org/drawingml/2006/main">
              <a:ext uri="{FF2B5EF4-FFF2-40B4-BE49-F238E27FC236}">
                <a16:creationId xmlns:a16="http://schemas.microsoft.com/office/drawing/2014/main" id="{DD16F81B-2530-4544-9024-AB92D252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0" y="28003500"/>
            <a:ext cx="2036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0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175D9B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75D9B"/>
                </a:solidFill>
                <a:latin typeface="Arial"/>
                <a:ea typeface="Arial"/>
                <a:cs typeface="Arial"/>
              </a:rPr>
              <a:t>Generated profiles yield useful representations</a:t>
            </a:r>
          </a:p>
        </p:txBody>
      </p:sp>
      <p:sp>
        <p:nvSpPr>
          <p:cNvPr id="27" name="representation">
            <a:extLst xmlns:a="http://schemas.openxmlformats.org/drawingml/2006/main">
              <a:ext uri="{FF2B5EF4-FFF2-40B4-BE49-F238E27FC236}">
                <a16:creationId xmlns:a16="http://schemas.microsoft.com/office/drawing/2014/main" id="{1A32AA6F-953B-4189-A347-02DAF65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0" y="29108400"/>
            <a:ext cx="20364450" cy="1971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75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3075" b="0">
                <a:solidFill>
                  <a:srgbClr val="18343D"/>
                </a:solidFill>
                <a:latin typeface="Arial"/>
                <a:ea typeface="Arial"/>
                <a:cs typeface="Arial"/>
              </a:rPr>
              <a:t>BFT-generated profiles, encoded with text-embedding-ada-002, give the best average gene-level performance and improve evaluated cell clustering. With the STATE decoder retained, perturbation performance is comparable to standard inputs across four datasets.</a:t>
            </a:r>
          </a:p>
        </p:txBody>
      </p:sp>
      <p:sp>
        <p:nvSpPr>
          <p:cNvPr id="2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91F4875-2B76-4C31-9974-AA142959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718250"/>
            <a:ext cx="4217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ADD"/>
          </a:solidFill>
          <a:ln xmlns:a="http://schemas.openxmlformats.org/drawingml/2006/main" w="0">
            <a:noFill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294D182F-DC85-48A7-BEE8-B41B5DD1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946850"/>
            <a:ext cx="3019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0875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08756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8756D"/>
                </a:solidFill>
                <a:latin typeface="Arial"/>
                <a:ea typeface="Arial"/>
                <a:cs typeface="Arial"/>
              </a:rPr>
              <a:t>Local relative confidence preserves difficult tokens in difficult contexts.</a:t>
            </a:r>
          </a:p>
        </p:txBody>
      </p:sp>
      <p:sp>
        <p:nvSpPr>
          <p:cNvPr id="30" name="paper-link">
            <a:extLst xmlns:a="http://schemas.openxmlformats.org/drawingml/2006/main">
              <a:ext uri="{FF2B5EF4-FFF2-40B4-BE49-F238E27FC236}">
                <a16:creationId xmlns:a16="http://schemas.microsoft.com/office/drawing/2014/main" id="{26E474D6-35A1-4A7E-A60C-6B06A87D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3200400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43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D"/>
                </a:solidFill>
                <a:latin typeface="Arial"/>
                <a:ea typeface="Arial"/>
                <a:cs typeface="Arial"/>
              </a:rPr>
              <a:t>Paper: arxiv.org/abs/2511.21075</a:t>
            </a:r>
          </a:p>
        </p:txBody>
      </p:sp>
      <p:sp>
        <p:nvSpPr>
          <p:cNvPr id="31" name="code-link">
            <a:extLst xmlns:a="http://schemas.openxmlformats.org/drawingml/2006/main">
              <a:ext uri="{FF2B5EF4-FFF2-40B4-BE49-F238E27FC236}">
                <a16:creationId xmlns:a16="http://schemas.microsoft.com/office/drawing/2014/main" id="{EC5A4121-026E-40BC-9C58-F34E6C03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32432625"/>
            <a:ext cx="1093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56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6C"/>
                </a:solidFill>
                <a:latin typeface="Arial"/>
                <a:ea typeface="Arial"/>
                <a:cs typeface="Arial"/>
              </a:rPr>
              <a:t>Code: github.com/TencentAILabHealthcare/BFT</a:t>
            </a:r>
          </a:p>
        </p:txBody>
      </p:sp>
    </p:spTree>
    <p:extLst>
      <p:ext uri="{BB962C8B-B14F-4D97-AF65-F5344CB8AC3E}">
        <p14:creationId xmlns:p14="http://schemas.microsoft.com/office/powerpoint/2010/main" val="15373643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2026-10-10T07:16:31.3090000Z</dcterms:created>
  <dcterms:modified xsi:type="dcterms:W3CDTF">2026-10-10T07:16:31.3090000Z</dcterms:modified>
</coreProperties>
</file>