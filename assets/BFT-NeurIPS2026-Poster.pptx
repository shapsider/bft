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610b2d9a814106" /><Relationship Type="http://schemas.openxmlformats.org/officeDocument/2006/relationships/extended-properties" Target="/docProps/app.xml" Id="R7c51558a8b56481f" /><Relationship Type="http://schemas.openxmlformats.org/officeDocument/2006/relationships/officeDocument" Target="/ppt/presentation.xml" Id="R6d72eae8e96446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cb182d12cd49a2"/>
  </p:sldMasterIdLst>
  <p:notesMasterIdLst>
    <p:notesMasterId xmlns:r="http://schemas.openxmlformats.org/officeDocument/2006/relationships" r:id="R1fdeef8aafcc4328"/>
  </p:notesMasterIdLst>
  <p:sldIdLst>
    <p:sldId xmlns:r="http://schemas.openxmlformats.org/officeDocument/2006/relationships" id="256" r:id="Ra9620ea6880b4b17"/>
  </p:sldIdLst>
  <p:sldSz cx="32918400" cy="21945600"/>
  <p:notesSz cx="6858000" cy="9144000"/>
  <p:defaultTextStyle>
    <a:defPPr xmlns:a="http://schemas.openxmlformats.org/drawingml/2006/main"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 baseline="0">
        <a:ln>
          <a:noFill/>
        </a:ln>
        <a:solidFill>
          <a:srgbClr val="000000"/>
        </a:solidFill>
      </a:defRPr>
    </a:defPPr>
    <a:lvl1pPr xmlns:a="http://schemas.openxmlformats.org/drawingml/2006/main" marL="0" marR="0" indent="0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1pPr>
    <a:lvl2pPr xmlns:a="http://schemas.openxmlformats.org/drawingml/2006/main" marL="0" marR="0" indent="326532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2pPr>
    <a:lvl3pPr xmlns:a="http://schemas.openxmlformats.org/drawingml/2006/main" marL="0" marR="0" indent="653064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3pPr>
    <a:lvl4pPr xmlns:a="http://schemas.openxmlformats.org/drawingml/2006/main" marL="0" marR="0" indent="979596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4pPr>
    <a:lvl5pPr xmlns:a="http://schemas.openxmlformats.org/drawingml/2006/main" marL="0" marR="0" indent="1306128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5pPr>
    <a:lvl6pPr xmlns:a="http://schemas.openxmlformats.org/drawingml/2006/main" marL="0" marR="0" indent="1632661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6pPr>
    <a:lvl7pPr xmlns:a="http://schemas.openxmlformats.org/drawingml/2006/main" marL="0" marR="0" indent="1959193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7pPr>
    <a:lvl8pPr xmlns:a="http://schemas.openxmlformats.org/drawingml/2006/main" marL="0" marR="0" indent="2285725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8pPr>
    <a:lvl9pPr xmlns:a="http://schemas.openxmlformats.org/drawingml/2006/main" marL="0" marR="0" indent="2612257" algn="l" defTabSz="326532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200" b="0" i="0" u="none" strike="noStrike" cap="none" spc="0" baseline="0">
        <a:ln>
          <a:noFill/>
        </a:ln>
        <a:solidFill>
          <a:srgbClr val="000000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b826ef3a474cc8" /><Relationship Type="http://schemas.openxmlformats.org/officeDocument/2006/relationships/slideMaster" Target="/ppt/slideMasters/slideMaster1.xml" Id="R76cb182d12cd49a2" /><Relationship Type="http://schemas.openxmlformats.org/officeDocument/2006/relationships/notesMaster" Target="/ppt/notesMasters/notesMaster1.xml" Id="R1fdeef8aafcc4328" /><Relationship Type="http://schemas.openxmlformats.org/officeDocument/2006/relationships/presProps" Target="/ppt/presProps.xml" Id="Rdc9f86e3a57c4f2b" /><Relationship Type="http://schemas.openxmlformats.org/officeDocument/2006/relationships/viewProps" Target="/ppt/viewProps.xml" Id="R73aff74f30cb40f5" /><Relationship Type="http://schemas.openxmlformats.org/officeDocument/2006/relationships/tableStyles" Target="/ppt/tableStyles.xml" Id="Re7d5dcc7f99a4533" /><Relationship Type="http://schemas.openxmlformats.org/officeDocument/2006/relationships/slide" Target="/ppt/slides/slide1.xml" Id="Ra9620ea6880b4b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9c2d77b88242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219179acd3408f" /><Relationship Type="http://schemas.openxmlformats.org/officeDocument/2006/relationships/notesMaster" Target="/ppt/notesMasters/notesMaster1.xml" Id="Rac0b88d6844541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Scientific source: supplied camera-ready neurips_2026_arxiv.tex and original Figures 1b, 2a and 5; native plain-language method schematic, https://arxiv.org/abs/2511.21075. Method explanation paraphrases Section 3 in plain language. No displayed equations. Words are an accessible shorthand for scored text tokens. Local-relative token weighting and bounded weakest-region sample weighting remain the actual method. Both signals are detached; implementation details are in the paper. The qualitative context table describes the paper's sparse/dense regimes, without claiming all uncertain content is epistemic. Diagnostic chart labels: Medical articles = PMC, Expert concepts = CRAFT, Chat = UltraChat, Math = NuminaMath. Values and all four native charts and the cell-type table preserve the paper's data. Retention is size-matched; Full BFT uses continuous weights. VCWorld before/after feedback training is GRPO under the shared setup. Gemini comparison is exploratory and non-significant. The gene score is AUC, mean over six tasks. Cell grouping uses ARI/AMI/ASW. Profile text source and construction differ from GenePT despite a matched encoder. Only profile generation is zero-shot for perturbation datasets. Original medical error bars show decoding variation, not training-seed variation. Poster retains the official 36x24 inch landscape template and author-supplied Tencent and Tencent AI for Life Sciences Lab logos. Official template folder: https://drive.google.com/drive/u/1/folders/16tSJGJryd7NgQCBblaKxTfXLZXDIJJrt. Upload specifications: https://wiki.eventhosts.cc/en/reference/posteruploads.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030e237ead4cb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089f0fec04e79" /></Relationships>
</file>

<file path=ppt/slideLayouts/slideLayout1.xml><?xml version="1.0" encoding="utf-8"?>
<p:sldLayout xmlns:p="http://schemas.openxmlformats.org/presentationml/2006/main">
  <p:cSld name="FB AI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553D1BF-6ECB-4786-9F29-82CB1557EE7B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FB AI Research 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4C17D4A-30DD-4FA1-8A08-5BC412B97013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eb1020e34a4c88" /><Relationship Type="http://schemas.openxmlformats.org/officeDocument/2006/relationships/slideLayout" Target="/ppt/slideLayouts/slideLayout1.xml" Id="R63617e38c61645d7" /><Relationship Type="http://schemas.openxmlformats.org/officeDocument/2006/relationships/slideLayout" Target="/ppt/slideLayouts/slideLayout2.xml" Id="Rda643afd8a704bf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Text">
            <a:extLst xmlns:a="http://schemas.openxmlformats.org/drawingml/2006/main">
              <a:ext uri="{FF2B5EF4-FFF2-40B4-BE49-F238E27FC236}">
                <a16:creationId xmlns:a16="http://schemas.microsoft.com/office/drawing/2014/main" id="{6B271CEF-0FC9-4E22-8673-3CF275C92A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5920" y="294640"/>
            <a:ext cx="29626561" cy="48260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 anchor="ctr"/>
          <a:lstStyle xmlns:a="http://schemas.openxmlformats.org/drawingml/2006/main"/>
          <a:p xmlns:a="http://schemas.openxmlformats.org/drawingml/2006/main">
            <a:r>
              <a:t>Title Text</a:t>
            </a:r>
          </a:p>
        </p:txBody>
      </p:sp>
      <p:sp>
        <p:nvSpPr>
          <p:cNvPr id="3" name="Body Level One…">
            <a:extLst xmlns:a="http://schemas.openxmlformats.org/drawingml/2006/main">
              <a:ext uri="{FF2B5EF4-FFF2-40B4-BE49-F238E27FC236}">
                <a16:creationId xmlns:a16="http://schemas.microsoft.com/office/drawing/2014/main" id="{86C97CA7-450B-4834-A606-95E5E3DBB5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5920" y="5120640"/>
            <a:ext cx="29626561" cy="1682496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lIns="45719" rIns="45719"/>
          <a:lstStyle xmlns:a="http://schemas.openxmlformats.org/drawingml/2006/main"/>
          <a:p xmlns:a="http://schemas.openxmlformats.org/drawingml/2006/main">
            <a:r>
              <a:t>Body Level One</a:t>
            </a:r>
          </a:p>
          <a:p xmlns:a="http://schemas.openxmlformats.org/drawingml/2006/main">
            <a:pPr lvl="1">
              <a:buNone/>
            </a:pPr>
            <a:r>
              <a:t>Body Level Two</a:t>
            </a:r>
          </a:p>
          <a:p xmlns:a="http://schemas.openxmlformats.org/drawingml/2006/main">
            <a:pPr lvl="2">
              <a:buNone/>
            </a:pPr>
            <a:r>
              <a:t>Body Level Three</a:t>
            </a:r>
          </a:p>
          <a:p xmlns:a="http://schemas.openxmlformats.org/drawingml/2006/main">
            <a:pPr lvl="3">
              <a:buNone/>
            </a:pPr>
            <a:r>
              <a:t>Body Level Four</a:t>
            </a:r>
          </a:p>
          <a:p xmlns:a="http://schemas.openxmlformats.org/drawingml/2006/main">
            <a:pPr lvl="4">
              <a:buNone/>
            </a:pPr>
            <a:r>
              <a:t>Body Level Five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E05A349-BB27-427A-8070-B3E689D7D6F7}"/>
              </a:ext>
            </a:extLst>
          </p:cNvPr>
          <p:cNvSpPr>
            <a:spLocks xmlns:a="http://schemas.openxmlformats.org/drawingml/2006/main" noGrp="1"/>
          </p:cNvSpPr>
          <p:nvPr>
            <p:ph type="sldNum" idx="2"/>
          </p:nvPr>
        </p:nvSpPr>
        <p:spPr>
          <a:xfrm xmlns:a="http://schemas.openxmlformats.org/drawingml/2006/main">
            <a:off x="15910559" y="19756119"/>
            <a:ext cx="7680961" cy="1168401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  <p:txBody>
          <a:bodyPr xmlns:a="http://schemas.openxmlformats.org/drawingml/2006/main" wrap="none" lIns="45719" rIns="45719" anchor="ctr">
            <a:spAutoFit/>
          </a:bodyPr>
          <a:lstStyle xmlns:a="http://schemas.openxmlformats.org/drawingml/2006/main">
            <a:lvl1pPr algn="r">
              <a:buNone/>
              <a:defRPr/>
            </a:lvl1pPr>
          </a:lstStyle>
          <a:p xmlns:a="http://schemas.openxmlformats.org/drawingml/2006/main"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617e38c61645d7"/>
    <p:sldLayoutId xmlns:r="http://schemas.openxmlformats.org/officeDocument/2006/relationships" id="2147483650" r:id="Rda643afd8a704bfc"/>
  </p:sldLayoutIdLst>
  <p:txStyles>
    <p:titleStyle>
      <a:lvl1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1pPr>
      <a:lvl2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0" marR="0" indent="0" algn="l" defTabSz="2926226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14000" b="0" i="0" u="none" strike="noStrike" cap="none" spc="0" baseline="0">
          <a:solidFill>
            <a:srgbClr val="000000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731556" marR="0" indent="-731556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1pPr>
      <a:lvl2pPr xmlns:a="http://schemas.openxmlformats.org/drawingml/2006/main" marL="2319804" marR="0" indent="-856691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2pPr>
      <a:lvl3pPr xmlns:a="http://schemas.openxmlformats.org/drawingml/2006/main" marL="3943547" marR="0" indent="-1017321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3pPr>
      <a:lvl4pPr xmlns:a="http://schemas.openxmlformats.org/drawingml/2006/main" marL="5531594" marR="0" indent="-1142255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4pPr>
      <a:lvl5pPr xmlns:a="http://schemas.openxmlformats.org/drawingml/2006/main" marL="6994707" marR="0" indent="-1142255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5pPr>
      <a:lvl6pPr xmlns:a="http://schemas.openxmlformats.org/drawingml/2006/main" marL="8457820" marR="0" indent="-1142255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6pPr>
      <a:lvl7pPr xmlns:a="http://schemas.openxmlformats.org/drawingml/2006/main" marL="9920933" marR="0" indent="-1142255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7pPr>
      <a:lvl8pPr xmlns:a="http://schemas.openxmlformats.org/drawingml/2006/main" marL="11384047" marR="0" indent="-1142255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8pPr>
      <a:lvl9pPr xmlns:a="http://schemas.openxmlformats.org/drawingml/2006/main" marL="12847160" marR="0" indent="-1142255" algn="l" defTabSz="2926226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defRPr sz="8900" b="0" i="0" u="none" strike="noStrike" cap="none" spc="0" baseline="0">
          <a:solidFill>
            <a:srgbClr val="000000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marR="0" indent="0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326532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0" marR="0" indent="653064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marR="0" indent="979596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0" marR="0" indent="1306128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marR="0" indent="1632661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marR="0" indent="1959193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marR="0" indent="2285725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marR="0" indent="2612257" algn="r" defTabSz="326532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35a0a957994ab0" /><Relationship Type="http://schemas.openxmlformats.org/officeDocument/2006/relationships/image" Target="/ppt/media/image.png" Id="Rd9ec36db256b43d5" /><Relationship Type="http://schemas.openxmlformats.org/officeDocument/2006/relationships/image" Target="/ppt/media/image2.png" Id="R3059ed5e849d4b68" /><Relationship Type="http://schemas.openxmlformats.org/officeDocument/2006/relationships/image" Target="/ppt/media/image3.png" Id="R82bb1e6cff4b4135" /><Relationship Type="http://schemas.openxmlformats.org/officeDocument/2006/relationships/image" Target="/ppt/media/image4.png" Id="Red16721e0ec145e1" /><Relationship Type="http://schemas.openxmlformats.org/officeDocument/2006/relationships/image" Target="/ppt/media/image5.png" Id="R90fdf7576ba24810" /><Relationship Type="http://schemas.openxmlformats.org/officeDocument/2006/relationships/chart" Target="/ppt/slides/charts/chart1.xml" Id="R404ba68fcbd84ec4" /><Relationship Type="http://schemas.openxmlformats.org/officeDocument/2006/relationships/chart" Target="/ppt/slides/charts/chart2.xml" Id="Re9003d2667f44de9" /><Relationship Type="http://schemas.openxmlformats.org/officeDocument/2006/relationships/image" Target="/ppt/media/image6.png" Id="R08589ad87af4405a" /><Relationship Type="http://schemas.openxmlformats.org/officeDocument/2006/relationships/image" Target="/ppt/media/image7.png" Id="R2474ea1ffa414017" /><Relationship Type="http://schemas.openxmlformats.org/officeDocument/2006/relationships/chart" Target="/ppt/slides/charts/chart3.xml" Id="R03b3216ed58d403a" /><Relationship Type="http://schemas.openxmlformats.org/officeDocument/2006/relationships/chart" Target="/ppt/slides/charts/chart4.xml" Id="R214f44e911e7459e" /><Relationship Type="http://schemas.openxmlformats.org/officeDocument/2006/relationships/image" Target="/ppt/media/image8.png" Id="R4b5c82ffc15c4b56" /><Relationship Type="http://schemas.openxmlformats.org/officeDocument/2006/relationships/notesSlide" Target="/ppt/notesSlides/notesSlide1.xml" Id="R18fda7208c5e48b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Isolated difficulty</c:v>
          </c:tx>
          <c:spPr>
            <a:solidFill xmlns:a="http://schemas.openxmlformats.org/drawingml/2006/main">
              <a:srgbClr val="A5B4C0"/>
            </a:solidFill>
          </c:spPr>
          <c:cat>
            <c:strRef>
              <c:f>'Chart Data'!$A$2:$A$5</c:f>
              <c:strCache>
                <c:ptCount val="4"/>
                <c:pt idx="0">
                  <c:v>Medical articles</c:v>
                </c:pt>
                <c:pt idx="1">
                  <c:v>Expert concepts</c:v>
                </c:pt>
                <c:pt idx="2">
                  <c:v>Chat</c:v>
                </c:pt>
                <c:pt idx="3">
                  <c:v>Math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12.5</c:v>
                </c:pt>
                <c:pt idx="1">
                  <c:v>11.2</c:v>
                </c:pt>
                <c:pt idx="2">
                  <c:v>3.6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v>Grouped difficulty</c:v>
          </c:tx>
          <c:spPr>
            <a:solidFill xmlns:a="http://schemas.openxmlformats.org/drawingml/2006/main">
              <a:srgbClr val="A92C48"/>
            </a:solidFill>
          </c:spPr>
          <c:cat>
            <c:strRef>
              <c:f>'Chart Data'!$C$2:$C$5</c:f>
              <c:strCache>
                <c:ptCount val="4"/>
                <c:pt idx="0">
                  <c:v>Medical articles</c:v>
                </c:pt>
                <c:pt idx="1">
                  <c:v>Expert concepts</c:v>
                </c:pt>
                <c:pt idx="2">
                  <c:v>Chat</c:v>
                </c:pt>
                <c:pt idx="3">
                  <c:v>Math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60.9</c:v>
                </c:pt>
                <c:pt idx="1">
                  <c:v>63.8</c:v>
                </c:pt>
                <c:pt idx="2">
                  <c:v>4.1</c:v>
                </c:pt>
                <c:pt idx="3">
                  <c:v>3.2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4485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Offset val="80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E1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344854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0054B8"/>
            </a:solidFill>
          </c:spPr>
          <c:cat>
            <c:strRef>
              <c:f>'Chart Data'!$A$2:$A$6</c:f>
              <c:strCache>
                <c:ptCount val="5"/>
                <c:pt idx="0">
                  <c:v>Standard</c:v>
                </c:pt>
                <c:pt idx="1">
                  <c:v>Random</c:v>
                </c:pt>
                <c:pt idx="2">
                  <c:v>Isolated</c:v>
                </c:pt>
                <c:pt idx="3">
                  <c:v>Grouped</c:v>
                </c:pt>
                <c:pt idx="4">
                  <c:v>Full BFT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0.562</c:v>
                </c:pt>
                <c:pt idx="1">
                  <c:v>0.571</c:v>
                </c:pt>
                <c:pt idx="2">
                  <c:v>0.508</c:v>
                </c:pt>
                <c:pt idx="3">
                  <c:v>0.674</c:v>
                </c:pt>
                <c:pt idx="4">
                  <c:v>0.696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4485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Offset val="80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E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Before feedback training</c:v>
          </c:tx>
          <c:spPr>
            <a:solidFill xmlns:a="http://schemas.openxmlformats.org/drawingml/2006/main">
              <a:srgbClr val="A5B4C0"/>
            </a:solidFill>
          </c:spPr>
          <c:cat>
            <c:strRef>
              <c:f>'Chart Data'!$A$2:$A$6</c:f>
              <c:strCache>
                <c:ptCount val="5"/>
                <c:pt idx="0">
                  <c:v>DFT</c:v>
                </c:pt>
                <c:pt idx="1">
                  <c:v>SFT</c:v>
                </c:pt>
                <c:pt idx="2">
                  <c:v>BFT-sample</c:v>
                </c:pt>
                <c:pt idx="3">
                  <c:v>BFT-token</c:v>
                </c:pt>
                <c:pt idx="4">
                  <c:v>BFT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0.49</c:v>
                </c:pt>
                <c:pt idx="1">
                  <c:v>0.562</c:v>
                </c:pt>
                <c:pt idx="2">
                  <c:v>0.596</c:v>
                </c:pt>
                <c:pt idx="3">
                  <c:v>0.66</c:v>
                </c:pt>
                <c:pt idx="4">
                  <c:v>0.696</c:v>
                </c:pt>
              </c:numCache>
            </c:numRef>
          </c:val>
        </c:ser>
        <c:ser>
          <c:idx val="1"/>
          <c:order val="1"/>
          <c:tx>
            <c:v>After feedback training</c:v>
          </c:tx>
          <c:spPr>
            <a:solidFill xmlns:a="http://schemas.openxmlformats.org/drawingml/2006/main">
              <a:srgbClr val="0054B8"/>
            </a:solidFill>
          </c:spPr>
          <c:cat>
            <c:strRef>
              <c:f>'Chart Data'!$C$2:$C$6</c:f>
              <c:strCache>
                <c:ptCount val="5"/>
                <c:pt idx="0">
                  <c:v>DFT</c:v>
                </c:pt>
                <c:pt idx="1">
                  <c:v>SFT</c:v>
                </c:pt>
                <c:pt idx="2">
                  <c:v>BFT-sample</c:v>
                </c:pt>
                <c:pt idx="3">
                  <c:v>BFT-token</c:v>
                </c:pt>
                <c:pt idx="4">
                  <c:v>BFT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0.42</c:v>
                </c:pt>
                <c:pt idx="1">
                  <c:v>0.486</c:v>
                </c:pt>
                <c:pt idx="2">
                  <c:v>0.624</c:v>
                </c:pt>
                <c:pt idx="3">
                  <c:v>0.694</c:v>
                </c:pt>
                <c:pt idx="4">
                  <c:v>0.736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4485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Offset val="80"/>
      </c:catAx>
      <c:valAx>
        <c:axId val="48672768"/>
        <c:scaling>
          <c:orientation val="minMax"/>
          <c:max val="0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E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344854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GenePT</c:v>
          </c:tx>
          <c:spPr>
            <a:solidFill xmlns:a="http://schemas.openxmlformats.org/drawingml/2006/main">
              <a:srgbClr val="A5B4C0"/>
            </a:solidFill>
          </c:spPr>
          <c:cat>
            <c:strRef>
              <c:f>'Chart Data'!$A$2:$A$7</c:f>
              <c:strCache>
                <c:ptCount val="6"/>
                <c:pt idx="0">
                  <c:v>TF range</c:v>
                </c:pt>
                <c:pt idx="1">
                  <c:v>Dosage</c:v>
                </c:pt>
                <c:pt idx="2">
                  <c:v>No-methy</c:v>
                </c:pt>
                <c:pt idx="3">
                  <c:v>Lys4</c:v>
                </c:pt>
                <c:pt idx="4">
                  <c:v>GGI</c:v>
                </c:pt>
                <c:pt idx="5">
                  <c:v>PPI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0.585</c:v>
                </c:pt>
                <c:pt idx="1">
                  <c:v>0.891</c:v>
                </c:pt>
                <c:pt idx="2">
                  <c:v>0.91</c:v>
                </c:pt>
                <c:pt idx="3">
                  <c:v>0.939</c:v>
                </c:pt>
                <c:pt idx="4">
                  <c:v>0.806</c:v>
                </c:pt>
                <c:pt idx="5">
                  <c:v>0.681</c:v>
                </c:pt>
              </c:numCache>
            </c:numRef>
          </c:val>
        </c:ser>
        <c:ser>
          <c:idx val="1"/>
          <c:order val="1"/>
          <c:tx>
            <c:v>BFT</c:v>
          </c:tx>
          <c:spPr>
            <a:solidFill xmlns:a="http://schemas.openxmlformats.org/drawingml/2006/main">
              <a:srgbClr val="0054B8"/>
            </a:solidFill>
          </c:spPr>
          <c:cat>
            <c:strRef>
              <c:f>'Chart Data'!$C$2:$C$7</c:f>
              <c:strCache>
                <c:ptCount val="6"/>
                <c:pt idx="0">
                  <c:v>TF range</c:v>
                </c:pt>
                <c:pt idx="1">
                  <c:v>Dosage</c:v>
                </c:pt>
                <c:pt idx="2">
                  <c:v>No-methy</c:v>
                </c:pt>
                <c:pt idx="3">
                  <c:v>Lys4</c:v>
                </c:pt>
                <c:pt idx="4">
                  <c:v>GGI</c:v>
                </c:pt>
                <c:pt idx="5">
                  <c:v>PPI</c:v>
                </c:pt>
              </c:strCache>
            </c:str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0.629</c:v>
                </c:pt>
                <c:pt idx="1">
                  <c:v>0.913</c:v>
                </c:pt>
                <c:pt idx="2">
                  <c:v>0.927</c:v>
                </c:pt>
                <c:pt idx="3">
                  <c:v>0.91</c:v>
                </c:pt>
                <c:pt idx="4">
                  <c:v>0.823</c:v>
                </c:pt>
                <c:pt idx="5">
                  <c:v>0.769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34485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Offset val="8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5E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344854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Box 35">
            <a:extLst xmlns:a="http://schemas.openxmlformats.org/drawingml/2006/main">
              <a:ext uri="{FF2B5EF4-FFF2-40B4-BE49-F238E27FC236}">
                <a16:creationId xmlns:a16="http://schemas.microsoft.com/office/drawing/2014/main" id="{34016A95-D344-4D38-ADD4-33A3685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25336500" cy="1767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55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55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55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Aligning LLMs with Biomedical Knowledge</a:t>
            </a:r>
          </a:p>
          <a:p xmlns:a="http://schemas.openxmlformats.org/drawingml/2006/main">
            <a:pPr algn="l">
              <a:defRPr sz="55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55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using Balanced Fine-Tuning</a:t>
            </a:r>
          </a:p>
        </p:txBody>
      </p:sp>
      <p:sp>
        <p:nvSpPr>
          <p:cNvPr id="33" name="TextBox 38">
            <a:extLst xmlns:a="http://schemas.openxmlformats.org/drawingml/2006/main">
              <a:ext uri="{FF2B5EF4-FFF2-40B4-BE49-F238E27FC236}">
                <a16:creationId xmlns:a16="http://schemas.microsoft.com/office/drawing/2014/main" id="{A39EF646-A6F2-4CF5-81F9-70904A91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17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38100" rIns="114300" bIns="38100" anchor="ctr">
            <a:noAutofit/>
          </a:bodyPr>
          <a:lstStyle xmlns:a="http://schemas.openxmlformats.org/drawingml/2006/main">
            <a:defPPr algn="l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Problem &amp; challenges</a:t>
            </a:r>
          </a:p>
        </p:txBody>
      </p:sp>
      <p:sp>
        <p:nvSpPr>
          <p:cNvPr id="34" name="TextBox 39">
            <a:extLst xmlns:a="http://schemas.openxmlformats.org/drawingml/2006/main">
              <a:ext uri="{FF2B5EF4-FFF2-40B4-BE49-F238E27FC236}">
                <a16:creationId xmlns:a16="http://schemas.microsoft.com/office/drawing/2014/main" id="{C59B75F8-E444-4352-9679-E3FF9DA2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172700" cy="1627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  <a:lvl1pPr>
              <a:lnSpc>
                <a:spcPct val="120000"/>
              </a:lnSpc>
              <a:buNone/>
              <a:defRPr sz="2100">
                <a:solidFill>
                  <a:srgbClr val="344854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Biomedical AI must learn unfamiliar gene names and how biological processes work. Confidence-weighted fine-tuning (DFT) gives less emphasis to hard-to-predict words and can overlook difficult passages. Later training receives limited feedback, making this first learning stage important.</a:t>
            </a:r>
          </a:p>
        </p:txBody>
      </p:sp>
      <p:sp>
        <p:nvSpPr>
          <p:cNvPr id="37" name="TextBox 43">
            <a:extLst xmlns:a="http://schemas.openxmlformats.org/drawingml/2006/main">
              <a:ext uri="{FF2B5EF4-FFF2-40B4-BE49-F238E27FC236}">
                <a16:creationId xmlns:a16="http://schemas.microsoft.com/office/drawing/2014/main" id="{03F2AF83-3A5F-43FE-97E8-AC991C9A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905250"/>
            <a:ext cx="1017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38100" rIns="114300" bIns="38100" anchor="ctr">
            <a:noAutofit/>
          </a:bodyPr>
          <a:lstStyle xmlns:a="http://schemas.openxmlformats.org/drawingml/2006/main">
            <a:defPPr algn="l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How Balanced Fine-Tuning works</a:t>
            </a:r>
          </a:p>
        </p:txBody>
      </p:sp>
      <p:sp>
        <p:nvSpPr>
          <p:cNvPr id="38" name="TextBox 44">
            <a:extLst xmlns:a="http://schemas.openxmlformats.org/drawingml/2006/main">
              <a:ext uri="{FF2B5EF4-FFF2-40B4-BE49-F238E27FC236}">
                <a16:creationId xmlns:a16="http://schemas.microsoft.com/office/drawing/2014/main" id="{36855CBD-F0F4-4526-87B9-BA127A6E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4667250"/>
            <a:ext cx="1017270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BFT compares how hard each piece of text is to predict with the surrounding passage. It then gives more attention to training examples containing difficult passages.</a:t>
            </a:r>
          </a:p>
        </p:txBody>
      </p:sp>
      <p:sp>
        <p:nvSpPr>
          <p:cNvPr id="39" name="TextBox 45">
            <a:extLst xmlns:a="http://schemas.openxmlformats.org/drawingml/2006/main">
              <a:ext uri="{FF2B5EF4-FFF2-40B4-BE49-F238E27FC236}">
                <a16:creationId xmlns:a16="http://schemas.microsoft.com/office/drawing/2014/main" id="{79CDD081-FE7A-4614-94A4-3F10DFF8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0"/>
            <a:ext cx="1017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38100" rIns="114300" bIns="38100" anchor="ctr">
            <a:noAutofit/>
          </a:bodyPr>
          <a:lstStyle xmlns:a="http://schemas.openxmlformats.org/drawingml/2006/main">
            <a:defPPr algn="l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Motivation</a:t>
            </a:r>
          </a:p>
        </p:txBody>
      </p:sp>
      <p:sp>
        <p:nvSpPr>
          <p:cNvPr id="40" name="TextBox 46">
            <a:extLst xmlns:a="http://schemas.openxmlformats.org/drawingml/2006/main">
              <a:ext uri="{FF2B5EF4-FFF2-40B4-BE49-F238E27FC236}">
                <a16:creationId xmlns:a16="http://schemas.microsoft.com/office/drawing/2014/main" id="{4CBAF464-5EDA-480B-A823-9D2226CE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0"/>
            <a:ext cx="101727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A difficult word should be interpreted in context. A whole difficult passage may contain important biomedical knowledge that the model needs to learn. BFT therefore makes two connected decisions: which words should influence learning, and which training examples deserve more attention.</a:t>
            </a:r>
          </a:p>
        </p:txBody>
      </p:sp>
      <p:sp>
        <p:nvSpPr>
          <p:cNvPr id="42" name="TextBox 51">
            <a:extLst xmlns:a="http://schemas.openxmlformats.org/drawingml/2006/main">
              <a:ext uri="{FF2B5EF4-FFF2-40B4-BE49-F238E27FC236}">
                <a16:creationId xmlns:a16="http://schemas.microsoft.com/office/drawing/2014/main" id="{9C45D058-3353-4D1E-A3F2-E59CD2A2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3905250"/>
            <a:ext cx="1017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6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71450" tIns="38100" rIns="114300" bIns="38100" anchor="ctr">
            <a:noAutofit/>
          </a:bodyPr>
          <a:lstStyle xmlns:a="http://schemas.openxmlformats.org/drawingml/2006/main">
            <a:defPPr algn="l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4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3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Experimental results</a:t>
            </a:r>
          </a:p>
        </p:txBody>
      </p:sp>
      <p:sp>
        <p:nvSpPr>
          <p:cNvPr id="4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DB2D713-0C18-4814-959A-973F37A8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4667250"/>
            <a:ext cx="101727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We compare standard fine-tuning (SFT), DFT and BFT under matched settings, then add correct-answer feedback training (GRPO).</a:t>
            </a:r>
          </a:p>
        </p:txBody>
      </p:sp>
      <p:sp>
        <p:nvSpPr>
          <p:cNvPr id="50" name="TextBox 37">
            <a:extLst xmlns:a="http://schemas.openxmlformats.org/drawingml/2006/main">
              <a:ext uri="{FF2B5EF4-FFF2-40B4-BE49-F238E27FC236}">
                <a16:creationId xmlns:a16="http://schemas.microsoft.com/office/drawing/2014/main" id="{AACAE95C-758F-4498-864B-D013E9FC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543175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spcBef>
                <a:spcPts val="1000"/>
              </a:spcBef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Zhenchao Tang*¹, Fang Wang*†¹, Haohuai He¹, Jiale Zhou¹, Tianxu Lv¹, Jun Zhu¹, Shouzhi Chen¹, Minghao Yang¹,</a:t>
            </a:r>
          </a:p>
        </p:txBody>
      </p:sp>
      <p:pic>
        <p:nvPicPr>
          <p:cNvPr id="54" name="neurips_logo.pdf">
            <a:extLst xmlns:a="http://schemas.openxmlformats.org/drawingml/2006/main">
              <a:ext uri="{FF2B5EF4-FFF2-40B4-BE49-F238E27FC236}">
                <a16:creationId xmlns:a16="http://schemas.microsoft.com/office/drawing/2014/main" id="{4C24F414-6956-42C9-B4EC-4284EA6543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ec36db256b43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336750" y="238125"/>
            <a:ext cx="4857750" cy="2190750"/>
          </a:xfrm>
          <a:prstGeom xmlns:a="http://schemas.openxmlformats.org/drawingml/2006/main" prst="rect">
            <a:avLst/>
          </a:prstGeom>
          <a:ln xmlns:a="http://schemas.openxmlformats.org/drawingml/2006/main" w="12700">
            <a:miter/>
          </a:ln>
        </p:spPr>
      </p:pic>
      <p:sp>
        <p:nvSpPr>
          <p:cNvPr id="55" name="Authors line two">
            <a:extLst xmlns:a="http://schemas.openxmlformats.org/drawingml/2006/main">
              <a:ext uri="{FF2B5EF4-FFF2-40B4-BE49-F238E27FC236}">
                <a16:creationId xmlns:a16="http://schemas.microsoft.com/office/drawing/2014/main" id="{16EEAA25-601F-40AB-815A-E6F15D30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6025"/>
            <a:ext cx="2543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Yu Wang¹, Jiayang Wu¹, Yidong Song², Yaokun Li³, Jiehui Huang⁴, Jun Zhou⁵, Bing He¹, Jianhua Yao†¹</a:t>
            </a:r>
          </a:p>
        </p:txBody>
      </p:sp>
      <p:sp>
        <p:nvSpPr>
          <p:cNvPr id="56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40620C01-8239-4737-BBBD-F7AB1F0E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543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¹Tencent AI for Life Sciences Lab  ²Nankai University  ³Sun Yat-sen University</a:t>
            </a:r>
          </a:p>
          <a:p xmlns:a="http://schemas.openxmlformats.org/drawingml/2006/main">
            <a: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⁴The Hong Kong University of Science and Technology  ⁵Tsinghua University</a:t>
            </a:r>
          </a:p>
          <a:p xmlns:a="http://schemas.openxmlformats.org/drawingml/2006/main">
            <a: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*Equal contribution  †Correspondence: avonwanghit@gmail.com, jianhua.yao@gmail.com</a:t>
            </a:r>
          </a:p>
        </p:txBody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9AD7EF-4182-4FDF-9619-CD0FA79481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9ed5e849d4b68"/>
          <a:stretch xmlns:a="http://schemas.openxmlformats.org/drawingml/2006/main"/>
        </p:blipFill>
        <p:spPr>
          <a:xfrm xmlns:a="http://schemas.openxmlformats.org/drawingml/2006/main">
            <a:off x="26480320" y="2514600"/>
            <a:ext cx="1760486" cy="72390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F965CE-065D-4939-BDD3-7A92D28EBC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b1e6cff4b4135"/>
          <a:stretch xmlns:a="http://schemas.openxmlformats.org/drawingml/2006/main"/>
        </p:blipFill>
        <p:spPr>
          <a:xfrm xmlns:a="http://schemas.openxmlformats.org/drawingml/2006/main">
            <a:off x="28336875" y="2514985"/>
            <a:ext cx="2476500" cy="875530"/>
          </a:xfrm>
          <a:prstGeom xmlns:a="http://schemas.openxmlformats.org/drawingml/2006/main" prst="rect">
            <a:avLst/>
          </a:prstGeom>
        </p:spPr>
      </p:pic>
      <p:pic>
        <p:nvPic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C52A6BD-9873-4505-B1C3-B129189F3D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6721e0ec145e1"/>
          <a:stretch xmlns:a="http://schemas.openxmlformats.org/drawingml/2006/main"/>
        </p:blipFill>
        <p:spPr>
          <a:xfrm xmlns:a="http://schemas.openxmlformats.org/drawingml/2006/main">
            <a:off x="30956250" y="25146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60" name="Header links">
            <a:extLst xmlns:a="http://schemas.openxmlformats.org/drawingml/2006/main">
              <a:ext uri="{FF2B5EF4-FFF2-40B4-BE49-F238E27FC236}">
                <a16:creationId xmlns:a16="http://schemas.microsoft.com/office/drawing/2014/main" id="{1C5A53D8-30DA-48DC-9BD1-0F5951E4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0" y="3429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NeurIPS 2026   arxiv.org/abs/2511.21075</a:t>
            </a:r>
          </a:p>
          <a:p xmlns:a="http://schemas.openxmlformats.org/drawingml/2006/main">
            <a:pPr algn="l">
              <a:defRPr sz="13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Project and code: shapsider.github.io/BFT</a:t>
            </a:r>
          </a:p>
        </p:txBody>
      </p:sp>
      <p:sp>
        <p:nvSpPr>
          <p:cNvPr id="61" name="Observation heading">
            <a:extLst xmlns:a="http://schemas.openxmlformats.org/drawingml/2006/main">
              <a:ext uri="{FF2B5EF4-FFF2-40B4-BE49-F238E27FC236}">
                <a16:creationId xmlns:a16="http://schemas.microsoft.com/office/drawing/2014/main" id="{111FA220-7ACF-410A-BB55-C8E11409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Observation: difficult words occur in groups</a:t>
            </a:r>
          </a:p>
        </p:txBody>
      </p:sp>
      <p:sp>
        <p:nvSpPr>
          <p:cNvPr id="62" name="Diagnostic setup">
            <a:extLst xmlns:a="http://schemas.openxmlformats.org/drawingml/2006/main">
              <a:ext uri="{FF2B5EF4-FFF2-40B4-BE49-F238E27FC236}">
                <a16:creationId xmlns:a16="http://schemas.microsoft.com/office/drawing/2014/main" id="{68AD73F2-AAE9-452F-9275-0EFDD2FF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0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Model predictions on medical articles, using nearby text</a:t>
            </a:r>
          </a:p>
        </p:txBody>
      </p:sp>
      <p:pic>
        <p:nvPic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879A04-A16B-49CD-B340-DAA1A1B775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df7576ba24810"/>
          <a:stretch xmlns:a="http://schemas.openxmlformats.org/drawingml/2006/main"/>
        </p:blipFill>
        <p:spPr>
          <a:xfrm xmlns:a="http://schemas.openxmlformats.org/drawingml/2006/main">
            <a:off x="666750" y="7383353"/>
            <a:ext cx="10172700" cy="2664044"/>
          </a:xfrm>
          <a:prstGeom xmlns:a="http://schemas.openxmlformats.org/drawingml/2006/main" prst="rect">
            <a:avLst/>
          </a:prstGeom>
        </p:spPr>
      </p:pic>
      <p:sp>
        <p:nvSpPr>
          <p:cNvPr id="64" name="Entity chart title">
            <a:extLst xmlns:a="http://schemas.openxmlformats.org/drawingml/2006/main">
              <a:ext uri="{FF2B5EF4-FFF2-40B4-BE49-F238E27FC236}">
                <a16:creationId xmlns:a16="http://schemas.microsoft.com/office/drawing/2014/main" id="{184871BE-0E06-41B3-BE96-EBE1A46B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191750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 of biomedical terms / expert-marked concepts (%)</a:t>
            </a:r>
          </a:p>
        </p:txBody>
      </p:sp>
      <p:graphicFrame>
        <p:nvGraphicFramePr>
          <p:cNvPr id="65" name="Chart">
            <a:extLst xmlns:a="http://schemas.openxmlformats.org/drawingml/2006/main">
              <a:ext uri="{FF2B5EF4-FFF2-40B4-BE49-F238E27FC236}">
                <a16:creationId xmlns:a16="http://schemas.microsoft.com/office/drawing/2014/main" id="{7C7B9032-3BD6-4E50-ACFA-55D826915D10}"/>
              </a:ext>
            </a:extLst>
          </p:cNvPr>
          <p:cNvGraphicFramePr/>
          <p:nvPr/>
        </p:nvGraphicFramePr>
        <p:xfrm>
          <a:off xmlns:a="http://schemas.openxmlformats.org/drawingml/2006/main" x="666750" y="10715625"/>
          <a:ext xmlns:a="http://schemas.openxmlformats.org/drawingml/2006/main" cx="101727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4ba68fcbd84ec4"/>
          </a:graphicData>
        </a:graphic>
      </p:graphicFrame>
      <p:sp>
        <p:nvSpPr>
          <p:cNvPr id="66" name="Observation conclusion">
            <a:extLst xmlns:a="http://schemas.openxmlformats.org/drawingml/2006/main">
              <a:ext uri="{FF2B5EF4-FFF2-40B4-BE49-F238E27FC236}">
                <a16:creationId xmlns:a16="http://schemas.microsoft.com/office/drawing/2014/main" id="{7876B269-5BD0-45D7-B188-095A31B5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668375"/>
            <a:ext cx="10172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Groups of difficult words contain many biomedical concepts. Expert annotations support this pattern, while chat and math texts show little change in biomedical-term share. This suggests knowledge gaps, although prediction difficulty does not directly measure what the model knows.</a:t>
            </a:r>
          </a:p>
        </p:txBody>
      </p:sp>
      <p:sp>
        <p:nvSpPr>
          <p:cNvPr id="67" name="Retention heading">
            <a:extLst xmlns:a="http://schemas.openxmlformats.org/drawingml/2006/main">
              <a:ext uri="{FF2B5EF4-FFF2-40B4-BE49-F238E27FC236}">
                <a16:creationId xmlns:a16="http://schemas.microsoft.com/office/drawing/2014/main" id="{171881E5-D56D-4DB2-9CDD-B7174925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2087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Which difficult content should training retain?</a:t>
            </a:r>
          </a:p>
        </p:txBody>
      </p:sp>
      <p:sp>
        <p:nvSpPr>
          <p:cNvPr id="68" name="Retention setup">
            <a:extLst xmlns:a="http://schemas.openxmlformats.org/drawingml/2006/main">
              <a:ext uri="{FF2B5EF4-FFF2-40B4-BE49-F238E27FC236}">
                <a16:creationId xmlns:a16="http://schemas.microsoft.com/office/drawing/2014/main" id="{A4CF5051-E5C4-4F4A-95BB-3D2021B0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144750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Cell-response prediction accuracy, same training settings</a:t>
            </a:r>
          </a:p>
        </p:txBody>
      </p:sp>
      <p:graphicFrame>
        <p:nvGraphicFramePr>
          <p:cNvPr id="69" name="Chart">
            <a:extLst xmlns:a="http://schemas.openxmlformats.org/drawingml/2006/main">
              <a:ext uri="{FF2B5EF4-FFF2-40B4-BE49-F238E27FC236}">
                <a16:creationId xmlns:a16="http://schemas.microsoft.com/office/drawing/2014/main" id="{3ECD6442-3A48-4779-BD55-21B5B00EFD52}"/>
              </a:ext>
            </a:extLst>
          </p:cNvPr>
          <p:cNvGraphicFramePr/>
          <p:nvPr/>
        </p:nvGraphicFramePr>
        <p:xfrm>
          <a:off xmlns:a="http://schemas.openxmlformats.org/drawingml/2006/main" x="666750" y="15621000"/>
          <a:ext xmlns:a="http://schemas.openxmlformats.org/drawingml/2006/main" cx="101727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9003d2667f44de9"/>
          </a:graphicData>
        </a:graphic>
      </p:graphicFrame>
      <p:sp>
        <p:nvSpPr>
          <p:cNvPr id="70" name="Retention conclusion">
            <a:extLst xmlns:a="http://schemas.openxmlformats.org/drawingml/2006/main">
              <a:ext uri="{FF2B5EF4-FFF2-40B4-BE49-F238E27FC236}">
                <a16:creationId xmlns:a16="http://schemas.microsoft.com/office/drawing/2014/main" id="{70B3DBD5-9598-4D00-BBC6-EBCFB4AF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30875"/>
            <a:ext cx="10172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Keeping grouped difficult content gives 0.674 accuracy, compared with 0.571 for keeping the same amount of randomly chosen content. BFT uses gradual emphasis rather than a fixed keep-or-discard rule.</a:t>
            </a:r>
          </a:p>
        </p:txBody>
      </p:sp>
      <p:sp>
        <p:nvSpPr>
          <p:cNvPr id="71" name="Words decision background">
            <a:extLst xmlns:a="http://schemas.openxmlformats.org/drawingml/2006/main">
              <a:ext uri="{FF2B5EF4-FFF2-40B4-BE49-F238E27FC236}">
                <a16:creationId xmlns:a16="http://schemas.microsoft.com/office/drawing/2014/main" id="{0D12AE27-093E-4536-8E8C-5E2EF594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5715000"/>
            <a:ext cx="48958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2" name="Words decision title">
            <a:extLst xmlns:a="http://schemas.openxmlformats.org/drawingml/2006/main">
              <a:ext uri="{FF2B5EF4-FFF2-40B4-BE49-F238E27FC236}">
                <a16:creationId xmlns:a16="http://schemas.microsoft.com/office/drawing/2014/main" id="{D0756305-BA85-4CC3-8FB3-6A58CD96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9055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Look within an answer</a:t>
            </a:r>
          </a:p>
        </p:txBody>
      </p:sp>
      <p:sp>
        <p:nvSpPr>
          <p:cNvPr id="73" name="Words decision description">
            <a:extLst xmlns:a="http://schemas.openxmlformats.org/drawingml/2006/main">
              <a:ext uri="{FF2B5EF4-FFF2-40B4-BE49-F238E27FC236}">
                <a16:creationId xmlns:a16="http://schemas.microsoft.com/office/drawing/2014/main" id="{205A2A23-94F2-4F48-ADA3-B18F4AFF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4514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Read a word together with nearby text.</a:t>
            </a:r>
          </a:p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Keep more attention on difficult biomedical passages.</a:t>
            </a:r>
          </a:p>
        </p:txBody>
      </p:sp>
      <p:sp>
        <p:nvSpPr>
          <p:cNvPr id="74" name="Examples decision background">
            <a:extLst xmlns:a="http://schemas.openxmlformats.org/drawingml/2006/main">
              <a:ext uri="{FF2B5EF4-FFF2-40B4-BE49-F238E27FC236}">
                <a16:creationId xmlns:a16="http://schemas.microsoft.com/office/drawing/2014/main" id="{331C64A6-2DB7-43F0-954D-7F8AC13D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0" y="5715000"/>
            <a:ext cx="48958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75" name="Examples decision title">
            <a:extLst xmlns:a="http://schemas.openxmlformats.org/drawingml/2006/main">
              <a:ext uri="{FF2B5EF4-FFF2-40B4-BE49-F238E27FC236}">
                <a16:creationId xmlns:a16="http://schemas.microsoft.com/office/drawing/2014/main" id="{EB770FCE-E438-449B-865C-2516BC2A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5905500"/>
            <a:ext cx="451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Look across examples</a:t>
            </a:r>
          </a:p>
        </p:txBody>
      </p:sp>
      <p:sp>
        <p:nvSpPr>
          <p:cNvPr id="76" name="Examples decision description">
            <a:extLst xmlns:a="http://schemas.openxmlformats.org/drawingml/2006/main">
              <a:ext uri="{FF2B5EF4-FFF2-40B4-BE49-F238E27FC236}">
                <a16:creationId xmlns:a16="http://schemas.microsoft.com/office/drawing/2014/main" id="{8D44D6C6-98EC-420B-B327-5FAA9F6B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0200" y="6496050"/>
            <a:ext cx="45148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Find the hardest passage in each example.</a:t>
            </a:r>
          </a:p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Give harder examples more attention, within a limit.</a:t>
            </a:r>
          </a:p>
        </p:txBody>
      </p:sp>
      <p:sp>
        <p:nvSpPr>
          <p:cNvPr id="77" name="Words arrow">
            <a:extLst xmlns:a="http://schemas.openxmlformats.org/drawingml/2006/main">
              <a:ext uri="{FF2B5EF4-FFF2-40B4-BE49-F238E27FC236}">
                <a16:creationId xmlns:a16="http://schemas.microsoft.com/office/drawing/2014/main" id="{2F06E139-0212-4549-B381-0B57DDBC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8048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05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054B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54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78" name="Examples arrow">
            <a:extLst xmlns:a="http://schemas.openxmlformats.org/drawingml/2006/main">
              <a:ext uri="{FF2B5EF4-FFF2-40B4-BE49-F238E27FC236}">
                <a16:creationId xmlns:a16="http://schemas.microsoft.com/office/drawing/2014/main" id="{9ADB83B9-3B1A-4EBF-9D42-EB16F329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0" y="8048625"/>
            <a:ext cx="66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005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450" b="1">
                <a:solidFill>
                  <a:srgbClr val="0054B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054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79" name="Shared outcome">
            <a:extLst xmlns:a="http://schemas.openxmlformats.org/drawingml/2006/main">
              <a:ext uri="{FF2B5EF4-FFF2-40B4-BE49-F238E27FC236}">
                <a16:creationId xmlns:a16="http://schemas.microsoft.com/office/drawing/2014/main" id="{1516D53A-5734-4603-90B1-3C8DD4A2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8620125"/>
            <a:ext cx="10172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4B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90500" tIns="66675" rIns="190500" bIns="66675" anchor="t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 difficult biomedical knowledge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while limiting the influence of isolated outliers.</a:t>
            </a:r>
          </a:p>
        </p:txBody>
      </p:sp>
      <p:sp>
        <p:nvSpPr>
          <p:cNvPr id="80" name="Word heading">
            <a:extLst xmlns:a="http://schemas.openxmlformats.org/drawingml/2006/main">
              <a:ext uri="{FF2B5EF4-FFF2-40B4-BE49-F238E27FC236}">
                <a16:creationId xmlns:a16="http://schemas.microsoft.com/office/drawing/2014/main" id="{23BCC98C-F184-4CBB-9F0F-093C15F8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9477375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1. Compare a word with its surroundings</a:t>
            </a:r>
          </a:p>
        </p:txBody>
      </p:sp>
      <p:sp>
        <p:nvSpPr>
          <p:cNvPr id="81" name="Word explanation">
            <a:extLst xmlns:a="http://schemas.openxmlformats.org/drawingml/2006/main">
              <a:ext uri="{FF2B5EF4-FFF2-40B4-BE49-F238E27FC236}">
                <a16:creationId xmlns:a16="http://schemas.microsoft.com/office/drawing/2014/main" id="{CA274655-5D60-4D79-B4EE-0F7FFDF2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0048875"/>
            <a:ext cx="10172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DFT gives less emphasis to every hard-to-predict word. BFT first checks the surrounding passage. A word inside an equally difficult biomedical passage retains more learning signal than it would under DFT.</a:t>
            </a:r>
          </a:p>
        </p:txBody>
      </p:sp>
      <p:graphicFrame>
        <p:nvGraphicFrame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5CEFC9A-0E08-4AF6-81F3-C2C175122A21}"/>
              </a:ext>
            </a:extLst>
          </p:cNvPr>
          <p:cNvGraphicFramePr/>
          <p:nvPr/>
        </p:nvGraphicFramePr>
        <p:xfrm>
          <a:off xmlns:a="http://schemas.openxmlformats.org/drawingml/2006/main" x="11372850" y="11287125"/>
          <a:ext xmlns:a="http://schemas.openxmlformats.org/drawingml/2006/main" cx="101727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62450"/>
                <a:gridCol w="2571750"/>
                <a:gridCol w="3238500"/>
              </a:tblGrid>
              <a:tr h="571500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Context</a:t>
                      </a:r>
                    </a:p>
                  </a:txBody>
                  <a:tcPr marL="114300" marR="114300" marT="38100" marB="38100" anchor="ctr">
                    <a:solidFill>
                      <a:srgbClr val="183B66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DFT</a:t>
                      </a:r>
                    </a:p>
                  </a:txBody>
                  <a:tcPr marL="114300" marR="114300" marT="38100" marB="38100" anchor="ctr">
                    <a:solidFill>
                      <a:srgbClr val="183B66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BFT</a:t>
                      </a:r>
                    </a:p>
                  </a:txBody>
                  <a:tcPr marL="114300" marR="114300" marT="38100" marB="38100" anchor="ctr">
                    <a:solidFill>
                      <a:srgbClr val="183B66"/>
                    </a:solidFill>
                  </a:tcPr>
                </a:tc>
              </a:tr>
              <a:tr h="571500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One difficult word,</a:t>
                      </a:r>
                    </a:p>
                    <a:p>
                      <a:pPr algn="l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easy surroundings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Reduces its</a:t>
                      </a:r>
                    </a:p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Keeps its</a:t>
                      </a:r>
                    </a:p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emphasis low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Many difficult words,</a:t>
                      </a:r>
                    </a:p>
                    <a:p>
                      <a:pPr algn="l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difficult surroundings</a:t>
                      </a:r>
                    </a:p>
                  </a:txBody>
                  <a:tcPr marL="114300" marR="114300" marT="38100" marB="38100" anchor="ctr">
                    <a:solidFill>
                      <a:srgbClr val="EAF1F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Reduces their</a:t>
                      </a:r>
                    </a:p>
                    <a:p>
                      <a:pPr algn="ctr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contribution</a:t>
                      </a:r>
                    </a:p>
                  </a:txBody>
                  <a:tcPr marL="114300" marR="114300" marT="38100" marB="38100" anchor="ctr">
                    <a:solidFill>
                      <a:srgbClr val="EAF1F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Restores more</a:t>
                      </a:r>
                    </a:p>
                    <a:p>
                      <a:pPr algn="ctr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learning signal</a:t>
                      </a:r>
                    </a:p>
                  </a:txBody>
                  <a:tcPr marL="114300" marR="114300" marT="38100" marB="38100" anchor="ctr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83" name="Example heading">
            <a:extLst xmlns:a="http://schemas.openxmlformats.org/drawingml/2006/main">
              <a:ext uri="{FF2B5EF4-FFF2-40B4-BE49-F238E27FC236}">
                <a16:creationId xmlns:a16="http://schemas.microsoft.com/office/drawing/2014/main" id="{42DEB2E6-866B-4C45-BBE4-133F21DF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323975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2. Give harder examples more attention</a:t>
            </a:r>
          </a:p>
        </p:txBody>
      </p:sp>
      <p:sp>
        <p:nvSpPr>
          <p:cNvPr id="84" name="Example explanation">
            <a:extLst xmlns:a="http://schemas.openxmlformats.org/drawingml/2006/main">
              <a:ext uri="{FF2B5EF4-FFF2-40B4-BE49-F238E27FC236}">
                <a16:creationId xmlns:a16="http://schemas.microsoft.com/office/drawing/2014/main" id="{5B99ED2B-98D8-4AD4-AC63-06357352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3716000"/>
            <a:ext cx="10172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BFT finds the hardest local passage in each training example. Examples containing harder passages receive more emphasis. This extra emphasis is limited so that a difficult example cannot receive an unbounded weight.</a:t>
            </a:r>
          </a:p>
        </p:txBody>
      </p:sp>
      <p:sp>
        <p:nvSpPr>
          <p:cNvPr id="85" name="Combined heading">
            <a:extLst xmlns:a="http://schemas.openxmlformats.org/drawingml/2006/main">
              <a:ext uri="{FF2B5EF4-FFF2-40B4-BE49-F238E27FC236}">
                <a16:creationId xmlns:a16="http://schemas.microsoft.com/office/drawing/2014/main" id="{D16D0DEE-136D-4BBB-8C44-87023F0B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495425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3. Combine both decisions while learning</a:t>
            </a:r>
          </a:p>
        </p:txBody>
      </p:sp>
      <p:sp>
        <p:nvSpPr>
          <p:cNvPr id="86" name="Combined explanation">
            <a:extLst xmlns:a="http://schemas.openxmlformats.org/drawingml/2006/main">
              <a:ext uri="{FF2B5EF4-FFF2-40B4-BE49-F238E27FC236}">
                <a16:creationId xmlns:a16="http://schemas.microsoft.com/office/drawing/2014/main" id="{E28BBF12-0C60-4575-BDD3-FDFE28E5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5478125"/>
            <a:ext cx="10172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The first decision controls which words influence learning inside a response. The second controls how much the whole response contributes. Together, they focus training on difficult biomedical content while limiting isolated outliers.</a:t>
            </a:r>
          </a:p>
        </p:txBody>
      </p:sp>
      <p:sp>
        <p:nvSpPr>
          <p:cNvPr id="87" name="Training recipe">
            <a:extLst xmlns:a="http://schemas.openxmlformats.org/drawingml/2006/main">
              <a:ext uri="{FF2B5EF4-FFF2-40B4-BE49-F238E27FC236}">
                <a16:creationId xmlns:a16="http://schemas.microsoft.com/office/drawing/2014/main" id="{EEF8890F-D614-434D-8CE7-948A9ABF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6383000"/>
            <a:ext cx="10172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We test both decisions under matched settings: 48,503 training examples and two passes through the same data.</a:t>
            </a:r>
          </a:p>
        </p:txBody>
      </p:sp>
      <p:sp>
        <p:nvSpPr>
          <p:cNvPr id="88" name="Medical heading">
            <a:extLst xmlns:a="http://schemas.openxmlformats.org/drawingml/2006/main">
              <a:ext uri="{FF2B5EF4-FFF2-40B4-BE49-F238E27FC236}">
                <a16:creationId xmlns:a16="http://schemas.microsoft.com/office/drawing/2014/main" id="{60989384-94D8-4EC4-A645-303D45E2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1704975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HealthBench Hard (70B) &amp; GeneAgent</a:t>
            </a:r>
          </a:p>
        </p:txBody>
      </p:sp>
      <p:pic>
        <p:nvPic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DA9AE30-77B5-4DB8-ADC0-8876B1682B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89ad87af4405a"/>
          <a:stretch xmlns:a="http://schemas.openxmlformats.org/drawingml/2006/main"/>
        </p:blipFill>
        <p:spPr>
          <a:xfrm xmlns:a="http://schemas.openxmlformats.org/drawingml/2006/main">
            <a:off x="11372850" y="17623257"/>
            <a:ext cx="10172700" cy="3110660"/>
          </a:xfrm>
          <a:prstGeom xmlns:a="http://schemas.openxmlformats.org/drawingml/2006/main" prst="rect">
            <a:avLst/>
          </a:prstGeom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B759B13-2746-4079-954D-661ABD284F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4ea1ffa414017"/>
          <a:stretch xmlns:a="http://schemas.openxmlformats.org/drawingml/2006/main"/>
        </p:blipFill>
        <p:spPr>
          <a:xfrm xmlns:a="http://schemas.openxmlformats.org/drawingml/2006/main">
            <a:off x="13641917" y="20764500"/>
            <a:ext cx="5634567" cy="419100"/>
          </a:xfrm>
          <a:prstGeom xmlns:a="http://schemas.openxmlformats.org/drawingml/2006/main" prst="rect">
            <a:avLst/>
          </a:prstGeom>
        </p:spPr>
      </p:pic>
      <p:sp>
        <p:nvSpPr>
          <p:cNvPr id="91" name="Medical caption">
            <a:extLst xmlns:a="http://schemas.openxmlformats.org/drawingml/2006/main">
              <a:ext uri="{FF2B5EF4-FFF2-40B4-BE49-F238E27FC236}">
                <a16:creationId xmlns:a16="http://schemas.microsoft.com/office/drawing/2014/main" id="{052BDBD2-04C0-4E4F-BF02-ED455AC5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128837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BFT improves medical scores across three model sizes and has the best overall GeneAgent text-overlap score among the aligned open-weight models. Error bars show variation across repeated answers.</a:t>
            </a:r>
          </a:p>
        </p:txBody>
      </p:sp>
      <p:sp>
        <p:nvSpPr>
          <p:cNvPr id="92" name="VCWorld heading">
            <a:extLst xmlns:a="http://schemas.openxmlformats.org/drawingml/2006/main">
              <a:ext uri="{FF2B5EF4-FFF2-40B4-BE49-F238E27FC236}">
                <a16:creationId xmlns:a16="http://schemas.microsoft.com/office/drawing/2014/main" id="{08F581DD-49B9-4871-B82D-CDD67320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552450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Predicting how cells respond to chemicals</a:t>
            </a:r>
          </a:p>
        </p:txBody>
      </p:sp>
      <p:sp>
        <p:nvSpPr>
          <p:cNvPr id="93" name="VCWorld setup">
            <a:extLst xmlns:a="http://schemas.openxmlformats.org/drawingml/2006/main">
              <a:ext uri="{FF2B5EF4-FFF2-40B4-BE49-F238E27FC236}">
                <a16:creationId xmlns:a16="http://schemas.microsoft.com/office/drawing/2014/main" id="{C82EBE64-41AC-49CC-BE5A-33080B15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6048375"/>
            <a:ext cx="10172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Predict gene activity: up, down or unchanged</a:t>
            </a:r>
          </a:p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Feedback training on 45 cell lines, testing on 5</a:t>
            </a:r>
          </a:p>
        </p:txBody>
      </p:sp>
      <p:graphicFrame>
        <p:nvGraphicFramePr>
          <p:cNvPr id="94" name="Chart">
            <a:extLst xmlns:a="http://schemas.openxmlformats.org/drawingml/2006/main">
              <a:ext uri="{FF2B5EF4-FFF2-40B4-BE49-F238E27FC236}">
                <a16:creationId xmlns:a16="http://schemas.microsoft.com/office/drawing/2014/main" id="{3D5ADDF3-A6B8-4785-9011-7404B8D65D65}"/>
              </a:ext>
            </a:extLst>
          </p:cNvPr>
          <p:cNvGraphicFramePr/>
          <p:nvPr/>
        </p:nvGraphicFramePr>
        <p:xfrm>
          <a:off xmlns:a="http://schemas.openxmlformats.org/drawingml/2006/main" x="22078950" y="6905625"/>
          <a:ext xmlns:a="http://schemas.openxmlformats.org/drawingml/2006/main" cx="101727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3b3216ed58d403a"/>
          </a:graphicData>
        </a:graphic>
      </p:graphicFrame>
      <p:sp>
        <p:nvSpPr>
          <p:cNvPr id="95" name="VCWorld takeaway">
            <a:extLst xmlns:a="http://schemas.openxmlformats.org/drawingml/2006/main">
              <a:ext uri="{FF2B5EF4-FFF2-40B4-BE49-F238E27FC236}">
                <a16:creationId xmlns:a16="http://schemas.microsoft.com/office/drawing/2014/main" id="{09B8DF8A-F1CE-4B90-8D2D-1B96B7DA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9763125"/>
            <a:ext cx="10172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54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54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4B8"/>
                </a:solidFill>
                <a:latin typeface="Arial"/>
                <a:ea typeface="Arial"/>
                <a:cs typeface="Arial"/>
              </a:rPr>
              <a:t>+13.4 percentage points over SFT</a:t>
            </a:r>
          </a:p>
          <a:p xmlns:a="http://schemas.openxmlformats.org/drawingml/2006/main">
            <a:pPr algn="l">
              <a:defRPr sz="2400" b="1">
                <a:solidFill>
                  <a:srgbClr val="0054B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54B8"/>
                </a:solidFill>
                <a:latin typeface="Arial"/>
                <a:ea typeface="Arial"/>
                <a:cs typeface="Arial"/>
              </a:rPr>
              <a:t>+4.0 points after feedback training</a:t>
            </a:r>
          </a:p>
        </p:txBody>
      </p:sp>
      <p:sp>
        <p:nvSpPr>
          <p:cNvPr id="96" name="VCWorld caveat">
            <a:extLst xmlns:a="http://schemas.openxmlformats.org/drawingml/2006/main">
              <a:ext uri="{FF2B5EF4-FFF2-40B4-BE49-F238E27FC236}">
                <a16:creationId xmlns:a16="http://schemas.microsoft.com/office/drawing/2014/main" id="{B3D8479F-1732-4933-8385-20587564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10572750"/>
            <a:ext cx="10172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The two BFT parts help separately. SFT and DFT decline after feedback training. BFT’s advantage over Gemini-2.5-Flash is not statistically clear.</a:t>
            </a:r>
          </a:p>
        </p:txBody>
      </p:sp>
      <p:sp>
        <p:nvSpPr>
          <p:cNvPr id="97" name="Representation heading">
            <a:extLst xmlns:a="http://schemas.openxmlformats.org/drawingml/2006/main">
              <a:ext uri="{FF2B5EF4-FFF2-40B4-BE49-F238E27FC236}">
                <a16:creationId xmlns:a16="http://schemas.microsoft.com/office/drawing/2014/main" id="{9D49E91F-FC43-4AA3-88BB-79FCE617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1123950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Turning gene descriptions into useful numbers</a:t>
            </a:r>
          </a:p>
        </p:txBody>
      </p:sp>
      <p:sp>
        <p:nvSpPr>
          <p:cNvPr id="98" name="Representation setup">
            <a:extLst xmlns:a="http://schemas.openxmlformats.org/drawingml/2006/main">
              <a:ext uri="{FF2B5EF4-FFF2-40B4-BE49-F238E27FC236}">
                <a16:creationId xmlns:a16="http://schemas.microsoft.com/office/drawing/2014/main" id="{1DDC6388-55E7-4466-B1C1-F301ADEF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11763375"/>
            <a:ext cx="10172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BFT writes gene descriptions. A text encoder converts them into numbers used to predict gene properties and group cells.</a:t>
            </a:r>
          </a:p>
        </p:txBody>
      </p:sp>
      <p:graphicFrame>
        <p:nvGraphicFramePr>
          <p:cNvPr id="99" name="Chart">
            <a:extLst xmlns:a="http://schemas.openxmlformats.org/drawingml/2006/main">
              <a:ext uri="{FF2B5EF4-FFF2-40B4-BE49-F238E27FC236}">
                <a16:creationId xmlns:a16="http://schemas.microsoft.com/office/drawing/2014/main" id="{19006ACF-CBD3-461D-9A6A-F5E92C38AAD3}"/>
              </a:ext>
            </a:extLst>
          </p:cNvPr>
          <p:cNvGraphicFramePr/>
          <p:nvPr/>
        </p:nvGraphicFramePr>
        <p:xfrm>
          <a:off xmlns:a="http://schemas.openxmlformats.org/drawingml/2006/main" x="22078950" y="12573000"/>
          <a:ext xmlns:a="http://schemas.openxmlformats.org/drawingml/2006/main" cx="101727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4f44e911e7459e"/>
          </a:graphicData>
        </a:graphic>
      </p:graphicFrame>
      <p:sp>
        <p:nvSpPr>
          <p:cNvPr id="100" name="Gene conclusion">
            <a:extLst xmlns:a="http://schemas.openxmlformats.org/drawingml/2006/main">
              <a:ext uri="{FF2B5EF4-FFF2-40B4-BE49-F238E27FC236}">
                <a16:creationId xmlns:a16="http://schemas.microsoft.com/office/drawing/2014/main" id="{4644E453-5A9F-4946-B990-C37168DB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15144750"/>
            <a:ext cx="1017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Average gene prediction score: BFT 0.829 vs GenePT 0.802. GenePT remains higher on Lys4. Both use the same text encoder, while the descriptions come from different sources.</a:t>
            </a:r>
          </a:p>
        </p:txBody>
      </p:sp>
      <p:sp>
        <p:nvSpPr>
          <p:cNvPr id="101" name="Cell label">
            <a:extLst xmlns:a="http://schemas.openxmlformats.org/drawingml/2006/main">
              <a:ext uri="{FF2B5EF4-FFF2-40B4-BE49-F238E27FC236}">
                <a16:creationId xmlns:a16="http://schemas.microsoft.com/office/drawing/2014/main" id="{3D851D12-5BAE-4E57-9992-48BA366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15716250"/>
            <a:ext cx="10172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Grouping cells by type (higher scores are better)</a:t>
            </a:r>
          </a:p>
        </p:txBody>
      </p:sp>
      <p:graphicFrame>
        <p:nvGraphicFrame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DF3446F-BAE5-4F9F-84B9-71A24A165070}"/>
              </a:ext>
            </a:extLst>
          </p:cNvPr>
          <p:cNvGraphicFramePr/>
          <p:nvPr/>
        </p:nvGraphicFramePr>
        <p:xfrm>
          <a:off xmlns:a="http://schemas.openxmlformats.org/drawingml/2006/main" x="22078950" y="16144875"/>
          <a:ext xmlns:a="http://schemas.openxmlformats.org/drawingml/2006/main" cx="101727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057400"/>
                <a:gridCol w="2057400"/>
                <a:gridCol w="2057400"/>
              </a:tblGrid>
              <a:tr h="333375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14300" marR="114300" marT="38100" marB="38100" anchor="ctr">
                    <a:solidFill>
                      <a:srgbClr val="183B66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ARI</a:t>
                      </a:r>
                    </a:p>
                  </a:txBody>
                  <a:tcPr marL="114300" marR="114300" marT="38100" marB="38100" anchor="ctr">
                    <a:solidFill>
                      <a:srgbClr val="183B66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AMI</a:t>
                      </a:r>
                    </a:p>
                  </a:txBody>
                  <a:tcPr marL="114300" marR="114300" marT="38100" marB="38100" anchor="ctr">
                    <a:solidFill>
                      <a:srgbClr val="183B66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ASW</a:t>
                      </a:r>
                    </a:p>
                  </a:txBody>
                  <a:tcPr marL="114300" marR="114300" marT="38100" marB="38100" anchor="ctr">
                    <a:solidFill>
                      <a:srgbClr val="183B66"/>
                    </a:solidFill>
                  </a:tcPr>
                </a:tc>
              </a:tr>
              <a:tr h="333375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scGPT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0.26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0.32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0.039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GenePT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0.30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0.46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0.041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SFT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0.12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0.25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0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0.021</a:t>
                      </a:r>
                    </a:p>
                  </a:txBody>
                  <a:tcPr marL="114300" marR="114300" marT="38100" marB="3810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 lIns="0" tIns="0" rIns="0" bIns="0"/>
                    <a:lstStyle/>
                    <a:p>
                      <a:pPr algn="l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BFT</a:t>
                      </a:r>
                    </a:p>
                  </a:txBody>
                  <a:tcPr marL="114300" marR="114300" marT="38100" marB="38100" anchor="ctr">
                    <a:solidFill>
                      <a:srgbClr val="EAF1F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0.34</a:t>
                      </a:r>
                    </a:p>
                  </a:txBody>
                  <a:tcPr marL="114300" marR="114300" marT="38100" marB="38100" anchor="ctr">
                    <a:solidFill>
                      <a:srgbClr val="EAF1F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0.58</a:t>
                      </a:r>
                    </a:p>
                  </a:txBody>
                  <a:tcPr marL="114300" marR="114300" marT="38100" marB="38100" anchor="ctr">
                    <a:solidFill>
                      <a:srgbClr val="EAF1FA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pPr algn="ctr"/>
                      <a:r>
                        <a:rPr sz="2000" b="1">
                          <a:solidFill>
                            <a:srgbClr val="344854"/>
                          </a:solidFill>
                          <a:latin typeface="Arial"/>
                          <a:ea typeface="Arial"/>
                          <a:cs typeface="Arial"/>
                        </a:rPr>
                        <a:t>0.061</a:t>
                      </a:r>
                    </a:p>
                  </a:txBody>
                  <a:tcPr marL="114300" marR="114300" marT="38100" marB="38100" anchor="ctr">
                    <a:solidFill>
                      <a:srgbClr val="EAF1FA"/>
                    </a:solidFill>
                  </a:tcPr>
                </a:tc>
              </a:tr>
            </a:tbl>
          </a:graphicData>
        </a:graphic>
      </p:graphicFrame>
      <p:sp>
        <p:nvSpPr>
          <p:cNvPr id="103" name="Perturbation heading">
            <a:extLst xmlns:a="http://schemas.openxmlformats.org/drawingml/2006/main">
              <a:ext uri="{FF2B5EF4-FFF2-40B4-BE49-F238E27FC236}">
                <a16:creationId xmlns:a16="http://schemas.microsoft.com/office/drawing/2014/main" id="{97E197E5-4924-4A7E-BCFC-72BA695F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1800225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00" b="1">
                <a:solidFill>
                  <a:srgbClr val="183B66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183B66"/>
                </a:solidFill>
                <a:latin typeface="Arial"/>
                <a:ea typeface="Arial"/>
                <a:cs typeface="Arial"/>
              </a:rPr>
              <a:t>Predicting responses in single cells</a:t>
            </a:r>
          </a:p>
        </p:txBody>
      </p:sp>
      <p:pic>
        <p:nvPic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6FCA935-3016-4D48-BF5F-2C1AD57944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c82ffc15c4b56"/>
          <a:stretch xmlns:a="http://schemas.openxmlformats.org/drawingml/2006/main"/>
        </p:blipFill>
        <p:spPr>
          <a:xfrm xmlns:a="http://schemas.openxmlformats.org/drawingml/2006/main">
            <a:off x="22082183" y="18478500"/>
            <a:ext cx="10166234" cy="2781300"/>
          </a:xfrm>
          <a:prstGeom xmlns:a="http://schemas.openxmlformats.org/drawingml/2006/main" prst="rect">
            <a:avLst/>
          </a:prstGeom>
        </p:spPr>
      </p:pic>
      <p:sp>
        <p:nvSpPr>
          <p:cNvPr id="105" name="Perturbation caption">
            <a:extLst xmlns:a="http://schemas.openxmlformats.org/drawingml/2006/main">
              <a:ext uri="{FF2B5EF4-FFF2-40B4-BE49-F238E27FC236}">
                <a16:creationId xmlns:a16="http://schemas.microsoft.com/office/drawing/2014/main" id="{BA5AEACB-0DB7-4829-A6C2-11814877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78950" y="21383625"/>
            <a:ext cx="10172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00" b="0">
                <a:solidFill>
                  <a:srgbClr val="344854"/>
                </a:solidFill>
                <a:latin typeface="Arial"/>
                <a:ea typeface="Arial"/>
                <a:cs typeface="Arial"/>
              </a:defRPr>
            </a:pPr>
            <a:r>
              <a:rPr sz="1300" b="0">
                <a:solidFill>
                  <a:srgbClr val="344854"/>
                </a:solidFill>
                <a:latin typeface="Arial"/>
                <a:ea typeface="Arial"/>
                <a:cs typeface="Arial"/>
              </a:rPr>
              <a:t>Comparable to standard STATE inputs on four datasets. BFT writes profiles without training on these datasets, while the downstream STATE prediction model is still trained.</a:t>
            </a:r>
          </a:p>
        </p:txBody>
      </p:sp>
    </p:spTree>
    <p:extLst>
      <p:ext uri="{BB962C8B-B14F-4D97-AF65-F5344CB8AC3E}">
        <p14:creationId xmlns:p14="http://schemas.microsoft.com/office/powerpoint/2010/main" val="201699426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4999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2026-10-10T08:37:41.1840000Z</dcterms:created>
  <dcterms:modified xsi:type="dcterms:W3CDTF">2026-10-10T08:37:41.1840000Z</dcterms:modified>
</coreProperties>
</file>