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6f2402d26141b2" /><Relationship Type="http://schemas.openxmlformats.org/officeDocument/2006/relationships/extended-properties" Target="/docProps/app.xml" Id="R3335b7420a9942ad" /><Relationship Type="http://schemas.openxmlformats.org/officeDocument/2006/relationships/officeDocument" Target="/ppt/presentation.xml" Id="R3acd4a0c054f4a83" /></Relationships>
</file>

<file path=ppt/presentation.xml><?xml version="1.0" encoding="utf-8"?>
<p:presentation xmlns:p="http://schemas.openxmlformats.org/presentationml/2006/main">
  <p:sldMasterIdLst>
    <p:sldMasterId xmlns:r="http://schemas.openxmlformats.org/officeDocument/2006/relationships" id="2147483648" r:id="R07f1a284514f4a0b"/>
  </p:sldMasterIdLst>
  <p:notesMasterIdLst>
    <p:notesMasterId xmlns:r="http://schemas.openxmlformats.org/officeDocument/2006/relationships" r:id="R5f13b0899a144988"/>
  </p:notesMasterIdLst>
  <p:sldIdLst>
    <p:sldId xmlns:r="http://schemas.openxmlformats.org/officeDocument/2006/relationships" id="256" r:id="R1a95c48342e646b8"/>
  </p:sldIdLst>
  <p:sldSz cx="32918400" cy="21945600"/>
  <p:notesSz cx="6858000" cy="9144000"/>
  <p:defaultTextStyle>
    <a:def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defRPr>
    </a:defPPr>
    <a:lvl1pPr xmlns:a="http://schemas.openxmlformats.org/drawingml/2006/main" marL="0" marR="0" indent="0"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1pPr>
    <a:lvl2pPr xmlns:a="http://schemas.openxmlformats.org/drawingml/2006/main" marL="0" marR="0" indent="326532"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2pPr>
    <a:lvl3pPr xmlns:a="http://schemas.openxmlformats.org/drawingml/2006/main" marL="0" marR="0" indent="653064"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3pPr>
    <a:lvl4pPr xmlns:a="http://schemas.openxmlformats.org/drawingml/2006/main" marL="0" marR="0" indent="979596"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4pPr>
    <a:lvl5pPr xmlns:a="http://schemas.openxmlformats.org/drawingml/2006/main" marL="0" marR="0" indent="1306128"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5pPr>
    <a:lvl6pPr xmlns:a="http://schemas.openxmlformats.org/drawingml/2006/main" marL="0" marR="0" indent="1632661"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6pPr>
    <a:lvl7pPr xmlns:a="http://schemas.openxmlformats.org/drawingml/2006/main" marL="0" marR="0" indent="1959193"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7pPr>
    <a:lvl8pPr xmlns:a="http://schemas.openxmlformats.org/drawingml/2006/main" marL="0" marR="0" indent="2285725"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8pPr>
    <a:lvl9pPr xmlns:a="http://schemas.openxmlformats.org/drawingml/2006/main" marL="0" marR="0" indent="2612257"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8561fd9fcfc4aa7" /><Relationship Type="http://schemas.openxmlformats.org/officeDocument/2006/relationships/slideMaster" Target="/ppt/slideMasters/slideMaster1.xml" Id="R07f1a284514f4a0b" /><Relationship Type="http://schemas.openxmlformats.org/officeDocument/2006/relationships/notesMaster" Target="/ppt/notesMasters/notesMaster1.xml" Id="R5f13b0899a144988" /><Relationship Type="http://schemas.openxmlformats.org/officeDocument/2006/relationships/presProps" Target="/ppt/presProps.xml" Id="Reb73a1015a174c4d" /><Relationship Type="http://schemas.openxmlformats.org/officeDocument/2006/relationships/viewProps" Target="/ppt/viewProps.xml" Id="R1e86f6bf123e48c8" /><Relationship Type="http://schemas.openxmlformats.org/officeDocument/2006/relationships/tableStyles" Target="/ppt/tableStyles.xml" Id="Rc8e50dbc38484041" /><Relationship Type="http://schemas.openxmlformats.org/officeDocument/2006/relationships/slide" Target="/ppt/slides/slide1.xml" Id="R1a95c48342e646b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5bbcd9f9934b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90c3d9b594d4eed" /><Relationship Type="http://schemas.openxmlformats.org/officeDocument/2006/relationships/notesMaster" Target="/ppt/notesMasters/notesMaster1.xml" Id="R9d200420dd324a7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Edited from author-selected BFT-NeurIPS2026-Plain-Language-Final-R2.pptx. All scientific visuals are unchanged-pixel crops from supplied camera-ready Figure1-5. Crop boxes and masks of letter-only margins are recorded in .build/poster-paper-figures/crop-manifest.json. Challenge uses Figure1b, motivation Figure1a, method Figure1c, biomedical results Figure2a/b, general retention original 70B panels and legend from Figure3a, gene representation Figure4b, single-cell response Figure5. No reconstructed chart, diagram, or evidence table. Native text explains token as word for a broad audience. Main paper Section3 and Results provide scientific claims. General ability is retained better than SFT, not without loss, and DFT forgets least. STEM extension is demonstrated specifically in medicine and biology, not tested across all STEM fields. Gene mean AUC 0.829 vs GenePT0.802, with Lys4 exception. Same text encoder but different profile source. Only profile generation is zero-shot on perturbation datasets. Source: https://arxiv.org/abs/2511.21075 and supplied neurips_2026_arxiv.tex. Logos and original master retained. No displayed equations added.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111e40b40754d4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89751d7a30e41c7" /></Relationships>
</file>

<file path=ppt/slideLayouts/slideLayout1.xml><?xml version="1.0" encoding="utf-8"?>
<p:sldLayout xmlns:p="http://schemas.openxmlformats.org/presentationml/2006/main">
  <p:cSld name="FB AI">
    <p:spTree>
      <p:nvGrpSpPr>
        <p:cNvPr id="1" name=""/>
        <p:cNvGrpSpPr/>
        <p:nvPr/>
      </p:nvGrpSpPr>
      <p:grpSpPr>
        <a:xfrm xmlns:a="http://schemas.openxmlformats.org/drawingml/2006/main"/>
      </p:grpSpPr>
      <p:sp>
        <p:nvSpPr>
          <p:cNvPr id="11" name="Slide Number">
            <a:extLst xmlns:a="http://schemas.openxmlformats.org/drawingml/2006/main">
              <a:ext uri="{FF2B5EF4-FFF2-40B4-BE49-F238E27FC236}">
                <a16:creationId xmlns:a16="http://schemas.microsoft.com/office/drawing/2014/main" id="{6553D1BF-6ECB-4786-9F29-82CB1557EE7B}"/>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86CB4B4D-7CA3-9044-876B-883B54F8677D}" type="slidenum">
              <a:t>‹#›</a:t>
            </a:fld>
            <a:endParaRPr/>
          </a:p>
        </p:txBody>
      </p:sp>
    </p:spTree>
  </p:cSld>
</p:sldLayout>
</file>

<file path=ppt/slideLayouts/slideLayout2.xml><?xml version="1.0" encoding="utf-8"?>
<p:sldLayout xmlns:p="http://schemas.openxmlformats.org/presentationml/2006/main">
  <p:cSld name="FB AI Research ">
    <p:spTree>
      <p:nvGrpSpPr>
        <p:cNvPr id="1" name=""/>
        <p:cNvGrpSpPr/>
        <p:nvPr/>
      </p:nvGrpSpPr>
      <p:grpSpPr>
        <a:xfrm xmlns:a="http://schemas.openxmlformats.org/drawingml/2006/main"/>
      </p:grpSpPr>
      <p:sp>
        <p:nvSpPr>
          <p:cNvPr id="18" name="Slide Number">
            <a:extLst xmlns:a="http://schemas.openxmlformats.org/drawingml/2006/main">
              <a:ext uri="{FF2B5EF4-FFF2-40B4-BE49-F238E27FC236}">
                <a16:creationId xmlns:a16="http://schemas.microsoft.com/office/drawing/2014/main" id="{F4C17D4A-30DD-4FA1-8A08-5BC412B97013}"/>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86CB4B4D-7CA3-9044-876B-883B54F8677D}"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8e4e7a8c31c40b1" /><Relationship Type="http://schemas.openxmlformats.org/officeDocument/2006/relationships/slideLayout" Target="/ppt/slideLayouts/slideLayout1.xml" Id="Rf23ce95bb9794a2a" /><Relationship Type="http://schemas.openxmlformats.org/officeDocument/2006/relationships/slideLayout" Target="/ppt/slideLayouts/slideLayout2.xml" Id="R51150b536ed5439d"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itle Text">
            <a:extLst xmlns:a="http://schemas.openxmlformats.org/drawingml/2006/main">
              <a:ext uri="{FF2B5EF4-FFF2-40B4-BE49-F238E27FC236}">
                <a16:creationId xmlns:a16="http://schemas.microsoft.com/office/drawing/2014/main" id="{6B271CEF-0FC9-4E22-8673-3CF275C92A8E}"/>
              </a:ext>
            </a:extLst>
          </p:cNvPr>
          <p:cNvSpPr>
            <a:spLocks xmlns:a="http://schemas.openxmlformats.org/drawingml/2006/main" noGrp="1"/>
          </p:cNvSpPr>
          <p:nvPr>
            <p:ph type="title" idx="0"/>
          </p:nvPr>
        </p:nvSpPr>
        <p:spPr>
          <a:xfrm xmlns:a="http://schemas.openxmlformats.org/drawingml/2006/main">
            <a:off x="1645920" y="294640"/>
            <a:ext cx="29626561" cy="4826001"/>
          </a:xfrm>
          <a:prstGeom xmlns:a="http://schemas.openxmlformats.org/drawingml/2006/main" prst="rect">
            <a:avLst/>
          </a:prstGeom>
          <a:ln xmlns:a="http://schemas.openxmlformats.org/drawingml/2006/main" w="12700">
            <a:miter/>
          </a:ln>
        </p:spPr>
        <p:txBody>
          <a:bodyPr xmlns:a="http://schemas.openxmlformats.org/drawingml/2006/main" lIns="45719" rIns="45719" anchor="ctr"/>
          <a:lstStyle xmlns:a="http://schemas.openxmlformats.org/drawingml/2006/main"/>
          <a:p xmlns:a="http://schemas.openxmlformats.org/drawingml/2006/main">
            <a:r>
              <a:t>Title Text</a:t>
            </a:r>
          </a:p>
        </p:txBody>
      </p:sp>
      <p:sp>
        <p:nvSpPr>
          <p:cNvPr id="3" name="Body Level One…">
            <a:extLst xmlns:a="http://schemas.openxmlformats.org/drawingml/2006/main">
              <a:ext uri="{FF2B5EF4-FFF2-40B4-BE49-F238E27FC236}">
                <a16:creationId xmlns:a16="http://schemas.microsoft.com/office/drawing/2014/main" id="{86C97CA7-450B-4834-A606-95E5E3DBB5F3}"/>
              </a:ext>
            </a:extLst>
          </p:cNvPr>
          <p:cNvSpPr>
            <a:spLocks xmlns:a="http://schemas.openxmlformats.org/drawingml/2006/main" noGrp="1"/>
          </p:cNvSpPr>
          <p:nvPr>
            <p:ph type="body" idx="1"/>
          </p:nvPr>
        </p:nvSpPr>
        <p:spPr>
          <a:xfrm xmlns:a="http://schemas.openxmlformats.org/drawingml/2006/main">
            <a:off x="1645920" y="5120640"/>
            <a:ext cx="29626561" cy="16824961"/>
          </a:xfrm>
          <a:prstGeom xmlns:a="http://schemas.openxmlformats.org/drawingml/2006/main" prst="rect">
            <a:avLst/>
          </a:prstGeom>
          <a:ln xmlns:a="http://schemas.openxmlformats.org/drawingml/2006/main" w="12700">
            <a:miter/>
          </a:ln>
        </p:spPr>
        <p:txBody>
          <a:bodyPr xmlns:a="http://schemas.openxmlformats.org/drawingml/2006/main" lIns="45719" rIns="45719"/>
          <a:lstStyle xmlns:a="http://schemas.openxmlformats.org/drawingml/2006/main"/>
          <a:p xmlns:a="http://schemas.openxmlformats.org/drawingml/2006/main">
            <a:r>
              <a:t>Body Level One</a:t>
            </a:r>
          </a:p>
          <a:p xmlns:a="http://schemas.openxmlformats.org/drawingml/2006/main">
            <a:pPr lvl="1">
              <a:buNone/>
            </a:pPr>
            <a:r>
              <a:t>Body Level Two</a:t>
            </a:r>
          </a:p>
          <a:p xmlns:a="http://schemas.openxmlformats.org/drawingml/2006/main">
            <a:pPr lvl="2">
              <a:buNone/>
            </a:pPr>
            <a:r>
              <a:t>Body Level Three</a:t>
            </a:r>
          </a:p>
          <a:p xmlns:a="http://schemas.openxmlformats.org/drawingml/2006/main">
            <a:pPr lvl="3">
              <a:buNone/>
            </a:pPr>
            <a:r>
              <a:t>Body Level Four</a:t>
            </a:r>
          </a:p>
          <a:p xmlns:a="http://schemas.openxmlformats.org/drawingml/2006/main">
            <a:pPr lvl="4">
              <a:buNone/>
            </a:pPr>
            <a:r>
              <a:t>Body Level Five</a:t>
            </a:r>
          </a:p>
        </p:txBody>
      </p:sp>
      <p:sp>
        <p:nvSpPr>
          <p:cNvPr id="4" name="Slide Number">
            <a:extLst xmlns:a="http://schemas.openxmlformats.org/drawingml/2006/main">
              <a:ext uri="{FF2B5EF4-FFF2-40B4-BE49-F238E27FC236}">
                <a16:creationId xmlns:a16="http://schemas.microsoft.com/office/drawing/2014/main" id="{2E05A349-BB27-427A-8070-B3E689D7D6F7}"/>
              </a:ext>
            </a:extLst>
          </p:cNvPr>
          <p:cNvSpPr>
            <a:spLocks xmlns:a="http://schemas.openxmlformats.org/drawingml/2006/main" noGrp="1"/>
          </p:cNvSpPr>
          <p:nvPr>
            <p:ph type="sldNum" idx="2"/>
          </p:nvPr>
        </p:nvSpPr>
        <p:spPr>
          <a:xfrm xmlns:a="http://schemas.openxmlformats.org/drawingml/2006/main">
            <a:off x="15910559" y="19756119"/>
            <a:ext cx="7680961" cy="1168401"/>
          </a:xfrm>
          <a:prstGeom xmlns:a="http://schemas.openxmlformats.org/drawingml/2006/main" prst="rect">
            <a:avLst/>
          </a:prstGeom>
          <a:ln xmlns:a="http://schemas.openxmlformats.org/drawingml/2006/main" w="12700">
            <a:miter/>
          </a:ln>
        </p:spPr>
        <p:txBody>
          <a:bodyPr xmlns:a="http://schemas.openxmlformats.org/drawingml/2006/main" wrap="none" lIns="45719" rIns="45719" anchor="ctr">
            <a:spAutoFit/>
          </a:bodyPr>
          <a:lstStyle xmlns:a="http://schemas.openxmlformats.org/drawingml/2006/main">
            <a:lvl1pPr algn="r">
              <a:buNone/>
              <a:defRPr/>
            </a:lvl1pPr>
          </a:lstStyle>
          <a:p xmlns:a="http://schemas.openxmlformats.org/drawingml/2006/main">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3ce95bb9794a2a"/>
    <p:sldLayoutId xmlns:r="http://schemas.openxmlformats.org/officeDocument/2006/relationships" id="2147483650" r:id="R51150b536ed5439d"/>
  </p:sldLayoutIdLst>
  <p:txStyles>
    <p:titleStyle>
      <a:lvl1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1pPr>
      <a:lvl2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2pPr>
      <a:lvl3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3pPr>
      <a:lvl4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4pPr>
      <a:lvl5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5pPr>
      <a:lvl6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6pPr>
      <a:lvl7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7pPr>
      <a:lvl8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8pPr>
      <a:lvl9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9pPr>
    </p:titleStyle>
    <p:bodyStyle>
      <a:lvl1pPr xmlns:a="http://schemas.openxmlformats.org/drawingml/2006/main" marL="731556" marR="0" indent="-731556"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1pPr>
      <a:lvl2pPr xmlns:a="http://schemas.openxmlformats.org/drawingml/2006/main" marL="2319804" marR="0" indent="-856691"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2pPr>
      <a:lvl3pPr xmlns:a="http://schemas.openxmlformats.org/drawingml/2006/main" marL="3943547" marR="0" indent="-1017321"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3pPr>
      <a:lvl4pPr xmlns:a="http://schemas.openxmlformats.org/drawingml/2006/main" marL="5531594"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4pPr>
      <a:lvl5pPr xmlns:a="http://schemas.openxmlformats.org/drawingml/2006/main" marL="6994707"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5pPr>
      <a:lvl6pPr xmlns:a="http://schemas.openxmlformats.org/drawingml/2006/main" marL="8457820"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6pPr>
      <a:lvl7pPr xmlns:a="http://schemas.openxmlformats.org/drawingml/2006/main" marL="9920933"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7pPr>
      <a:lvl8pPr xmlns:a="http://schemas.openxmlformats.org/drawingml/2006/main" marL="11384047"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8pPr>
      <a:lvl9pPr xmlns:a="http://schemas.openxmlformats.org/drawingml/2006/main" marL="12847160"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9pPr>
    </p:bodyStyle>
    <p:otherStyle>
      <a:lvl1pPr xmlns:a="http://schemas.openxmlformats.org/drawingml/2006/main" marL="0" marR="0" indent="0"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1pPr>
      <a:lvl2pPr xmlns:a="http://schemas.openxmlformats.org/drawingml/2006/main" marL="0" marR="0" indent="326532"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2pPr>
      <a:lvl3pPr xmlns:a="http://schemas.openxmlformats.org/drawingml/2006/main" marL="0" marR="0" indent="653064"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3pPr>
      <a:lvl4pPr xmlns:a="http://schemas.openxmlformats.org/drawingml/2006/main" marL="0" marR="0" indent="979596"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4pPr>
      <a:lvl5pPr xmlns:a="http://schemas.openxmlformats.org/drawingml/2006/main" marL="0" marR="0" indent="1306128"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5pPr>
      <a:lvl6pPr xmlns:a="http://schemas.openxmlformats.org/drawingml/2006/main" marL="0" marR="0" indent="1632661"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6pPr>
      <a:lvl7pPr xmlns:a="http://schemas.openxmlformats.org/drawingml/2006/main" marL="0" marR="0" indent="1959193"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7pPr>
      <a:lvl8pPr xmlns:a="http://schemas.openxmlformats.org/drawingml/2006/main" marL="0" marR="0" indent="2285725"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8pPr>
      <a:lvl9pPr xmlns:a="http://schemas.openxmlformats.org/drawingml/2006/main" marL="0" marR="0" indent="2612257"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8e95db51a69405e" /><Relationship Type="http://schemas.openxmlformats.org/officeDocument/2006/relationships/image" Target="/ppt/media/image.png" Id="R78af988122be4074" /><Relationship Type="http://schemas.openxmlformats.org/officeDocument/2006/relationships/image" Target="/ppt/media/image2.png" Id="R547da54d02b34365" /><Relationship Type="http://schemas.openxmlformats.org/officeDocument/2006/relationships/image" Target="/ppt/media/image3.png" Id="R1c6b8860e9704400" /><Relationship Type="http://schemas.openxmlformats.org/officeDocument/2006/relationships/image" Target="/ppt/media/image4.png" Id="Rcea422af9f9e42b0" /><Relationship Type="http://schemas.openxmlformats.org/officeDocument/2006/relationships/image" Target="/ppt/media/image5.png" Id="Rb68e616839e74603" /><Relationship Type="http://schemas.openxmlformats.org/officeDocument/2006/relationships/image" Target="/ppt/media/image6.png" Id="R17b4fcfde53f4059" /><Relationship Type="http://schemas.openxmlformats.org/officeDocument/2006/relationships/image" Target="/ppt/media/image7.png" Id="R9d6ec67db27843cc" /><Relationship Type="http://schemas.openxmlformats.org/officeDocument/2006/relationships/image" Target="/ppt/media/image8.png" Id="Rd337ecdc324f4197" /><Relationship Type="http://schemas.openxmlformats.org/officeDocument/2006/relationships/image" Target="/ppt/media/image9.png" Id="R28af945720c948bb" /><Relationship Type="http://schemas.openxmlformats.org/officeDocument/2006/relationships/image" Target="/ppt/media/image10.png" Id="R95377280ff1543ab" /><Relationship Type="http://schemas.openxmlformats.org/officeDocument/2006/relationships/image" Target="/ppt/media/image11.png" Id="R4077fbaecc8043ec" /><Relationship Type="http://schemas.openxmlformats.org/officeDocument/2006/relationships/image" Target="/ppt/media/image12.png" Id="R1d7e80e2a32043f1" /><Relationship Type="http://schemas.openxmlformats.org/officeDocument/2006/relationships/image" Target="/ppt/media/image13.png" Id="Redba5edd6f624139" /><Relationship Type="http://schemas.openxmlformats.org/officeDocument/2006/relationships/image" Target="/ppt/media/image14.png" Id="R0c0d4505daa84a0f" /><Relationship Type="http://schemas.openxmlformats.org/officeDocument/2006/relationships/image" Target="/ppt/media/image15.png" Id="Rcbe4c51d48fa463f" /><Relationship Type="http://schemas.openxmlformats.org/officeDocument/2006/relationships/image" Target="/ppt/media/image16.png" Id="R9ff4ce81ce0c491d" /><Relationship Type="http://schemas.openxmlformats.org/officeDocument/2006/relationships/notesSlide" Target="/ppt/notesSlides/notesSlide1.xml" Id="R33b4375d0fe34a3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0" name="TextBox 35">
            <a:extLst xmlns:a="http://schemas.openxmlformats.org/drawingml/2006/main">
              <a:ext uri="{FF2B5EF4-FFF2-40B4-BE49-F238E27FC236}">
                <a16:creationId xmlns:a16="http://schemas.microsoft.com/office/drawing/2014/main" id="{34016A95-D344-4D38-ADD4-33A368507157}"/>
              </a:ext>
            </a:extLst>
          </p:cNvPr>
          <p:cNvSpPr>
            <a:spLocks xmlns:a="http://schemas.openxmlformats.org/drawingml/2006/main" noGrp="1"/>
          </p:cNvSpPr>
          <p:nvPr/>
        </p:nvSpPr>
        <p:spPr>
          <a:xfrm xmlns:a="http://schemas.openxmlformats.org/drawingml/2006/main">
            <a:off x="666750" y="257175"/>
            <a:ext cx="253365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500" b="1">
                <a:solidFill>
                  <a:srgbClr val="183B66"/>
                </a:solidFill>
                <a:latin typeface="Arial"/>
                <a:ea typeface="Arial"/>
                <a:cs typeface="Arial"/>
              </a:defRPr>
            </a:defPPr>
            <a:lvl1pPr>
              <a:buNone/>
              <a:defRPr sz="5500">
                <a:latin typeface="Arial"/>
                <a:ea typeface="Arial"/>
                <a:cs typeface="Arial"/>
              </a:defRPr>
            </a:lvl1pPr>
          </a:lstStyle>
          <a:p xmlns:a="http://schemas.openxmlformats.org/drawingml/2006/main">
            <a:pPr algn="l">
              <a:buNone/>
              <a:defRPr sz="5500" b="1">
                <a:solidFill>
                  <a:srgbClr val="183B66"/>
                </a:solidFill>
                <a:latin typeface="Arial"/>
                <a:ea typeface="Arial"/>
                <a:cs typeface="Arial"/>
              </a:defRPr>
            </a:pPr>
            <a:r>
              <a:rPr sz="5500" b="1">
                <a:solidFill>
                  <a:srgbClr val="183B66"/>
                </a:solidFill>
                <a:latin typeface="Arial"/>
                <a:ea typeface="Arial"/>
                <a:cs typeface="Arial"/>
              </a:rPr>
              <a:t>Aligning LLMs with Biomedical Knowledge</a:t>
            </a:r>
          </a:p>
          <a:p xmlns:a="http://schemas.openxmlformats.org/drawingml/2006/main">
            <a:pPr algn="l">
              <a:buNone/>
              <a:defRPr sz="5500" b="1">
                <a:solidFill>
                  <a:srgbClr val="183B66"/>
                </a:solidFill>
                <a:latin typeface="Arial"/>
                <a:ea typeface="Arial"/>
                <a:cs typeface="Arial"/>
              </a:defRPr>
            </a:pPr>
            <a:r>
              <a:rPr sz="5500" b="1">
                <a:solidFill>
                  <a:srgbClr val="183B66"/>
                </a:solidFill>
                <a:latin typeface="Arial"/>
                <a:ea typeface="Arial"/>
                <a:cs typeface="Arial"/>
              </a:rPr>
              <a:t>using Balanced Fine-Tuning</a:t>
            </a:r>
          </a:p>
        </p:txBody>
      </p:sp>
      <p:sp>
        <p:nvSpPr>
          <p:cNvPr id="33" name="TextBox 38">
            <a:extLst xmlns:a="http://schemas.openxmlformats.org/drawingml/2006/main">
              <a:ext uri="{FF2B5EF4-FFF2-40B4-BE49-F238E27FC236}">
                <a16:creationId xmlns:a16="http://schemas.microsoft.com/office/drawing/2014/main" id="{A39EF646-A6F2-4CF5-81F9-70904A91FE26}"/>
              </a:ext>
            </a:extLst>
          </p:cNvPr>
          <p:cNvSpPr>
            <a:spLocks xmlns:a="http://schemas.openxmlformats.org/drawingml/2006/main" noGrp="1"/>
          </p:cNvSpPr>
          <p:nvPr/>
        </p:nvSpPr>
        <p:spPr>
          <a:xfrm xmlns:a="http://schemas.openxmlformats.org/drawingml/2006/main">
            <a:off x="666750" y="3905250"/>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1  Challenge: learning unfamiliar science</a:t>
            </a:r>
          </a:p>
        </p:txBody>
      </p:sp>
      <p:sp>
        <p:nvSpPr>
          <p:cNvPr id="34" name="TextBox 39">
            <a:extLst xmlns:a="http://schemas.openxmlformats.org/drawingml/2006/main">
              <a:ext uri="{FF2B5EF4-FFF2-40B4-BE49-F238E27FC236}">
                <a16:creationId xmlns:a16="http://schemas.microsoft.com/office/drawing/2014/main" id="{C59B75F8-E444-4352-9679-E3FF9DA2BA1B}"/>
              </a:ext>
            </a:extLst>
          </p:cNvPr>
          <p:cNvSpPr>
            <a:spLocks xmlns:a="http://schemas.openxmlformats.org/drawingml/2006/main" noGrp="1"/>
          </p:cNvSpPr>
          <p:nvPr/>
        </p:nvSpPr>
        <p:spPr>
          <a:xfrm xmlns:a="http://schemas.openxmlformats.org/drawingml/2006/main">
            <a:off x="666750" y="4667250"/>
            <a:ext cx="101727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vl1pPr>
              <a:lnSpc>
                <a:spcPct val="120000"/>
              </a:lnSpc>
              <a:buNone/>
              <a:defRPr sz="2100">
                <a:solidFill>
                  <a:srgbClr val="344854"/>
                </a:solidFill>
                <a:latin typeface="Arial"/>
                <a:ea typeface="Arial"/>
                <a:cs typeface="Arial"/>
              </a:defRPr>
            </a:lvl1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LLMs need to learn unfamiliar gene names and biological mechanisms from limited expert supervision. Confidence-based training (DFT) reduces attention to difficult words, including those carrying useful scientific knowledge.</a:t>
            </a:r>
          </a:p>
        </p:txBody>
      </p:sp>
      <p:sp>
        <p:nvSpPr>
          <p:cNvPr id="37" name="TextBox 43">
            <a:extLst xmlns:a="http://schemas.openxmlformats.org/drawingml/2006/main">
              <a:ext uri="{FF2B5EF4-FFF2-40B4-BE49-F238E27FC236}">
                <a16:creationId xmlns:a16="http://schemas.microsoft.com/office/drawing/2014/main" id="{03F2AF83-3A5F-43FE-97E8-AC991C9A12D2}"/>
              </a:ext>
            </a:extLst>
          </p:cNvPr>
          <p:cNvSpPr>
            <a:spLocks xmlns:a="http://schemas.openxmlformats.org/drawingml/2006/main" noGrp="1"/>
          </p:cNvSpPr>
          <p:nvPr/>
        </p:nvSpPr>
        <p:spPr>
          <a:xfrm xmlns:a="http://schemas.openxmlformats.org/drawingml/2006/main">
            <a:off x="11372850" y="3905250"/>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3  Method: Balanced Fine-Tuning</a:t>
            </a:r>
          </a:p>
        </p:txBody>
      </p:sp>
      <p:sp>
        <p:nvSpPr>
          <p:cNvPr id="38" name="TextBox 44">
            <a:extLst xmlns:a="http://schemas.openxmlformats.org/drawingml/2006/main">
              <a:ext uri="{FF2B5EF4-FFF2-40B4-BE49-F238E27FC236}">
                <a16:creationId xmlns:a16="http://schemas.microsoft.com/office/drawing/2014/main" id="{36855CBD-F0F4-4526-87B9-BA127A6E7EB5}"/>
              </a:ext>
            </a:extLst>
          </p:cNvPr>
          <p:cNvSpPr>
            <a:spLocks xmlns:a="http://schemas.openxmlformats.org/drawingml/2006/main" noGrp="1"/>
          </p:cNvSpPr>
          <p:nvPr/>
        </p:nvSpPr>
        <p:spPr>
          <a:xfrm xmlns:a="http://schemas.openxmlformats.org/drawingml/2006/main">
            <a:off x="11372850" y="4667250"/>
            <a:ext cx="10172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vl1pPr>
              <a:buNone/>
              <a:defRPr sz="2100">
                <a:latin typeface="Arial"/>
                <a:ea typeface="Arial"/>
                <a:cs typeface="Arial"/>
              </a:defRPr>
            </a:lvl1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BFT changes how much attention each part of the training data receives. It uses the model’s own confidence and nearby text, with two connected decisions.</a:t>
            </a:r>
          </a:p>
        </p:txBody>
      </p:sp>
      <p:sp>
        <p:nvSpPr>
          <p:cNvPr id="39" name="TextBox 45">
            <a:extLst xmlns:a="http://schemas.openxmlformats.org/drawingml/2006/main">
              <a:ext uri="{FF2B5EF4-FFF2-40B4-BE49-F238E27FC236}">
                <a16:creationId xmlns:a16="http://schemas.microsoft.com/office/drawing/2014/main" id="{79CDD081-FE7A-4614-94A4-3F10DFF8FF83}"/>
              </a:ext>
            </a:extLst>
          </p:cNvPr>
          <p:cNvSpPr>
            <a:spLocks xmlns:a="http://schemas.openxmlformats.org/drawingml/2006/main" noGrp="1"/>
          </p:cNvSpPr>
          <p:nvPr/>
        </p:nvSpPr>
        <p:spPr>
          <a:xfrm xmlns:a="http://schemas.openxmlformats.org/drawingml/2006/main">
            <a:off x="666750" y="11811000"/>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2  Motivation: preserve useful difficulty</a:t>
            </a:r>
          </a:p>
        </p:txBody>
      </p:sp>
      <p:sp>
        <p:nvSpPr>
          <p:cNvPr id="40" name="TextBox 46">
            <a:extLst xmlns:a="http://schemas.openxmlformats.org/drawingml/2006/main">
              <a:ext uri="{FF2B5EF4-FFF2-40B4-BE49-F238E27FC236}">
                <a16:creationId xmlns:a16="http://schemas.microsoft.com/office/drawing/2014/main" id="{4CBAF464-5EDA-480B-A823-9D2226CEA054}"/>
              </a:ext>
            </a:extLst>
          </p:cNvPr>
          <p:cNvSpPr>
            <a:spLocks xmlns:a="http://schemas.openxmlformats.org/drawingml/2006/main" noGrp="1"/>
          </p:cNvSpPr>
          <p:nvPr/>
        </p:nvSpPr>
        <p:spPr>
          <a:xfrm xmlns:a="http://schemas.openxmlformats.org/drawingml/2006/main">
            <a:off x="666750" y="12573000"/>
            <a:ext cx="10172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vl1pPr>
              <a:buNone/>
              <a:defRPr sz="2100">
                <a:latin typeface="Arial"/>
                <a:ea typeface="Arial"/>
                <a:cs typeface="Arial"/>
              </a:defRPr>
            </a:lvl1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The grouped difficult passages contain more biomedical entities and reasoning steps. Suppressing them can remove the very knowledge needed for domain adaptation.</a:t>
            </a:r>
          </a:p>
        </p:txBody>
      </p:sp>
      <p:sp>
        <p:nvSpPr>
          <p:cNvPr id="42" name="TextBox 51">
            <a:extLst xmlns:a="http://schemas.openxmlformats.org/drawingml/2006/main">
              <a:ext uri="{FF2B5EF4-FFF2-40B4-BE49-F238E27FC236}">
                <a16:creationId xmlns:a16="http://schemas.microsoft.com/office/drawing/2014/main" id="{9C45D058-3353-4D1E-A3F2-E59CD2A2183A}"/>
              </a:ext>
            </a:extLst>
          </p:cNvPr>
          <p:cNvSpPr>
            <a:spLocks xmlns:a="http://schemas.openxmlformats.org/drawingml/2006/main" noGrp="1"/>
          </p:cNvSpPr>
          <p:nvPr/>
        </p:nvSpPr>
        <p:spPr>
          <a:xfrm xmlns:a="http://schemas.openxmlformats.org/drawingml/2006/main">
            <a:off x="22078950" y="3905250"/>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4  Results: STEM adaptation &amp; retention</a:t>
            </a:r>
          </a:p>
        </p:txBody>
      </p:sp>
      <p:sp>
        <p:nvSpPr>
          <p:cNvPr id="43" name="TextBox 52">
            <a:extLst xmlns:a="http://schemas.openxmlformats.org/drawingml/2006/main">
              <a:ext uri="{FF2B5EF4-FFF2-40B4-BE49-F238E27FC236}">
                <a16:creationId xmlns:a16="http://schemas.microsoft.com/office/drawing/2014/main" id="{9DB2D713-0C18-4814-959A-973F37A8A205}"/>
              </a:ext>
            </a:extLst>
          </p:cNvPr>
          <p:cNvSpPr>
            <a:spLocks xmlns:a="http://schemas.openxmlformats.org/drawingml/2006/main" noGrp="1"/>
          </p:cNvSpPr>
          <p:nvPr/>
        </p:nvSpPr>
        <p:spPr>
          <a:xfrm xmlns:a="http://schemas.openxmlformats.org/drawingml/2006/main">
            <a:off x="22078950" y="4667250"/>
            <a:ext cx="10172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vl1pPr>
              <a:buNone/>
              <a:defRPr sz="2100">
                <a:latin typeface="Arial"/>
                <a:ea typeface="Arial"/>
                <a:cs typeface="Arial"/>
              </a:defRPr>
            </a:lvl1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BFT expands medical and biological skills while retaining more broad knowledge than SFT. MMLU and CMMLU test broad knowledge across three model sizes. The 70B results appear below.</a:t>
            </a:r>
          </a:p>
        </p:txBody>
      </p:sp>
      <p:sp>
        <p:nvSpPr>
          <p:cNvPr id="50" name="TextBox 37">
            <a:extLst xmlns:a="http://schemas.openxmlformats.org/drawingml/2006/main">
              <a:ext uri="{FF2B5EF4-FFF2-40B4-BE49-F238E27FC236}">
                <a16:creationId xmlns:a16="http://schemas.microsoft.com/office/drawing/2014/main" id="{AACAE95C-758F-4498-864B-D013E9FCFD5D}"/>
              </a:ext>
            </a:extLst>
          </p:cNvPr>
          <p:cNvSpPr>
            <a:spLocks xmlns:a="http://schemas.openxmlformats.org/drawingml/2006/main" noGrp="1"/>
          </p:cNvSpPr>
          <p:nvPr/>
        </p:nvSpPr>
        <p:spPr>
          <a:xfrm xmlns:a="http://schemas.openxmlformats.org/drawingml/2006/main">
            <a:off x="666750" y="2076450"/>
            <a:ext cx="2543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000000"/>
                </a:solidFill>
                <a:latin typeface="Arial"/>
                <a:ea typeface="Arial"/>
                <a:cs typeface="Arial"/>
              </a:defRPr>
            </a:defPPr>
          </a:lstStyle>
          <a:p xmlns:a="http://schemas.openxmlformats.org/drawingml/2006/main">
            <a:pPr algn="l">
              <a:lnSpc>
                <a:spcPct val="120000"/>
              </a:lnSpc>
              <a:spcBef>
                <a:spcPts val="1000"/>
              </a:spcBef>
              <a:buNone/>
              <a:defRPr sz="2100" b="0">
                <a:solidFill>
                  <a:srgbClr val="000000"/>
                </a:solidFill>
                <a:latin typeface="Arial"/>
                <a:ea typeface="Arial"/>
                <a:cs typeface="Arial"/>
              </a:defRPr>
            </a:pPr>
            <a:r>
              <a:rPr sz="2100" b="0">
                <a:solidFill>
                  <a:srgbClr val="000000"/>
                </a:solidFill>
                <a:latin typeface="Arial"/>
                <a:ea typeface="Arial"/>
                <a:cs typeface="Arial"/>
              </a:rPr>
              <a:t>Zhenchao Tang*¹, Fang Wang*†¹, Haohuai He¹, Jiale Zhou¹, Tianxu Lv¹, Jun Zhu¹, Shouzhi Chen¹, Minghao Yang¹,</a:t>
            </a:r>
          </a:p>
        </p:txBody>
      </p:sp>
      <p:pic>
        <p:nvPicPr>
          <p:cNvPr id="54" name="neurips_logo.pdf">
            <a:extLst xmlns:a="http://schemas.openxmlformats.org/drawingml/2006/main">
              <a:ext uri="{FF2B5EF4-FFF2-40B4-BE49-F238E27FC236}">
                <a16:creationId xmlns:a16="http://schemas.microsoft.com/office/drawing/2014/main" id="{FCE881D5-2D42-4266-9E1D-194429AF50EA}"/>
              </a:ext>
            </a:extLst>
          </p:cNvPr>
          <p:cNvPicPr>
            <a:picLocks xmlns:a="http://schemas.openxmlformats.org/drawingml/2006/main" noChangeAspect="1"/>
          </p:cNvPicPr>
          <p:nvPr/>
        </p:nvPicPr>
        <p:blipFill>
          <a:blip xmlns:r="http://schemas.openxmlformats.org/officeDocument/2006/relationships" xmlns:a="http://schemas.openxmlformats.org/drawingml/2006/main" r:embed="R78af988122be4074"/>
          <a:stretch xmlns:a="http://schemas.openxmlformats.org/drawingml/2006/main">
            <a:fillRect l="0" t="0" r="0" b="0"/>
          </a:stretch>
        </p:blipFill>
        <p:spPr>
          <a:xfrm xmlns:a="http://schemas.openxmlformats.org/drawingml/2006/main">
            <a:off x="27336750" y="238125"/>
            <a:ext cx="4857750" cy="2190750"/>
          </a:xfrm>
          <a:prstGeom xmlns:a="http://schemas.openxmlformats.org/drawingml/2006/main" prst="rect">
            <a:avLst/>
          </a:prstGeom>
          <a:ln xmlns:a="http://schemas.openxmlformats.org/drawingml/2006/main" w="12700">
            <a:miter/>
          </a:ln>
        </p:spPr>
      </p:pic>
      <p:sp>
        <p:nvSpPr>
          <p:cNvPr id="55" name="Authors line two">
            <a:extLst xmlns:a="http://schemas.openxmlformats.org/drawingml/2006/main">
              <a:ext uri="{FF2B5EF4-FFF2-40B4-BE49-F238E27FC236}">
                <a16:creationId xmlns:a16="http://schemas.microsoft.com/office/drawing/2014/main" id="{16EEAA25-601F-40AB-815A-E6F15D30C4C4}"/>
              </a:ext>
            </a:extLst>
          </p:cNvPr>
          <p:cNvSpPr>
            <a:spLocks xmlns:a="http://schemas.openxmlformats.org/drawingml/2006/main" noGrp="1"/>
          </p:cNvSpPr>
          <p:nvPr/>
        </p:nvSpPr>
        <p:spPr>
          <a:xfrm xmlns:a="http://schemas.openxmlformats.org/drawingml/2006/main">
            <a:off x="666750" y="2486025"/>
            <a:ext cx="2543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000000"/>
                </a:solidFill>
                <a:latin typeface="Arial"/>
                <a:ea typeface="Arial"/>
                <a:cs typeface="Arial"/>
              </a:defRPr>
            </a:defPPr>
          </a:lstStyle>
          <a:p xmlns:a="http://schemas.openxmlformats.org/drawingml/2006/main">
            <a:pPr algn="l">
              <a:buNone/>
              <a:defRPr sz="2100" b="0">
                <a:solidFill>
                  <a:srgbClr val="000000"/>
                </a:solidFill>
                <a:latin typeface="Arial"/>
                <a:ea typeface="Arial"/>
                <a:cs typeface="Arial"/>
              </a:defRPr>
            </a:pPr>
            <a:r>
              <a:rPr sz="2100" b="0">
                <a:solidFill>
                  <a:srgbClr val="000000"/>
                </a:solidFill>
                <a:latin typeface="Arial"/>
                <a:ea typeface="Arial"/>
                <a:cs typeface="Arial"/>
              </a:rPr>
              <a:t>Yu Wang¹, Jiayang Wu¹, Yidong Song², Yaokun Li³, Jiehui Huang⁴, Jun Zhou⁵, Bing He¹, Jianhua Yao†¹</a:t>
            </a:r>
          </a:p>
        </p:txBody>
      </p:sp>
      <p:sp>
        <p:nvSpPr>
          <p:cNvPr id="56" name="Affiliations">
            <a:extLst xmlns:a="http://schemas.openxmlformats.org/drawingml/2006/main">
              <a:ext uri="{FF2B5EF4-FFF2-40B4-BE49-F238E27FC236}">
                <a16:creationId xmlns:a16="http://schemas.microsoft.com/office/drawing/2014/main" id="{40620C01-8239-4737-BBBD-F7AB1F0E8B83}"/>
              </a:ext>
            </a:extLst>
          </p:cNvPr>
          <p:cNvSpPr>
            <a:spLocks xmlns:a="http://schemas.openxmlformats.org/drawingml/2006/main" noGrp="1"/>
          </p:cNvSpPr>
          <p:nvPr/>
        </p:nvSpPr>
        <p:spPr>
          <a:xfrm xmlns:a="http://schemas.openxmlformats.org/drawingml/2006/main">
            <a:off x="666750" y="2905125"/>
            <a:ext cx="25431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344854"/>
                </a:solidFill>
                <a:latin typeface="Arial"/>
                <a:ea typeface="Arial"/>
                <a:cs typeface="Arial"/>
              </a:defRPr>
            </a:defPPr>
          </a:lstStyle>
          <a:p xmlns:a="http://schemas.openxmlformats.org/drawingml/2006/main">
            <a:pPr algn="l">
              <a:buNone/>
              <a:defRPr sz="1600" b="0">
                <a:solidFill>
                  <a:srgbClr val="344854"/>
                </a:solidFill>
                <a:latin typeface="Arial"/>
                <a:ea typeface="Arial"/>
                <a:cs typeface="Arial"/>
              </a:defRPr>
            </a:pPr>
            <a:r>
              <a:rPr sz="1600" b="0">
                <a:solidFill>
                  <a:srgbClr val="344854"/>
                </a:solidFill>
                <a:latin typeface="Arial"/>
                <a:ea typeface="Arial"/>
                <a:cs typeface="Arial"/>
              </a:rPr>
              <a:t>¹Tencent AI for Life Sciences Lab  ²Nankai University  ³Sun Yat-sen University</a:t>
            </a:r>
            <a:endParaRPr sz="2400" b="0">
              <a:solidFill>
                <a:srgbClr val="344854"/>
              </a:solidFill>
              <a:latin typeface="Arial"/>
              <a:ea typeface="Arial"/>
              <a:cs typeface="Arial"/>
            </a:endParaRPr>
          </a:p>
          <a:p xmlns:a="http://schemas.openxmlformats.org/drawingml/2006/main">
            <a:pPr algn="l">
              <a:buNone/>
              <a:defRPr sz="1600" b="0">
                <a:solidFill>
                  <a:srgbClr val="344854"/>
                </a:solidFill>
                <a:latin typeface="Arial"/>
                <a:ea typeface="Arial"/>
                <a:cs typeface="Arial"/>
              </a:defRPr>
            </a:pPr>
            <a:r>
              <a:rPr sz="1600" b="0">
                <a:solidFill>
                  <a:srgbClr val="344854"/>
                </a:solidFill>
                <a:latin typeface="Arial"/>
                <a:ea typeface="Arial"/>
                <a:cs typeface="Arial"/>
              </a:rPr>
              <a:t>⁴The Hong Kong University of Science and Technology  ⁵Tsinghua University</a:t>
            </a:r>
            <a:endParaRPr sz="2400" b="0">
              <a:solidFill>
                <a:srgbClr val="344854"/>
              </a:solidFill>
              <a:latin typeface="Arial"/>
              <a:ea typeface="Arial"/>
              <a:cs typeface="Arial"/>
            </a:endParaRPr>
          </a:p>
          <a:p xmlns:a="http://schemas.openxmlformats.org/drawingml/2006/main">
            <a:pPr algn="l">
              <a:buNone/>
              <a:defRPr sz="1600" b="0">
                <a:solidFill>
                  <a:srgbClr val="344854"/>
                </a:solidFill>
                <a:latin typeface="Arial"/>
                <a:ea typeface="Arial"/>
                <a:cs typeface="Arial"/>
              </a:defRPr>
            </a:pPr>
            <a:r>
              <a:rPr sz="1600" b="0">
                <a:solidFill>
                  <a:srgbClr val="344854"/>
                </a:solidFill>
                <a:latin typeface="Arial"/>
                <a:ea typeface="Arial"/>
                <a:cs typeface="Arial"/>
              </a:rPr>
              <a:t>*Equal contribution  †Correspondence: avonwanghit@gmail.com, jianhua.yao@gmail.com</a:t>
            </a:r>
          </a:p>
        </p:txBody>
      </p:sp>
      <p:pic>
        <p:nvPicPr>
          <p:cNvPr id="57" name="图片 56">
            <a:extLst xmlns:a="http://schemas.openxmlformats.org/drawingml/2006/main">
              <a:ext uri="{FF2B5EF4-FFF2-40B4-BE49-F238E27FC236}">
                <a16:creationId xmlns:a16="http://schemas.microsoft.com/office/drawing/2014/main" id="{2F0D54C4-7EB9-416A-ACED-D74BD94CD97F}"/>
              </a:ext>
            </a:extLst>
          </p:cNvPr>
          <p:cNvPicPr>
            <a:picLocks xmlns:a="http://schemas.openxmlformats.org/drawingml/2006/main" noChangeAspect="1"/>
          </p:cNvPicPr>
          <p:nvPr/>
        </p:nvPicPr>
        <p:blipFill>
          <a:blip xmlns:r="http://schemas.openxmlformats.org/officeDocument/2006/relationships" xmlns:a="http://schemas.openxmlformats.org/drawingml/2006/main" r:embed="R547da54d02b34365"/>
          <a:stretch xmlns:a="http://schemas.openxmlformats.org/drawingml/2006/main"/>
        </p:blipFill>
        <p:spPr>
          <a:xfrm xmlns:a="http://schemas.openxmlformats.org/drawingml/2006/main">
            <a:off x="26480320" y="2514600"/>
            <a:ext cx="1760486" cy="723900"/>
          </a:xfrm>
          <a:prstGeom xmlns:a="http://schemas.openxmlformats.org/drawingml/2006/main" prst="rect">
            <a:avLst/>
          </a:prstGeom>
        </p:spPr>
      </p:pic>
      <p:pic>
        <p:nvPicPr>
          <p:cNvPr id="58" name="图片 57">
            <a:extLst xmlns:a="http://schemas.openxmlformats.org/drawingml/2006/main">
              <a:ext uri="{FF2B5EF4-FFF2-40B4-BE49-F238E27FC236}">
                <a16:creationId xmlns:a16="http://schemas.microsoft.com/office/drawing/2014/main" id="{822F5F41-4FD8-49F6-8015-4712E0B62793}"/>
              </a:ext>
            </a:extLst>
          </p:cNvPr>
          <p:cNvPicPr>
            <a:picLocks xmlns:a="http://schemas.openxmlformats.org/drawingml/2006/main" noChangeAspect="1"/>
          </p:cNvPicPr>
          <p:nvPr/>
        </p:nvPicPr>
        <p:blipFill>
          <a:blip xmlns:r="http://schemas.openxmlformats.org/officeDocument/2006/relationships" xmlns:a="http://schemas.openxmlformats.org/drawingml/2006/main" r:embed="R1c6b8860e9704400"/>
          <a:stretch xmlns:a="http://schemas.openxmlformats.org/drawingml/2006/main"/>
        </p:blipFill>
        <p:spPr>
          <a:xfrm xmlns:a="http://schemas.openxmlformats.org/drawingml/2006/main">
            <a:off x="28336875" y="2514985"/>
            <a:ext cx="2476500" cy="875530"/>
          </a:xfrm>
          <a:prstGeom xmlns:a="http://schemas.openxmlformats.org/drawingml/2006/main" prst="rect">
            <a:avLst/>
          </a:prstGeom>
        </p:spPr>
      </p:pic>
      <p:pic>
        <p:nvPicPr>
          <p:cNvPr id="59" name="图片 58">
            <a:extLst xmlns:a="http://schemas.openxmlformats.org/drawingml/2006/main">
              <a:ext uri="{FF2B5EF4-FFF2-40B4-BE49-F238E27FC236}">
                <a16:creationId xmlns:a16="http://schemas.microsoft.com/office/drawing/2014/main" id="{9F846846-808B-4056-A94E-663402C5EF7C}"/>
              </a:ext>
            </a:extLst>
          </p:cNvPr>
          <p:cNvPicPr>
            <a:picLocks xmlns:a="http://schemas.openxmlformats.org/drawingml/2006/main" noChangeAspect="1"/>
          </p:cNvPicPr>
          <p:nvPr/>
        </p:nvPicPr>
        <p:blipFill>
          <a:blip xmlns:r="http://schemas.openxmlformats.org/officeDocument/2006/relationships" xmlns:a="http://schemas.openxmlformats.org/drawingml/2006/main" r:embed="Rcea422af9f9e42b0"/>
          <a:stretch xmlns:a="http://schemas.openxmlformats.org/drawingml/2006/main"/>
        </p:blipFill>
        <p:spPr>
          <a:xfrm xmlns:a="http://schemas.openxmlformats.org/drawingml/2006/main">
            <a:off x="30956250" y="2514600"/>
            <a:ext cx="1238250" cy="1238250"/>
          </a:xfrm>
          <a:prstGeom xmlns:a="http://schemas.openxmlformats.org/drawingml/2006/main" prst="rect">
            <a:avLst/>
          </a:prstGeom>
        </p:spPr>
      </p:pic>
      <p:sp>
        <p:nvSpPr>
          <p:cNvPr id="60" name="Header links">
            <a:extLst xmlns:a="http://schemas.openxmlformats.org/drawingml/2006/main">
              <a:ext uri="{FF2B5EF4-FFF2-40B4-BE49-F238E27FC236}">
                <a16:creationId xmlns:a16="http://schemas.microsoft.com/office/drawing/2014/main" id="{1C5A53D8-30DA-48DC-9BD1-0F5951E43A89}"/>
              </a:ext>
            </a:extLst>
          </p:cNvPr>
          <p:cNvSpPr>
            <a:spLocks xmlns:a="http://schemas.openxmlformats.org/drawingml/2006/main" noGrp="1"/>
          </p:cNvSpPr>
          <p:nvPr/>
        </p:nvSpPr>
        <p:spPr>
          <a:xfrm xmlns:a="http://schemas.openxmlformats.org/drawingml/2006/main">
            <a:off x="26479500" y="3429000"/>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00" b="0">
                <a:solidFill>
                  <a:srgbClr val="344854"/>
                </a:solidFill>
                <a:latin typeface="Arial"/>
                <a:ea typeface="Arial"/>
                <a:cs typeface="Arial"/>
              </a:defRPr>
            </a:defPPr>
          </a:lstStyle>
          <a:p xmlns:a="http://schemas.openxmlformats.org/drawingml/2006/main">
            <a:pPr algn="l">
              <a:buNone/>
              <a:defRPr sz="1300" b="0">
                <a:solidFill>
                  <a:srgbClr val="344854"/>
                </a:solidFill>
                <a:latin typeface="Arial"/>
                <a:ea typeface="Arial"/>
                <a:cs typeface="Arial"/>
              </a:defRPr>
            </a:pPr>
            <a:r>
              <a:rPr sz="1300" b="0">
                <a:solidFill>
                  <a:srgbClr val="344854"/>
                </a:solidFill>
                <a:latin typeface="Arial"/>
                <a:ea typeface="Arial"/>
                <a:cs typeface="Arial"/>
              </a:rPr>
              <a:t>NeurIPS 2026   arxiv.org/abs/2511.21075</a:t>
            </a:r>
          </a:p>
          <a:p xmlns:a="http://schemas.openxmlformats.org/drawingml/2006/main">
            <a:pPr algn="l">
              <a:buNone/>
              <a:defRPr sz="1300" b="0">
                <a:solidFill>
                  <a:srgbClr val="344854"/>
                </a:solidFill>
                <a:latin typeface="Arial"/>
                <a:ea typeface="Arial"/>
                <a:cs typeface="Arial"/>
              </a:defRPr>
            </a:pPr>
            <a:r>
              <a:rPr sz="1300" b="0">
                <a:solidFill>
                  <a:srgbClr val="344854"/>
                </a:solidFill>
                <a:latin typeface="Arial"/>
                <a:ea typeface="Arial"/>
                <a:cs typeface="Arial"/>
              </a:rPr>
              <a:t>Project and code: shapsider.github.io/BFT</a:t>
            </a:r>
          </a:p>
        </p:txBody>
      </p:sp>
      <p:sp>
        <p:nvSpPr>
          <p:cNvPr id="61" name="Observation heading">
            <a:extLst xmlns:a="http://schemas.openxmlformats.org/drawingml/2006/main">
              <a:ext uri="{FF2B5EF4-FFF2-40B4-BE49-F238E27FC236}">
                <a16:creationId xmlns:a16="http://schemas.microsoft.com/office/drawing/2014/main" id="{111FA220-7ACF-410A-BB55-C8E11409419D}"/>
              </a:ext>
            </a:extLst>
          </p:cNvPr>
          <p:cNvSpPr>
            <a:spLocks xmlns:a="http://schemas.openxmlformats.org/drawingml/2006/main" noGrp="1"/>
          </p:cNvSpPr>
          <p:nvPr/>
        </p:nvSpPr>
        <p:spPr>
          <a:xfrm xmlns:a="http://schemas.openxmlformats.org/drawingml/2006/main">
            <a:off x="666750" y="609600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Difficult words can form meaningful passages</a:t>
            </a:r>
          </a:p>
        </p:txBody>
      </p:sp>
      <p:sp>
        <p:nvSpPr>
          <p:cNvPr id="62" name="Diagnostic setup">
            <a:extLst xmlns:a="http://schemas.openxmlformats.org/drawingml/2006/main">
              <a:ext uri="{FF2B5EF4-FFF2-40B4-BE49-F238E27FC236}">
                <a16:creationId xmlns:a16="http://schemas.microsoft.com/office/drawing/2014/main" id="{68AD73F2-AAE9-452F-9275-0EFDD2FF38AE}"/>
              </a:ext>
            </a:extLst>
          </p:cNvPr>
          <p:cNvSpPr>
            <a:spLocks xmlns:a="http://schemas.openxmlformats.org/drawingml/2006/main" noGrp="1"/>
          </p:cNvSpPr>
          <p:nvPr/>
        </p:nvSpPr>
        <p:spPr>
          <a:xfrm xmlns:a="http://schemas.openxmlformats.org/drawingml/2006/main">
            <a:off x="666750" y="6619875"/>
            <a:ext cx="10172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The model is uncertain about one word in an easy passage, or about many words in a difficult passage. These situations need different treatment.</a:t>
            </a:r>
          </a:p>
        </p:txBody>
      </p:sp>
      <p:sp>
        <p:nvSpPr>
          <p:cNvPr id="66" name="Observation conclusion">
            <a:extLst xmlns:a="http://schemas.openxmlformats.org/drawingml/2006/main">
              <a:ext uri="{FF2B5EF4-FFF2-40B4-BE49-F238E27FC236}">
                <a16:creationId xmlns:a16="http://schemas.microsoft.com/office/drawing/2014/main" id="{7876B269-5BD0-45D7-B188-095A31B5DAD4}"/>
              </a:ext>
            </a:extLst>
          </p:cNvPr>
          <p:cNvSpPr>
            <a:spLocks xmlns:a="http://schemas.openxmlformats.org/drawingml/2006/main" noGrp="1"/>
          </p:cNvSpPr>
          <p:nvPr/>
        </p:nvSpPr>
        <p:spPr>
          <a:xfrm xmlns:a="http://schemas.openxmlformats.org/drawingml/2006/main">
            <a:off x="666750" y="10763250"/>
            <a:ext cx="10172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buNone/>
              <a:defRPr sz="1800" b="0">
                <a:solidFill>
                  <a:srgbClr val="344854"/>
                </a:solidFill>
                <a:latin typeface="Arial"/>
                <a:ea typeface="Arial"/>
                <a:cs typeface="Arial"/>
              </a:defRPr>
            </a:pPr>
            <a:r>
              <a:rPr sz="1800" b="0">
                <a:solidFill>
                  <a:srgbClr val="344854"/>
                </a:solidFill>
                <a:latin typeface="Arial"/>
                <a:ea typeface="Arial"/>
                <a:cs typeface="Arial"/>
              </a:rPr>
              <a:t>Left: an isolated difficult word. Right: a whole difficult passage. A low prediction confidence alone cannot tell us which content the model needs to learn.</a:t>
            </a:r>
          </a:p>
        </p:txBody>
      </p:sp>
      <p:sp>
        <p:nvSpPr>
          <p:cNvPr id="70" name="Retention conclusion">
            <a:extLst xmlns:a="http://schemas.openxmlformats.org/drawingml/2006/main">
              <a:ext uri="{FF2B5EF4-FFF2-40B4-BE49-F238E27FC236}">
                <a16:creationId xmlns:a16="http://schemas.microsoft.com/office/drawing/2014/main" id="{70B3DBD5-9598-4D00-BBC6-EBCFB4AFF8A4}"/>
              </a:ext>
            </a:extLst>
          </p:cNvPr>
          <p:cNvSpPr>
            <a:spLocks xmlns:a="http://schemas.openxmlformats.org/drawingml/2006/main" noGrp="1"/>
          </p:cNvSpPr>
          <p:nvPr/>
        </p:nvSpPr>
        <p:spPr>
          <a:xfrm xmlns:a="http://schemas.openxmlformats.org/drawingml/2006/main">
            <a:off x="22078950" y="10287000"/>
            <a:ext cx="101727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buNone/>
              <a:defRPr sz="1800" b="0">
                <a:solidFill>
                  <a:srgbClr val="344854"/>
                </a:solidFill>
                <a:latin typeface="Arial"/>
                <a:ea typeface="Arial"/>
                <a:cs typeface="Arial"/>
              </a:defRPr>
            </a:pPr>
            <a:r>
              <a:rPr sz="1800" b="0">
                <a:solidFill>
                  <a:srgbClr val="344854"/>
                </a:solidFill>
                <a:latin typeface="Arial"/>
                <a:ea typeface="Arial"/>
                <a:cs typeface="Arial"/>
              </a:rPr>
              <a:t>BFT retains more general capability than SFT and sample-only BFT. Some forgetting remains. DFT forgets least, while BFT offers stronger biomedical adaptation.</a:t>
            </a:r>
          </a:p>
        </p:txBody>
      </p:sp>
      <p:sp>
        <p:nvSpPr>
          <p:cNvPr id="88" name="Medical heading">
            <a:extLst xmlns:a="http://schemas.openxmlformats.org/drawingml/2006/main">
              <a:ext uri="{FF2B5EF4-FFF2-40B4-BE49-F238E27FC236}">
                <a16:creationId xmlns:a16="http://schemas.microsoft.com/office/drawing/2014/main" id="{60989384-94D8-4EC4-A645-303D45E264CA}"/>
              </a:ext>
            </a:extLst>
          </p:cNvPr>
          <p:cNvSpPr>
            <a:spLocks xmlns:a="http://schemas.openxmlformats.org/drawingml/2006/main" noGrp="1"/>
          </p:cNvSpPr>
          <p:nvPr/>
        </p:nvSpPr>
        <p:spPr>
          <a:xfrm xmlns:a="http://schemas.openxmlformats.org/drawingml/2006/main">
            <a:off x="11372850" y="12525375"/>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Medical competence: HealthBench Hard (70B)</a:t>
            </a:r>
          </a:p>
        </p:txBody>
      </p:sp>
      <p:sp>
        <p:nvSpPr>
          <p:cNvPr id="91" name="Medical caption">
            <a:extLst xmlns:a="http://schemas.openxmlformats.org/drawingml/2006/main">
              <a:ext uri="{FF2B5EF4-FFF2-40B4-BE49-F238E27FC236}">
                <a16:creationId xmlns:a16="http://schemas.microsoft.com/office/drawing/2014/main" id="{052BDBD2-04C0-4E4F-BF02-ED455AC5A352}"/>
              </a:ext>
            </a:extLst>
          </p:cNvPr>
          <p:cNvSpPr>
            <a:spLocks xmlns:a="http://schemas.openxmlformats.org/drawingml/2006/main" noGrp="1"/>
          </p:cNvSpPr>
          <p:nvPr/>
        </p:nvSpPr>
        <p:spPr>
          <a:xfrm xmlns:a="http://schemas.openxmlformats.org/drawingml/2006/main">
            <a:off x="11372850" y="16383000"/>
            <a:ext cx="101727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buNone/>
              <a:defRPr sz="1800" b="0">
                <a:solidFill>
                  <a:srgbClr val="344854"/>
                </a:solidFill>
                <a:latin typeface="Arial"/>
                <a:ea typeface="Arial"/>
                <a:cs typeface="Arial"/>
              </a:defRPr>
            </a:pPr>
            <a:r>
              <a:rPr sz="1800" b="0">
                <a:solidFill>
                  <a:srgbClr val="344854"/>
                </a:solidFill>
                <a:latin typeface="Arial"/>
                <a:ea typeface="Arial"/>
                <a:cs typeface="Arial"/>
              </a:rPr>
              <a:t>BFT improves medical competence more consistently across model sizes. On VCWorld, BFT reaches 0.696 vs SFT 0.562, then 0.736 after feedback training.</a:t>
            </a:r>
          </a:p>
        </p:txBody>
      </p:sp>
      <p:sp>
        <p:nvSpPr>
          <p:cNvPr id="97" name="Representation heading">
            <a:extLst xmlns:a="http://schemas.openxmlformats.org/drawingml/2006/main">
              <a:ext uri="{FF2B5EF4-FFF2-40B4-BE49-F238E27FC236}">
                <a16:creationId xmlns:a16="http://schemas.microsoft.com/office/drawing/2014/main" id="{9D49E91F-FC43-4AA3-88BB-79FCE6178656}"/>
              </a:ext>
            </a:extLst>
          </p:cNvPr>
          <p:cNvSpPr>
            <a:spLocks xmlns:a="http://schemas.openxmlformats.org/drawingml/2006/main" noGrp="1"/>
          </p:cNvSpPr>
          <p:nvPr/>
        </p:nvSpPr>
        <p:spPr>
          <a:xfrm xmlns:a="http://schemas.openxmlformats.org/drawingml/2006/main">
            <a:off x="22078950" y="1114425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Gene descriptions support scientific prediction</a:t>
            </a:r>
          </a:p>
        </p:txBody>
      </p:sp>
      <p:sp>
        <p:nvSpPr>
          <p:cNvPr id="98" name="Representation setup">
            <a:extLst xmlns:a="http://schemas.openxmlformats.org/drawingml/2006/main">
              <a:ext uri="{FF2B5EF4-FFF2-40B4-BE49-F238E27FC236}">
                <a16:creationId xmlns:a16="http://schemas.microsoft.com/office/drawing/2014/main" id="{1DDC6388-55E7-4466-B1C1-F301ADEF083A}"/>
              </a:ext>
            </a:extLst>
          </p:cNvPr>
          <p:cNvSpPr>
            <a:spLocks xmlns:a="http://schemas.openxmlformats.org/drawingml/2006/main" noGrp="1"/>
          </p:cNvSpPr>
          <p:nvPr/>
        </p:nvSpPr>
        <p:spPr>
          <a:xfrm xmlns:a="http://schemas.openxmlformats.org/drawingml/2006/main">
            <a:off x="22078950" y="11668125"/>
            <a:ext cx="101727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BFT writes gene descriptions. A shared text encoder converts them into numerical representations for predicting gene properties and interactions.</a:t>
            </a:r>
          </a:p>
        </p:txBody>
      </p:sp>
      <p:sp>
        <p:nvSpPr>
          <p:cNvPr id="100" name="Gene conclusion">
            <a:extLst xmlns:a="http://schemas.openxmlformats.org/drawingml/2006/main">
              <a:ext uri="{FF2B5EF4-FFF2-40B4-BE49-F238E27FC236}">
                <a16:creationId xmlns:a16="http://schemas.microsoft.com/office/drawing/2014/main" id="{4644E453-5A9F-4946-B990-C37168DB81CC}"/>
              </a:ext>
            </a:extLst>
          </p:cNvPr>
          <p:cNvSpPr>
            <a:spLocks xmlns:a="http://schemas.openxmlformats.org/drawingml/2006/main" noGrp="1"/>
          </p:cNvSpPr>
          <p:nvPr/>
        </p:nvSpPr>
        <p:spPr>
          <a:xfrm xmlns:a="http://schemas.openxmlformats.org/drawingml/2006/main">
            <a:off x="22078950" y="17097375"/>
            <a:ext cx="101727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buNone/>
              <a:defRPr sz="1800" b="0">
                <a:solidFill>
                  <a:srgbClr val="344854"/>
                </a:solidFill>
                <a:latin typeface="Arial"/>
                <a:ea typeface="Arial"/>
                <a:cs typeface="Arial"/>
              </a:defRPr>
            </a:pPr>
            <a:r>
              <a:rPr sz="1800" b="0">
                <a:solidFill>
                  <a:srgbClr val="344854"/>
                </a:solidFill>
                <a:latin typeface="Arial"/>
                <a:ea typeface="Arial"/>
                <a:cs typeface="Arial"/>
              </a:rPr>
              <a:t>Average gene prediction score: BFT 0.829 vs GenePT 0.802. GenePT remains higher on Lys4. Both use the same text encoder, with different source descriptions.</a:t>
            </a:r>
          </a:p>
        </p:txBody>
      </p:sp>
      <p:sp>
        <p:nvSpPr>
          <p:cNvPr id="103" name="Perturbation heading">
            <a:extLst xmlns:a="http://schemas.openxmlformats.org/drawingml/2006/main">
              <a:ext uri="{FF2B5EF4-FFF2-40B4-BE49-F238E27FC236}">
                <a16:creationId xmlns:a16="http://schemas.microsoft.com/office/drawing/2014/main" id="{97E197E5-4924-4A7E-BCFC-72BA695F081C}"/>
              </a:ext>
            </a:extLst>
          </p:cNvPr>
          <p:cNvSpPr>
            <a:spLocks xmlns:a="http://schemas.openxmlformats.org/drawingml/2006/main" noGrp="1"/>
          </p:cNvSpPr>
          <p:nvPr/>
        </p:nvSpPr>
        <p:spPr>
          <a:xfrm xmlns:a="http://schemas.openxmlformats.org/drawingml/2006/main">
            <a:off x="22078950" y="1800225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Single-cell response prediction</a:t>
            </a:r>
          </a:p>
        </p:txBody>
      </p:sp>
      <p:sp>
        <p:nvSpPr>
          <p:cNvPr id="105" name="Perturbation caption">
            <a:extLst xmlns:a="http://schemas.openxmlformats.org/drawingml/2006/main">
              <a:ext uri="{FF2B5EF4-FFF2-40B4-BE49-F238E27FC236}">
                <a16:creationId xmlns:a16="http://schemas.microsoft.com/office/drawing/2014/main" id="{BA5AEACB-0DB7-4829-A6C2-11814877AFA1}"/>
              </a:ext>
            </a:extLst>
          </p:cNvPr>
          <p:cNvSpPr>
            <a:spLocks xmlns:a="http://schemas.openxmlformats.org/drawingml/2006/main" noGrp="1"/>
          </p:cNvSpPr>
          <p:nvPr/>
        </p:nvSpPr>
        <p:spPr>
          <a:xfrm xmlns:a="http://schemas.openxmlformats.org/drawingml/2006/main">
            <a:off x="22078950" y="21336000"/>
            <a:ext cx="101727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344854"/>
                </a:solidFill>
                <a:latin typeface="Arial"/>
                <a:ea typeface="Arial"/>
                <a:cs typeface="Arial"/>
              </a:defRPr>
            </a:defPPr>
          </a:lstStyle>
          <a:p xmlns:a="http://schemas.openxmlformats.org/drawingml/2006/main">
            <a:pPr algn="l">
              <a:buNone/>
              <a:defRPr sz="1600" b="0">
                <a:solidFill>
                  <a:srgbClr val="344854"/>
                </a:solidFill>
                <a:latin typeface="Arial"/>
                <a:ea typeface="Arial"/>
                <a:cs typeface="Arial"/>
              </a:defRPr>
            </a:pPr>
            <a:r>
              <a:rPr sz="1600" b="0">
                <a:solidFill>
                  <a:srgbClr val="344854"/>
                </a:solidFill>
                <a:latin typeface="Arial"/>
                <a:ea typeface="Arial"/>
                <a:cs typeface="Arial"/>
              </a:rPr>
              <a:t>BFT profiles give comparable STATE prediction results across four datasets. Profile generation uses no training on these datasets. The STATE prediction model is still trained.</a:t>
            </a:r>
          </a:p>
        </p:txBody>
      </p:sp>
      <p:pic>
        <p:nvPicPr>
          <p:cNvPr id="106" name="">
            <a:extLst xmlns:a="http://schemas.openxmlformats.org/drawingml/2006/main">
              <a:ext uri="{FF2B5EF4-FFF2-40B4-BE49-F238E27FC236}">
                <a16:creationId xmlns:a16="http://schemas.microsoft.com/office/drawing/2014/main" id="{7D25FBBA-1B10-488C-A430-8582A9D9BC78}"/>
              </a:ext>
            </a:extLst>
          </p:cNvPr>
          <p:cNvPicPr>
            <a:picLocks xmlns:a="http://schemas.openxmlformats.org/drawingml/2006/main" noChangeAspect="1"/>
          </p:cNvPicPr>
          <p:nvPr/>
        </p:nvPicPr>
        <p:blipFill>
          <a:blip xmlns:r="http://schemas.openxmlformats.org/officeDocument/2006/relationships" xmlns:a="http://schemas.openxmlformats.org/drawingml/2006/main" r:embed="Rb68e616839e74603"/>
          <a:stretch xmlns:a="http://schemas.openxmlformats.org/drawingml/2006/main"/>
        </p:blipFill>
        <p:spPr>
          <a:xfrm xmlns:a="http://schemas.openxmlformats.org/drawingml/2006/main">
            <a:off x="666750" y="7859603"/>
            <a:ext cx="10172700" cy="2664044"/>
          </a:xfrm>
          <a:prstGeom xmlns:a="http://schemas.openxmlformats.org/drawingml/2006/main" prst="rect">
            <a:avLst/>
          </a:prstGeom>
        </p:spPr>
      </p:pic>
      <p:pic>
        <p:nvPicPr>
          <p:cNvPr id="107" name="">
            <a:extLst xmlns:a="http://schemas.openxmlformats.org/drawingml/2006/main">
              <a:ext uri="{FF2B5EF4-FFF2-40B4-BE49-F238E27FC236}">
                <a16:creationId xmlns:a16="http://schemas.microsoft.com/office/drawing/2014/main" id="{6E68EB4F-A566-4658-8EFC-D5D687F777DA}"/>
              </a:ext>
            </a:extLst>
          </p:cNvPr>
          <p:cNvPicPr>
            <a:picLocks xmlns:a="http://schemas.openxmlformats.org/drawingml/2006/main" noChangeAspect="1"/>
          </p:cNvPicPr>
          <p:nvPr/>
        </p:nvPicPr>
        <p:blipFill>
          <a:blip xmlns:r="http://schemas.openxmlformats.org/officeDocument/2006/relationships" xmlns:a="http://schemas.openxmlformats.org/drawingml/2006/main" r:embed="R17b4fcfde53f4059"/>
          <a:stretch xmlns:a="http://schemas.openxmlformats.org/drawingml/2006/main"/>
        </p:blipFill>
        <p:spPr>
          <a:xfrm xmlns:a="http://schemas.openxmlformats.org/drawingml/2006/main">
            <a:off x="757694" y="13716000"/>
            <a:ext cx="9990812" cy="5905500"/>
          </a:xfrm>
          <a:prstGeom xmlns:a="http://schemas.openxmlformats.org/drawingml/2006/main" prst="rect">
            <a:avLst/>
          </a:prstGeom>
        </p:spPr>
      </p:pic>
      <p:sp>
        <p:nvSpPr>
          <p:cNvPr id="108" name="Motivation evidence">
            <a:extLst xmlns:a="http://schemas.openxmlformats.org/drawingml/2006/main">
              <a:ext uri="{FF2B5EF4-FFF2-40B4-BE49-F238E27FC236}">
                <a16:creationId xmlns:a16="http://schemas.microsoft.com/office/drawing/2014/main" id="{CF383F37-900F-4150-BC3A-84412B3BBBD5}"/>
              </a:ext>
            </a:extLst>
          </p:cNvPr>
          <p:cNvSpPr>
            <a:spLocks xmlns:a="http://schemas.openxmlformats.org/drawingml/2006/main" noGrp="1"/>
          </p:cNvSpPr>
          <p:nvPr/>
        </p:nvSpPr>
        <p:spPr>
          <a:xfrm xmlns:a="http://schemas.openxmlformats.org/drawingml/2006/main">
            <a:off x="666750" y="19812000"/>
            <a:ext cx="101727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defRPr sz="1800" b="0">
                <a:solidFill>
                  <a:srgbClr val="344854"/>
                </a:solidFill>
                <a:latin typeface="Arial"/>
                <a:ea typeface="Arial"/>
                <a:cs typeface="Arial"/>
              </a:defRPr>
            </a:pPr>
            <a:r>
              <a:rPr sz="1800" b="0">
                <a:solidFill>
                  <a:srgbClr val="344854"/>
                </a:solidFill>
                <a:latin typeface="Arial"/>
                <a:ea typeface="Arial"/>
                <a:cs typeface="Arial"/>
              </a:rPr>
              <a:t>Biomedical entities rise from 12.5% in isolated-difficulty windows to 60.9% in grouped-difficulty windows. Causal and reasoning content rises from 8.4% to 30.6%. These are descriptive associations.</a:t>
            </a:r>
          </a:p>
        </p:txBody>
      </p:sp>
      <p:sp>
        <p:nvSpPr>
          <p:cNvPr id="109" name="Motivation takeaway">
            <a:extLst xmlns:a="http://schemas.openxmlformats.org/drawingml/2006/main">
              <a:ext uri="{FF2B5EF4-FFF2-40B4-BE49-F238E27FC236}">
                <a16:creationId xmlns:a16="http://schemas.microsoft.com/office/drawing/2014/main" id="{21B64C01-32F5-4D1E-8625-621E92995CBC}"/>
              </a:ext>
            </a:extLst>
          </p:cNvPr>
          <p:cNvSpPr>
            <a:spLocks xmlns:a="http://schemas.openxmlformats.org/drawingml/2006/main" noGrp="1"/>
          </p:cNvSpPr>
          <p:nvPr/>
        </p:nvSpPr>
        <p:spPr>
          <a:xfrm xmlns:a="http://schemas.openxmlformats.org/drawingml/2006/main">
            <a:off x="666750" y="21050250"/>
            <a:ext cx="10172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0054B8"/>
                </a:solidFill>
                <a:latin typeface="Arial"/>
                <a:ea typeface="Arial"/>
                <a:cs typeface="Arial"/>
              </a:defRPr>
            </a:defPPr>
          </a:lstStyle>
          <a:p xmlns:a="http://schemas.openxmlformats.org/drawingml/2006/main">
            <a:pPr algn="l">
              <a:defRPr sz="2250" b="1">
                <a:solidFill>
                  <a:srgbClr val="0054B8"/>
                </a:solidFill>
                <a:latin typeface="Arial"/>
                <a:ea typeface="Arial"/>
                <a:cs typeface="Arial"/>
              </a:defRPr>
            </a:pPr>
            <a:r>
              <a:rPr sz="2250" b="1">
                <a:solidFill>
                  <a:srgbClr val="0054B8"/>
                </a:solidFill>
                <a:latin typeface="Arial"/>
                <a:ea typeface="Arial"/>
                <a:cs typeface="Arial"/>
              </a:rPr>
              <a:t>Goal: extending LLM capabilities to STEM</a:t>
            </a:r>
          </a:p>
        </p:txBody>
      </p:sp>
      <p:sp>
        <p:nvSpPr>
          <p:cNvPr id="110" name="STEM goal">
            <a:extLst xmlns:a="http://schemas.openxmlformats.org/drawingml/2006/main">
              <a:ext uri="{FF2B5EF4-FFF2-40B4-BE49-F238E27FC236}">
                <a16:creationId xmlns:a16="http://schemas.microsoft.com/office/drawing/2014/main" id="{C971254A-0AA5-4FEC-B4F5-016788910F35}"/>
              </a:ext>
            </a:extLst>
          </p:cNvPr>
          <p:cNvSpPr>
            <a:spLocks xmlns:a="http://schemas.openxmlformats.org/drawingml/2006/main" noGrp="1"/>
          </p:cNvSpPr>
          <p:nvPr/>
        </p:nvSpPr>
        <p:spPr>
          <a:xfrm xmlns:a="http://schemas.openxmlformats.org/drawingml/2006/main">
            <a:off x="666750" y="21478875"/>
            <a:ext cx="10172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defRPr sz="1800" b="0">
                <a:solidFill>
                  <a:srgbClr val="344854"/>
                </a:solidFill>
                <a:latin typeface="Arial"/>
                <a:ea typeface="Arial"/>
                <a:cs typeface="Arial"/>
              </a:defRPr>
            </a:pPr>
            <a:r>
              <a:rPr sz="1800" b="0">
                <a:solidFill>
                  <a:srgbClr val="344854"/>
                </a:solidFill>
                <a:latin typeface="Arial"/>
                <a:ea typeface="Arial"/>
                <a:cs typeface="Arial"/>
              </a:rPr>
              <a:t>Learn scientific content while preserving broad knowledge. We test this in medicine and biology.</a:t>
            </a:r>
          </a:p>
        </p:txBody>
      </p:sp>
      <p:pic>
        <p:nvPicPr>
          <p:cNvPr id="111" name="">
            <a:extLst xmlns:a="http://schemas.openxmlformats.org/drawingml/2006/main">
              <a:ext uri="{FF2B5EF4-FFF2-40B4-BE49-F238E27FC236}">
                <a16:creationId xmlns:a16="http://schemas.microsoft.com/office/drawing/2014/main" id="{304890ED-5A33-44D1-9CB3-0DA63D3723CB}"/>
              </a:ext>
            </a:extLst>
          </p:cNvPr>
          <p:cNvPicPr>
            <a:picLocks xmlns:a="http://schemas.openxmlformats.org/drawingml/2006/main" noChangeAspect="1"/>
          </p:cNvPicPr>
          <p:nvPr/>
        </p:nvPicPr>
        <p:blipFill>
          <a:blip xmlns:r="http://schemas.openxmlformats.org/officeDocument/2006/relationships" xmlns:a="http://schemas.openxmlformats.org/drawingml/2006/main" r:embed="R9d6ec67db27843cc"/>
          <a:stretch xmlns:a="http://schemas.openxmlformats.org/drawingml/2006/main"/>
        </p:blipFill>
        <p:spPr>
          <a:xfrm xmlns:a="http://schemas.openxmlformats.org/drawingml/2006/main">
            <a:off x="11755350" y="5572125"/>
            <a:ext cx="9407699" cy="3381375"/>
          </a:xfrm>
          <a:prstGeom xmlns:a="http://schemas.openxmlformats.org/drawingml/2006/main" prst="rect">
            <a:avLst/>
          </a:prstGeom>
        </p:spPr>
      </p:pic>
      <p:sp>
        <p:nvSpPr>
          <p:cNvPr id="112" name="Method explanation">
            <a:extLst xmlns:a="http://schemas.openxmlformats.org/drawingml/2006/main">
              <a:ext uri="{FF2B5EF4-FFF2-40B4-BE49-F238E27FC236}">
                <a16:creationId xmlns:a16="http://schemas.microsoft.com/office/drawing/2014/main" id="{68D6E2D3-B5B5-4B88-9C2C-84FFD27BB233}"/>
              </a:ext>
            </a:extLst>
          </p:cNvPr>
          <p:cNvSpPr>
            <a:spLocks xmlns:a="http://schemas.openxmlformats.org/drawingml/2006/main" noGrp="1"/>
          </p:cNvSpPr>
          <p:nvPr/>
        </p:nvSpPr>
        <p:spPr>
          <a:xfrm xmlns:a="http://schemas.openxmlformats.org/drawingml/2006/main">
            <a:off x="11372850" y="9144000"/>
            <a:ext cx="101727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344854"/>
                </a:solidFill>
                <a:latin typeface="Arial"/>
                <a:ea typeface="Arial"/>
                <a:cs typeface="Arial"/>
              </a:defRPr>
            </a:defPPr>
          </a:lstStyle>
          <a:p xmlns:a="http://schemas.openxmlformats.org/drawingml/2006/main">
            <a:pPr algn="l">
              <a:defRPr sz="1950" b="0">
                <a:solidFill>
                  <a:srgbClr val="344854"/>
                </a:solidFill>
                <a:latin typeface="Arial"/>
                <a:ea typeface="Arial"/>
                <a:cs typeface="Arial"/>
              </a:defRPr>
            </a:pPr>
            <a:r>
              <a:rPr sz="1950" b="0">
                <a:solidFill>
                  <a:srgbClr val="344854"/>
                </a:solidFill>
                <a:latin typeface="Arial"/>
                <a:ea typeface="Arial"/>
                <a:cs typeface="Arial"/>
              </a:rPr>
              <a:t>Left: compare each word with its surroundings, preserving difficult biomedical passages. Right: give examples containing hard passages more attention, with a bounded contribution.</a:t>
            </a:r>
          </a:p>
        </p:txBody>
      </p:sp>
      <p:sp>
        <p:nvSpPr>
          <p:cNvPr id="113" name="Simple implementation">
            <a:extLst xmlns:a="http://schemas.openxmlformats.org/drawingml/2006/main">
              <a:ext uri="{FF2B5EF4-FFF2-40B4-BE49-F238E27FC236}">
                <a16:creationId xmlns:a16="http://schemas.microsoft.com/office/drawing/2014/main" id="{A98AB023-B450-492B-8FD6-4080B57912AF}"/>
              </a:ext>
            </a:extLst>
          </p:cNvPr>
          <p:cNvSpPr>
            <a:spLocks xmlns:a="http://schemas.openxmlformats.org/drawingml/2006/main" noGrp="1"/>
          </p:cNvSpPr>
          <p:nvPr/>
        </p:nvSpPr>
        <p:spPr>
          <a:xfrm xmlns:a="http://schemas.openxmlformats.org/drawingml/2006/main">
            <a:off x="11372850" y="10144125"/>
            <a:ext cx="10172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defRPr sz="1800" b="0">
                <a:solidFill>
                  <a:srgbClr val="344854"/>
                </a:solidFill>
                <a:latin typeface="Arial"/>
                <a:ea typeface="Arial"/>
                <a:cs typeface="Arial"/>
              </a:defRPr>
            </a:pPr>
            <a:r>
              <a:rPr sz="1800" b="0">
                <a:solidFill>
                  <a:srgbClr val="344854"/>
                </a:solidFill>
                <a:latin typeface="Arial"/>
                <a:ea typeface="Arial"/>
                <a:cs typeface="Arial"/>
              </a:rPr>
              <a:t>A small change to supervised training. No reward model or external uncertainty estimator is needed. One extra setting controls context size.</a:t>
            </a:r>
          </a:p>
        </p:txBody>
      </p:sp>
      <p:sp>
        <p:nvSpPr>
          <p:cNvPr id="114" name="Biomedical results bar">
            <a:extLst xmlns:a="http://schemas.openxmlformats.org/drawingml/2006/main">
              <a:ext uri="{FF2B5EF4-FFF2-40B4-BE49-F238E27FC236}">
                <a16:creationId xmlns:a16="http://schemas.microsoft.com/office/drawing/2014/main" id="{BA8BE2DD-5F2C-4731-9F9D-1A15D9B399E1}"/>
              </a:ext>
            </a:extLst>
          </p:cNvPr>
          <p:cNvSpPr>
            <a:spLocks xmlns:a="http://schemas.openxmlformats.org/drawingml/2006/main" noGrp="1"/>
          </p:cNvSpPr>
          <p:nvPr/>
        </p:nvSpPr>
        <p:spPr>
          <a:xfrm xmlns:a="http://schemas.openxmlformats.org/drawingml/2006/main">
            <a:off x="11372850" y="10906125"/>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stStyle>
          <a:p xmlns:a="http://schemas.openxmlformats.org/drawingml/2006/main">
            <a:pPr algn="l">
              <a:defRPr sz="3225" b="1">
                <a:solidFill>
                  <a:srgbClr val="FFFFFF"/>
                </a:solidFill>
                <a:latin typeface="Arial"/>
                <a:ea typeface="Arial"/>
                <a:cs typeface="Arial"/>
              </a:defRPr>
            </a:pPr>
            <a:r>
              <a:rPr sz="3225" b="1">
                <a:solidFill>
                  <a:srgbClr val="FFFFFF"/>
                </a:solidFill>
                <a:latin typeface="Arial"/>
                <a:ea typeface="Arial"/>
                <a:cs typeface="Arial"/>
              </a:rPr>
              <a:t>4  Results: biomedical reasoning</a:t>
            </a:r>
          </a:p>
        </p:txBody>
      </p:sp>
      <p:sp>
        <p:nvSpPr>
          <p:cNvPr id="115" name="Biomedical overview">
            <a:extLst xmlns:a="http://schemas.openxmlformats.org/drawingml/2006/main">
              <a:ext uri="{FF2B5EF4-FFF2-40B4-BE49-F238E27FC236}">
                <a16:creationId xmlns:a16="http://schemas.microsoft.com/office/drawing/2014/main" id="{4DDEB3B2-8AE1-4625-AA68-B1FE4B4AE2DB}"/>
              </a:ext>
            </a:extLst>
          </p:cNvPr>
          <p:cNvSpPr>
            <a:spLocks xmlns:a="http://schemas.openxmlformats.org/drawingml/2006/main" noGrp="1"/>
          </p:cNvSpPr>
          <p:nvPr/>
        </p:nvSpPr>
        <p:spPr>
          <a:xfrm xmlns:a="http://schemas.openxmlformats.org/drawingml/2006/main">
            <a:off x="11372850" y="11668125"/>
            <a:ext cx="101727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stStyle>
          <a:p xmlns:a="http://schemas.openxmlformats.org/drawingml/2006/main">
            <a:pPr algn="l">
              <a:defRPr sz="2100" b="0">
                <a:solidFill>
                  <a:srgbClr val="344854"/>
                </a:solidFill>
                <a:latin typeface="Arial"/>
                <a:ea typeface="Arial"/>
                <a:cs typeface="Arial"/>
              </a:defRPr>
            </a:pPr>
            <a:r>
              <a:rPr sz="2100" b="0">
                <a:solidFill>
                  <a:srgbClr val="344854"/>
                </a:solidFill>
                <a:latin typeface="Arial"/>
                <a:ea typeface="Arial"/>
                <a:cs typeface="Arial"/>
              </a:rPr>
              <a:t>Matched training settings across 14B, 32B and 70B models. Original results below show medical competence and biological process reasoning.</a:t>
            </a:r>
          </a:p>
        </p:txBody>
      </p:sp>
      <p:pic>
        <p:nvPicPr>
          <p:cNvPr id="116" name="">
            <a:extLst xmlns:a="http://schemas.openxmlformats.org/drawingml/2006/main">
              <a:ext uri="{FF2B5EF4-FFF2-40B4-BE49-F238E27FC236}">
                <a16:creationId xmlns:a16="http://schemas.microsoft.com/office/drawing/2014/main" id="{E4996FBB-9843-4745-B553-41909735D7B0}"/>
              </a:ext>
            </a:extLst>
          </p:cNvPr>
          <p:cNvPicPr>
            <a:picLocks xmlns:a="http://schemas.openxmlformats.org/drawingml/2006/main" noChangeAspect="1"/>
          </p:cNvPicPr>
          <p:nvPr/>
        </p:nvPicPr>
        <p:blipFill>
          <a:blip xmlns:r="http://schemas.openxmlformats.org/officeDocument/2006/relationships" xmlns:a="http://schemas.openxmlformats.org/drawingml/2006/main" r:embed="Rd337ecdc324f4197"/>
          <a:stretch xmlns:a="http://schemas.openxmlformats.org/drawingml/2006/main"/>
        </p:blipFill>
        <p:spPr>
          <a:xfrm xmlns:a="http://schemas.openxmlformats.org/drawingml/2006/main">
            <a:off x="12020421" y="13096875"/>
            <a:ext cx="8877557" cy="2714625"/>
          </a:xfrm>
          <a:prstGeom xmlns:a="http://schemas.openxmlformats.org/drawingml/2006/main" prst="rect">
            <a:avLst/>
          </a:prstGeom>
        </p:spPr>
      </p:pic>
      <p:pic>
        <p:nvPicPr>
          <p:cNvPr id="117" name="">
            <a:extLst xmlns:a="http://schemas.openxmlformats.org/drawingml/2006/main">
              <a:ext uri="{FF2B5EF4-FFF2-40B4-BE49-F238E27FC236}">
                <a16:creationId xmlns:a16="http://schemas.microsoft.com/office/drawing/2014/main" id="{88CEB567-5501-4799-8CC4-66DBAD1DC287}"/>
              </a:ext>
            </a:extLst>
          </p:cNvPr>
          <p:cNvPicPr>
            <a:picLocks xmlns:a="http://schemas.openxmlformats.org/drawingml/2006/main" noChangeAspect="1"/>
          </p:cNvPicPr>
          <p:nvPr/>
        </p:nvPicPr>
        <p:blipFill>
          <a:blip xmlns:r="http://schemas.openxmlformats.org/officeDocument/2006/relationships" xmlns:a="http://schemas.openxmlformats.org/drawingml/2006/main" r:embed="R28af945720c948bb"/>
          <a:stretch xmlns:a="http://schemas.openxmlformats.org/drawingml/2006/main"/>
        </p:blipFill>
        <p:spPr>
          <a:xfrm xmlns:a="http://schemas.openxmlformats.org/drawingml/2006/main">
            <a:off x="11372850" y="15939343"/>
            <a:ext cx="10172700" cy="268189"/>
          </a:xfrm>
          <a:prstGeom xmlns:a="http://schemas.openxmlformats.org/drawingml/2006/main" prst="rect">
            <a:avLst/>
          </a:prstGeom>
        </p:spPr>
      </p:pic>
      <p:sp>
        <p:nvSpPr>
          <p:cNvPr id="118" name="GeneAgent heading">
            <a:extLst xmlns:a="http://schemas.openxmlformats.org/drawingml/2006/main">
              <a:ext uri="{FF2B5EF4-FFF2-40B4-BE49-F238E27FC236}">
                <a16:creationId xmlns:a16="http://schemas.microsoft.com/office/drawing/2014/main" id="{4E8E0B09-4ECE-4037-81B5-C438AC12C810}"/>
              </a:ext>
            </a:extLst>
          </p:cNvPr>
          <p:cNvSpPr>
            <a:spLocks xmlns:a="http://schemas.openxmlformats.org/drawingml/2006/main" noGrp="1"/>
          </p:cNvSpPr>
          <p:nvPr/>
        </p:nvSpPr>
        <p:spPr>
          <a:xfrm xmlns:a="http://schemas.openxmlformats.org/drawingml/2006/main">
            <a:off x="11372850" y="1724025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defRPr sz="2600" b="1">
                <a:solidFill>
                  <a:srgbClr val="183B66"/>
                </a:solidFill>
                <a:latin typeface="Arial"/>
                <a:ea typeface="Arial"/>
                <a:cs typeface="Arial"/>
              </a:defRPr>
            </a:pPr>
            <a:r>
              <a:rPr sz="2600" b="1">
                <a:solidFill>
                  <a:srgbClr val="183B66"/>
                </a:solidFill>
                <a:latin typeface="Arial"/>
                <a:ea typeface="Arial"/>
                <a:cs typeface="Arial"/>
              </a:rPr>
              <a:t>Biological reasoning: GeneAgent</a:t>
            </a:r>
          </a:p>
        </p:txBody>
      </p:sp>
      <p:sp>
        <p:nvSpPr>
          <p:cNvPr id="119" name="GeneAgent explanation">
            <a:extLst xmlns:a="http://schemas.openxmlformats.org/drawingml/2006/main">
              <a:ext uri="{FF2B5EF4-FFF2-40B4-BE49-F238E27FC236}">
                <a16:creationId xmlns:a16="http://schemas.microsoft.com/office/drawing/2014/main" id="{53EF7E42-755F-42A5-9644-ED154536BF7F}"/>
              </a:ext>
            </a:extLst>
          </p:cNvPr>
          <p:cNvSpPr>
            <a:spLocks xmlns:a="http://schemas.openxmlformats.org/drawingml/2006/main" noGrp="1"/>
          </p:cNvSpPr>
          <p:nvPr/>
        </p:nvSpPr>
        <p:spPr>
          <a:xfrm xmlns:a="http://schemas.openxmlformats.org/drawingml/2006/main">
            <a:off x="11372850" y="17764125"/>
            <a:ext cx="1017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defRPr sz="1800" b="0">
                <a:solidFill>
                  <a:srgbClr val="344854"/>
                </a:solidFill>
                <a:latin typeface="Arial"/>
                <a:ea typeface="Arial"/>
                <a:cs typeface="Arial"/>
              </a:defRPr>
            </a:pPr>
            <a:r>
              <a:rPr sz="1800" b="0">
                <a:solidFill>
                  <a:srgbClr val="344854"/>
                </a:solidFill>
                <a:latin typeface="Arial"/>
                <a:ea typeface="Arial"/>
                <a:cs typeface="Arial"/>
              </a:rPr>
              <a:t>BFT has the best overall text-overlap score among the aligned open-weight models, with the agent pipeline held fixed.</a:t>
            </a:r>
          </a:p>
        </p:txBody>
      </p:sp>
      <p:pic>
        <p:nvPicPr>
          <p:cNvPr id="120" name="">
            <a:extLst xmlns:a="http://schemas.openxmlformats.org/drawingml/2006/main">
              <a:ext uri="{FF2B5EF4-FFF2-40B4-BE49-F238E27FC236}">
                <a16:creationId xmlns:a16="http://schemas.microsoft.com/office/drawing/2014/main" id="{2F2A192A-16CC-4213-AF55-BF0FB9879E5A}"/>
              </a:ext>
            </a:extLst>
          </p:cNvPr>
          <p:cNvPicPr>
            <a:picLocks xmlns:a="http://schemas.openxmlformats.org/drawingml/2006/main" noChangeAspect="1"/>
          </p:cNvPicPr>
          <p:nvPr/>
        </p:nvPicPr>
        <p:blipFill>
          <a:blip xmlns:r="http://schemas.openxmlformats.org/officeDocument/2006/relationships" xmlns:a="http://schemas.openxmlformats.org/drawingml/2006/main" r:embed="R95377280ff1543ab"/>
          <a:stretch xmlns:a="http://schemas.openxmlformats.org/drawingml/2006/main"/>
        </p:blipFill>
        <p:spPr>
          <a:xfrm xmlns:a="http://schemas.openxmlformats.org/drawingml/2006/main">
            <a:off x="12853013" y="18478500"/>
            <a:ext cx="7212374" cy="2952750"/>
          </a:xfrm>
          <a:prstGeom xmlns:a="http://schemas.openxmlformats.org/drawingml/2006/main" prst="rect">
            <a:avLst/>
          </a:prstGeom>
        </p:spPr>
      </p:pic>
      <p:pic>
        <p:nvPicPr>
          <p:cNvPr id="121" name="">
            <a:extLst xmlns:a="http://schemas.openxmlformats.org/drawingml/2006/main">
              <a:ext uri="{FF2B5EF4-FFF2-40B4-BE49-F238E27FC236}">
                <a16:creationId xmlns:a16="http://schemas.microsoft.com/office/drawing/2014/main" id="{FF48B1B2-EB84-4E89-AED7-265AE5989E0E}"/>
              </a:ext>
            </a:extLst>
          </p:cNvPr>
          <p:cNvPicPr>
            <a:picLocks xmlns:a="http://schemas.openxmlformats.org/drawingml/2006/main" noChangeAspect="1"/>
          </p:cNvPicPr>
          <p:nvPr/>
        </p:nvPicPr>
        <p:blipFill>
          <a:blip xmlns:r="http://schemas.openxmlformats.org/officeDocument/2006/relationships" xmlns:a="http://schemas.openxmlformats.org/drawingml/2006/main" r:embed="R4077fbaecc8043ec"/>
          <a:stretch xmlns:a="http://schemas.openxmlformats.org/drawingml/2006/main"/>
        </p:blipFill>
        <p:spPr>
          <a:xfrm xmlns:a="http://schemas.openxmlformats.org/drawingml/2006/main">
            <a:off x="11372850" y="21563164"/>
            <a:ext cx="10172700" cy="212423"/>
          </a:xfrm>
          <a:prstGeom xmlns:a="http://schemas.openxmlformats.org/drawingml/2006/main" prst="rect">
            <a:avLst/>
          </a:prstGeom>
        </p:spPr>
      </p:pic>
      <p:sp>
        <p:nvSpPr>
          <p:cNvPr id="122" name="MMLU heading">
            <a:extLst xmlns:a="http://schemas.openxmlformats.org/drawingml/2006/main">
              <a:ext uri="{FF2B5EF4-FFF2-40B4-BE49-F238E27FC236}">
                <a16:creationId xmlns:a16="http://schemas.microsoft.com/office/drawing/2014/main" id="{A204AB92-B9F5-4D4C-931D-9FBC9AF04FAF}"/>
              </a:ext>
            </a:extLst>
          </p:cNvPr>
          <p:cNvSpPr>
            <a:spLocks xmlns:a="http://schemas.openxmlformats.org/drawingml/2006/main" noGrp="1"/>
          </p:cNvSpPr>
          <p:nvPr/>
        </p:nvSpPr>
        <p:spPr>
          <a:xfrm xmlns:a="http://schemas.openxmlformats.org/drawingml/2006/main">
            <a:off x="22078950" y="5715000"/>
            <a:ext cx="428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83B66"/>
                </a:solidFill>
                <a:latin typeface="Arial"/>
                <a:ea typeface="Arial"/>
                <a:cs typeface="Arial"/>
              </a:defRPr>
            </a:defPPr>
          </a:lstStyle>
          <a:p xmlns:a="http://schemas.openxmlformats.org/drawingml/2006/main">
            <a:pPr algn="l">
              <a:defRPr sz="2400" b="1">
                <a:solidFill>
                  <a:srgbClr val="183B66"/>
                </a:solidFill>
                <a:latin typeface="Arial"/>
                <a:ea typeface="Arial"/>
                <a:cs typeface="Arial"/>
              </a:defRPr>
            </a:pPr>
            <a:r>
              <a:rPr sz="2400" b="1">
                <a:solidFill>
                  <a:srgbClr val="183B66"/>
                </a:solidFill>
                <a:latin typeface="Arial"/>
                <a:ea typeface="Arial"/>
                <a:cs typeface="Arial"/>
              </a:rPr>
              <a:t>MMLU (70B)</a:t>
            </a:r>
          </a:p>
        </p:txBody>
      </p:sp>
      <p:sp>
        <p:nvSpPr>
          <p:cNvPr id="123" name="CMMLU heading">
            <a:extLst xmlns:a="http://schemas.openxmlformats.org/drawingml/2006/main">
              <a:ext uri="{FF2B5EF4-FFF2-40B4-BE49-F238E27FC236}">
                <a16:creationId xmlns:a16="http://schemas.microsoft.com/office/drawing/2014/main" id="{26DAE4BC-0635-4D75-8B4B-81E152451AF0}"/>
              </a:ext>
            </a:extLst>
          </p:cNvPr>
          <p:cNvSpPr>
            <a:spLocks xmlns:a="http://schemas.openxmlformats.org/drawingml/2006/main" noGrp="1"/>
          </p:cNvSpPr>
          <p:nvPr/>
        </p:nvSpPr>
        <p:spPr>
          <a:xfrm xmlns:a="http://schemas.openxmlformats.org/drawingml/2006/main">
            <a:off x="26555700" y="5715000"/>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83B66"/>
                </a:solidFill>
                <a:latin typeface="Arial"/>
                <a:ea typeface="Arial"/>
                <a:cs typeface="Arial"/>
              </a:defRPr>
            </a:defPPr>
          </a:lstStyle>
          <a:p xmlns:a="http://schemas.openxmlformats.org/drawingml/2006/main">
            <a:pPr algn="l">
              <a:defRPr sz="2400" b="1">
                <a:solidFill>
                  <a:srgbClr val="183B66"/>
                </a:solidFill>
                <a:latin typeface="Arial"/>
                <a:ea typeface="Arial"/>
                <a:cs typeface="Arial"/>
              </a:defRPr>
            </a:pPr>
            <a:r>
              <a:rPr sz="2400" b="1">
                <a:solidFill>
                  <a:srgbClr val="183B66"/>
                </a:solidFill>
                <a:latin typeface="Arial"/>
                <a:ea typeface="Arial"/>
                <a:cs typeface="Arial"/>
              </a:rPr>
              <a:t>CMMLU (70B)</a:t>
            </a:r>
          </a:p>
        </p:txBody>
      </p:sp>
      <p:pic>
        <p:nvPicPr>
          <p:cNvPr id="124" name="">
            <a:extLst xmlns:a="http://schemas.openxmlformats.org/drawingml/2006/main">
              <a:ext uri="{FF2B5EF4-FFF2-40B4-BE49-F238E27FC236}">
                <a16:creationId xmlns:a16="http://schemas.microsoft.com/office/drawing/2014/main" id="{CEF59BDA-CE13-4C7A-B2CD-394926F21630}"/>
              </a:ext>
            </a:extLst>
          </p:cNvPr>
          <p:cNvPicPr>
            <a:picLocks xmlns:a="http://schemas.openxmlformats.org/drawingml/2006/main" noChangeAspect="1"/>
          </p:cNvPicPr>
          <p:nvPr/>
        </p:nvPicPr>
        <p:blipFill>
          <a:blip xmlns:r="http://schemas.openxmlformats.org/officeDocument/2006/relationships" xmlns:a="http://schemas.openxmlformats.org/drawingml/2006/main" r:embed="R1d7e80e2a32043f1"/>
          <a:stretch xmlns:a="http://schemas.openxmlformats.org/drawingml/2006/main"/>
        </p:blipFill>
        <p:spPr>
          <a:xfrm xmlns:a="http://schemas.openxmlformats.org/drawingml/2006/main">
            <a:off x="22191785" y="6238875"/>
            <a:ext cx="4060581" cy="3238500"/>
          </a:xfrm>
          <a:prstGeom xmlns:a="http://schemas.openxmlformats.org/drawingml/2006/main" prst="rect">
            <a:avLst/>
          </a:prstGeom>
        </p:spPr>
      </p:pic>
      <p:pic>
        <p:nvPicPr>
          <p:cNvPr id="125" name="">
            <a:extLst xmlns:a="http://schemas.openxmlformats.org/drawingml/2006/main">
              <a:ext uri="{FF2B5EF4-FFF2-40B4-BE49-F238E27FC236}">
                <a16:creationId xmlns:a16="http://schemas.microsoft.com/office/drawing/2014/main" id="{0F476FFD-744F-40FD-A8B3-FE4FB72634A6}"/>
              </a:ext>
            </a:extLst>
          </p:cNvPr>
          <p:cNvPicPr>
            <a:picLocks xmlns:a="http://schemas.openxmlformats.org/drawingml/2006/main" noChangeAspect="1"/>
          </p:cNvPicPr>
          <p:nvPr/>
        </p:nvPicPr>
        <p:blipFill>
          <a:blip xmlns:r="http://schemas.openxmlformats.org/officeDocument/2006/relationships" xmlns:a="http://schemas.openxmlformats.org/drawingml/2006/main" r:embed="Redba5edd6f624139"/>
          <a:stretch xmlns:a="http://schemas.openxmlformats.org/drawingml/2006/main"/>
        </p:blipFill>
        <p:spPr>
          <a:xfrm xmlns:a="http://schemas.openxmlformats.org/drawingml/2006/main">
            <a:off x="26759504" y="6238875"/>
            <a:ext cx="3783392" cy="3905250"/>
          </a:xfrm>
          <a:prstGeom xmlns:a="http://schemas.openxmlformats.org/drawingml/2006/main" prst="rect">
            <a:avLst/>
          </a:prstGeom>
        </p:spPr>
      </p:pic>
      <p:pic>
        <p:nvPicPr>
          <p:cNvPr id="126" name="">
            <a:extLst xmlns:a="http://schemas.openxmlformats.org/drawingml/2006/main">
              <a:ext uri="{FF2B5EF4-FFF2-40B4-BE49-F238E27FC236}">
                <a16:creationId xmlns:a16="http://schemas.microsoft.com/office/drawing/2014/main" id="{7F8D7A33-9A06-4C11-BBD6-1C9651CA878E}"/>
              </a:ext>
            </a:extLst>
          </p:cNvPr>
          <p:cNvPicPr>
            <a:picLocks xmlns:a="http://schemas.openxmlformats.org/drawingml/2006/main" noChangeAspect="1"/>
          </p:cNvPicPr>
          <p:nvPr/>
        </p:nvPicPr>
        <p:blipFill>
          <a:blip xmlns:r="http://schemas.openxmlformats.org/officeDocument/2006/relationships" xmlns:a="http://schemas.openxmlformats.org/drawingml/2006/main" r:embed="R0c0d4505daa84a0f"/>
          <a:stretch xmlns:a="http://schemas.openxmlformats.org/drawingml/2006/main"/>
        </p:blipFill>
        <p:spPr>
          <a:xfrm xmlns:a="http://schemas.openxmlformats.org/drawingml/2006/main">
            <a:off x="30875037" y="7286625"/>
            <a:ext cx="1343526" cy="1524000"/>
          </a:xfrm>
          <a:prstGeom xmlns:a="http://schemas.openxmlformats.org/drawingml/2006/main" prst="rect">
            <a:avLst/>
          </a:prstGeom>
        </p:spPr>
      </p:pic>
      <p:sp>
        <p:nvSpPr>
          <p:cNvPr id="127" name="MMLU category explanation">
            <a:extLst xmlns:a="http://schemas.openxmlformats.org/drawingml/2006/main">
              <a:ext uri="{FF2B5EF4-FFF2-40B4-BE49-F238E27FC236}">
                <a16:creationId xmlns:a16="http://schemas.microsoft.com/office/drawing/2014/main" id="{46EF39DF-7B71-45BF-811D-85FC11E0B482}"/>
              </a:ext>
            </a:extLst>
          </p:cNvPr>
          <p:cNvSpPr>
            <a:spLocks xmlns:a="http://schemas.openxmlformats.org/drawingml/2006/main" noGrp="1"/>
          </p:cNvSpPr>
          <p:nvPr/>
        </p:nvSpPr>
        <p:spPr>
          <a:xfrm xmlns:a="http://schemas.openxmlformats.org/drawingml/2006/main">
            <a:off x="22078950" y="962025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00" b="0">
                <a:solidFill>
                  <a:srgbClr val="344854"/>
                </a:solidFill>
                <a:latin typeface="Arial"/>
                <a:ea typeface="Arial"/>
                <a:cs typeface="Arial"/>
              </a:defRPr>
            </a:defPPr>
          </a:lstStyle>
          <a:p xmlns:a="http://schemas.openxmlformats.org/drawingml/2006/main">
            <a:pPr algn="l">
              <a:defRPr sz="1600" b="0">
                <a:solidFill>
                  <a:srgbClr val="344854"/>
                </a:solidFill>
                <a:latin typeface="Arial"/>
                <a:ea typeface="Arial"/>
                <a:cs typeface="Arial"/>
              </a:defRPr>
            </a:pPr>
            <a:r>
              <a:rPr sz="1600" b="0">
                <a:solidFill>
                  <a:srgbClr val="344854"/>
                </a:solidFill>
                <a:latin typeface="Arial"/>
                <a:ea typeface="Arial"/>
                <a:cs typeface="Arial"/>
              </a:rPr>
              <a:t>Categories in both plots: average, STEM,</a:t>
            </a:r>
          </a:p>
          <a:p xmlns:a="http://schemas.openxmlformats.org/drawingml/2006/main">
            <a:pPr algn="l">
              <a:defRPr sz="1600" b="0">
                <a:solidFill>
                  <a:srgbClr val="344854"/>
                </a:solidFill>
                <a:latin typeface="Arial"/>
                <a:ea typeface="Arial"/>
                <a:cs typeface="Arial"/>
              </a:defRPr>
            </a:pPr>
            <a:r>
              <a:rPr sz="1600" b="0">
                <a:solidFill>
                  <a:srgbClr val="344854"/>
                </a:solidFill>
                <a:latin typeface="Arial"/>
                <a:ea typeface="Arial"/>
                <a:cs typeface="Arial"/>
              </a:rPr>
              <a:t>social sciences, humanities, other.</a:t>
            </a:r>
          </a:p>
        </p:txBody>
      </p:sp>
      <p:pic>
        <p:nvPicPr>
          <p:cNvPr id="128" name="">
            <a:extLst xmlns:a="http://schemas.openxmlformats.org/drawingml/2006/main">
              <a:ext uri="{FF2B5EF4-FFF2-40B4-BE49-F238E27FC236}">
                <a16:creationId xmlns:a16="http://schemas.microsoft.com/office/drawing/2014/main" id="{E12B378E-27E2-43A8-890B-A4E30D9D4C41}"/>
              </a:ext>
            </a:extLst>
          </p:cNvPr>
          <p:cNvPicPr>
            <a:picLocks xmlns:a="http://schemas.openxmlformats.org/drawingml/2006/main" noChangeAspect="1"/>
          </p:cNvPicPr>
          <p:nvPr/>
        </p:nvPicPr>
        <p:blipFill>
          <a:blip xmlns:r="http://schemas.openxmlformats.org/officeDocument/2006/relationships" xmlns:a="http://schemas.openxmlformats.org/drawingml/2006/main" r:embed="Rcbe4c51d48fa463f"/>
          <a:stretch xmlns:a="http://schemas.openxmlformats.org/drawingml/2006/main"/>
        </p:blipFill>
        <p:spPr>
          <a:xfrm xmlns:a="http://schemas.openxmlformats.org/drawingml/2006/main">
            <a:off x="22912021" y="12668250"/>
            <a:ext cx="8506558" cy="4286250"/>
          </a:xfrm>
          <a:prstGeom xmlns:a="http://schemas.openxmlformats.org/drawingml/2006/main" prst="rect">
            <a:avLst/>
          </a:prstGeom>
        </p:spPr>
      </p:pic>
      <p:pic>
        <p:nvPicPr>
          <p:cNvPr id="129" name="">
            <a:extLst xmlns:a="http://schemas.openxmlformats.org/drawingml/2006/main">
              <a:ext uri="{FF2B5EF4-FFF2-40B4-BE49-F238E27FC236}">
                <a16:creationId xmlns:a16="http://schemas.microsoft.com/office/drawing/2014/main" id="{FF0DA3C5-C67F-4BD7-8B8B-A09DAC1EC896}"/>
              </a:ext>
            </a:extLst>
          </p:cNvPr>
          <p:cNvPicPr>
            <a:picLocks xmlns:a="http://schemas.openxmlformats.org/drawingml/2006/main" noChangeAspect="1"/>
          </p:cNvPicPr>
          <p:nvPr/>
        </p:nvPicPr>
        <p:blipFill>
          <a:blip xmlns:r="http://schemas.openxmlformats.org/officeDocument/2006/relationships" xmlns:a="http://schemas.openxmlformats.org/drawingml/2006/main" r:embed="R9ff4ce81ce0c491d"/>
          <a:stretch xmlns:a="http://schemas.openxmlformats.org/drawingml/2006/main"/>
        </p:blipFill>
        <p:spPr>
          <a:xfrm xmlns:a="http://schemas.openxmlformats.org/drawingml/2006/main">
            <a:off x="22291078" y="18526125"/>
            <a:ext cx="9748444" cy="2667000"/>
          </a:xfrm>
          <a:prstGeom xmlns:a="http://schemas.openxmlformats.org/drawingml/2006/main" prst="rect">
            <a:avLst/>
          </a:prstGeom>
        </p:spPr>
      </p:pic>
    </p:spTree>
    <p:extLst>
      <p:ext uri="{BB962C8B-B14F-4D97-AF65-F5344CB8AC3E}">
        <p14:creationId xmlns:p14="http://schemas.microsoft.com/office/powerpoint/2010/main" val="2016994260"/>
      </p:ext>
    </p:extLst>
  </p:cSl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2026-10-10T09:17:55.2010000Z</dcterms:created>
  <dcterms:modified xsi:type="dcterms:W3CDTF">2026-10-10T09:17:55.2010000Z</dcterms:modified>
</coreProperties>
</file>