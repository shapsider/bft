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53ae28208f4a3a" /><Relationship Type="http://schemas.openxmlformats.org/officeDocument/2006/relationships/extended-properties" Target="/docProps/app.xml" Id="Rd369e60e0e114a36" /><Relationship Type="http://schemas.openxmlformats.org/officeDocument/2006/relationships/officeDocument" Target="/ppt/presentation.xml" Id="Rcab1074ef2e14e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5d8f91b4f04f44"/>
  </p:sldMasterIdLst>
  <p:notesMasterIdLst>
    <p:notesMasterId xmlns:r="http://schemas.openxmlformats.org/officeDocument/2006/relationships" r:id="R0129cc46aa2c4d1f"/>
  </p:notesMasterIdLst>
  <p:sldIdLst>
    <p:sldId xmlns:r="http://schemas.openxmlformats.org/officeDocument/2006/relationships" id="256" r:id="R7707c90f59aa424a"/>
  </p:sldIdLst>
  <p:sldSz cx="32918400" cy="21945600"/>
  <p:notesSz cx="6858000" cy="9144000"/>
  <p:defaultTextStyle>
    <a:def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</a:defRPr>
    </a:defPPr>
    <a:lvl1pPr xmlns:a="http://schemas.openxmlformats.org/drawingml/2006/main" marL="0" marR="0" indent="0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1pPr>
    <a:lvl2pPr xmlns:a="http://schemas.openxmlformats.org/drawingml/2006/main" marL="0" marR="0" indent="326532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2pPr>
    <a:lvl3pPr xmlns:a="http://schemas.openxmlformats.org/drawingml/2006/main" marL="0" marR="0" indent="653064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3pPr>
    <a:lvl4pPr xmlns:a="http://schemas.openxmlformats.org/drawingml/2006/main" marL="0" marR="0" indent="979596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4pPr>
    <a:lvl5pPr xmlns:a="http://schemas.openxmlformats.org/drawingml/2006/main" marL="0" marR="0" indent="1306128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5pPr>
    <a:lvl6pPr xmlns:a="http://schemas.openxmlformats.org/drawingml/2006/main" marL="0" marR="0" indent="1632661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6pPr>
    <a:lvl7pPr xmlns:a="http://schemas.openxmlformats.org/drawingml/2006/main" marL="0" marR="0" indent="1959193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7pPr>
    <a:lvl8pPr xmlns:a="http://schemas.openxmlformats.org/drawingml/2006/main" marL="0" marR="0" indent="2285725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8pPr>
    <a:lvl9pPr xmlns:a="http://schemas.openxmlformats.org/drawingml/2006/main" marL="0" marR="0" indent="2612257" algn="l" defTabSz="326532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2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f7c13425734a5d" /><Relationship Type="http://schemas.openxmlformats.org/officeDocument/2006/relationships/slideMaster" Target="/ppt/slideMasters/slideMaster1.xml" Id="Rfd5d8f91b4f04f44" /><Relationship Type="http://schemas.openxmlformats.org/officeDocument/2006/relationships/notesMaster" Target="/ppt/notesMasters/notesMaster1.xml" Id="R0129cc46aa2c4d1f" /><Relationship Type="http://schemas.openxmlformats.org/officeDocument/2006/relationships/presProps" Target="/ppt/presProps.xml" Id="R01286c56db0143f5" /><Relationship Type="http://schemas.openxmlformats.org/officeDocument/2006/relationships/viewProps" Target="/ppt/viewProps.xml" Id="R305d7e057b8f440e" /><Relationship Type="http://schemas.openxmlformats.org/officeDocument/2006/relationships/tableStyles" Target="/ppt/tableStyles.xml" Id="R5ed936b9da2348e1" /><Relationship Type="http://schemas.openxmlformats.org/officeDocument/2006/relationships/slide" Target="/ppt/slides/slide1.xml" Id="R7707c90f59aa42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acf23a2d59c42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a2c17807dd4688" /><Relationship Type="http://schemas.openxmlformats.org/officeDocument/2006/relationships/notesMaster" Target="/ppt/notesMasters/notesMaster1.xml" Id="R69082441f30e4c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template: E:/NeurIPS2026/Poster/pptTemplate.pptx. Template download folder supplied by author: https://drive.google.com/drive/u/1/folders/16tSJGJryd7NgQCBblaKxTfXLZXDIJJrt. Source canvas 36x24 inches, 3:2, three columns. Retains original slide/layout/master and original NeurIPS conference logo. Uses template Arial, title 55pt, section headings 34pt, body 21pt, image captions 13pt and links 14pt. Institutional logos limited to author-supplied Tencent and Tencent AI for Life Sciences Lab. Scientific sources: supplied camera-ready neurips_2026_arxiv.tex, original Figures 1, 2, 4, 5, https://arxiv.org/abs/2511.21075. VCWorld chart uses the three-decimal Results section values. Project QR: https://shapsider.github.io/BFT/. Concept enrichment does not directly establish epistemic ground truth; Gemini comparison not significant; RL and representation claims specific to the evaluated setup. Upload format reference: https://wiki.eventhosts.cc/en/reference/posteruploads (landscape PNG, maximum 5120x2880 pixels, at most 10 MB; thumbnail PNG, maximum 320x256 pixels, at most 5 MB; solid background).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9ea91518841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9a9cc08f0342ba" /></Relationships>
</file>

<file path=ppt/slideLayouts/slideLayout1.xml><?xml version="1.0" encoding="utf-8"?>
<p:sldLayout xmlns:p="http://schemas.openxmlformats.org/presentationml/2006/main">
  <p:cSld name="FB AI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FA209DD-D4AB-4269-90BE-08D52441223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FB AI Research 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98B63FE-6641-4311-8B28-D0F079094568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b965b6a2e04542" /><Relationship Type="http://schemas.openxmlformats.org/officeDocument/2006/relationships/slideLayout" Target="/ppt/slideLayouts/slideLayout1.xml" Id="Rda55b9a07333445c" /><Relationship Type="http://schemas.openxmlformats.org/officeDocument/2006/relationships/slideLayout" Target="/ppt/slideLayouts/slideLayout2.xml" Id="R2b3b6d90d1cd4f0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A32A8F2F-95D0-40B2-8ABC-C23C900AF5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645920" y="294640"/>
            <a:ext cx="29626561" cy="48260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AD7151F0-4B8C-4E1A-8197-EC00CEE8C2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645920" y="5120640"/>
            <a:ext cx="29626561" cy="1682496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3E421E0-4B59-41BE-B08F-42DC79B177E2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15910559" y="19756119"/>
            <a:ext cx="7680961" cy="11684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/>
            </a:lvl1pPr>
          </a:lstStyle>
          <a:p xmlns:a="http://schemas.openxmlformats.org/drawingml/2006/main"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55b9a07333445c"/>
    <p:sldLayoutId xmlns:r="http://schemas.openxmlformats.org/officeDocument/2006/relationships" id="2147483650" r:id="R2b3b6d90d1cd4f0f"/>
  </p:sldLayoutIdLst>
  <p:txStyles>
    <p:titleStyle>
      <a:lvl1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l" defTabSz="2926226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140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731556" marR="0" indent="-731556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2319804" marR="0" indent="-856691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3943547" marR="0" indent="-1017321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5531594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6994707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8457820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9920933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11384047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12847160" marR="0" indent="-1142255" algn="l" defTabSz="2926226">
        <a:lnSpc>
          <a:spcPct val="90000"/>
        </a:lnSpc>
        <a:spcBef>
          <a:spcPts val="3200"/>
        </a:spcBef>
        <a:spcAft>
          <a:spcPts val="0"/>
        </a:spcAft>
        <a:buClrTx/>
        <a:buSzPct val="100000"/>
        <a:buFont typeface="Arial"/>
        <a:buChar char="•"/>
        <a:defRPr sz="89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326532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653064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979596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306128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1632661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1959193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2285725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2612257" algn="r" defTabSz="326532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6012dd864427c" /><Relationship Type="http://schemas.openxmlformats.org/officeDocument/2006/relationships/image" Target="/ppt/media/image.png" Id="R951849df40f64ed3" /><Relationship Type="http://schemas.openxmlformats.org/officeDocument/2006/relationships/image" Target="/ppt/media/image2.png" Id="R6577d95e027e427a" /><Relationship Type="http://schemas.openxmlformats.org/officeDocument/2006/relationships/image" Target="/ppt/media/image3.png" Id="R7f41eb2ddcdb4d43" /><Relationship Type="http://schemas.openxmlformats.org/officeDocument/2006/relationships/image" Target="/ppt/media/image4.png" Id="R62b33426edaf40b9" /><Relationship Type="http://schemas.openxmlformats.org/officeDocument/2006/relationships/chart" Target="/ppt/slides/charts/chart1.xml" Id="R02c5582d5eb0494c" /><Relationship Type="http://schemas.openxmlformats.org/officeDocument/2006/relationships/image" Target="/ppt/media/image5.png" Id="Reea3081bc4b0417b" /><Relationship Type="http://schemas.openxmlformats.org/officeDocument/2006/relationships/image" Target="/ppt/media/image6.png" Id="R0629cdf714474c1c" /><Relationship Type="http://schemas.openxmlformats.org/officeDocument/2006/relationships/image" Target="/ppt/media/image7.png" Id="R0a3275b63ad74b88" /><Relationship Type="http://schemas.openxmlformats.org/officeDocument/2006/relationships/image" Target="/ppt/media/image8.png" Id="R240935500e4d47e9" /><Relationship Type="http://schemas.openxmlformats.org/officeDocument/2006/relationships/notesSlide" Target="/ppt/notesSlides/notesSlide1.xml" Id="R7b8fda7fc397487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Before GRPO</c:v>
          </c:tx>
          <c:spPr>
            <a:solidFill xmlns:a="http://schemas.openxmlformats.org/drawingml/2006/main">
              <a:srgbClr val="A5B4C0"/>
            </a:solidFill>
          </c:spPr>
          <c:cat>
            <c:strRef>
              <c:f>'Chart Data'!$A$2:$A$6</c:f>
              <c:strCache>
                <c:ptCount val="5"/>
                <c:pt idx="0">
                  <c:v>DFT</c:v>
                </c:pt>
                <c:pt idx="1">
                  <c:v>SFT</c:v>
                </c:pt>
                <c:pt idx="2">
                  <c:v>BFT-sample</c:v>
                </c:pt>
                <c:pt idx="3">
                  <c:v>BFT-token</c:v>
                </c:pt>
                <c:pt idx="4">
                  <c:v>BFT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0.49</c:v>
                </c:pt>
                <c:pt idx="1">
                  <c:v>0.562</c:v>
                </c:pt>
                <c:pt idx="2">
                  <c:v>0.596</c:v>
                </c:pt>
                <c:pt idx="3">
                  <c:v>0.66</c:v>
                </c:pt>
                <c:pt idx="4">
                  <c:v>0.696</c:v>
                </c:pt>
              </c:numCache>
            </c:numRef>
          </c:val>
        </c:ser>
        <c:ser>
          <c:idx val="1"/>
          <c:order val="1"/>
          <c:tx>
            <c:v>After GRPO</c:v>
          </c:tx>
          <c:spPr>
            <a:solidFill xmlns:a="http://schemas.openxmlformats.org/drawingml/2006/main">
              <a:srgbClr val="344854"/>
            </a:solidFill>
          </c:spPr>
          <c:cat>
            <c:strRef>
              <c:f>'Chart Data'!$C$2:$C$6</c:f>
              <c:strCache>
                <c:ptCount val="5"/>
                <c:pt idx="0">
                  <c:v>DFT</c:v>
                </c:pt>
                <c:pt idx="1">
                  <c:v>SFT</c:v>
                </c:pt>
                <c:pt idx="2">
                  <c:v>BFT-sample</c:v>
                </c:pt>
                <c:pt idx="3">
                  <c:v>BFT-token</c:v>
                </c:pt>
                <c:pt idx="4">
                  <c:v>BFT</c:v>
                </c:pt>
              </c:strCache>
            </c:str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0.42</c:v>
                </c:pt>
                <c:pt idx="1">
                  <c:v>0.486</c:v>
                </c:pt>
                <c:pt idx="2">
                  <c:v>0.624</c:v>
                </c:pt>
                <c:pt idx="3">
                  <c:v>0.694</c:v>
                </c:pt>
                <c:pt idx="4">
                  <c:v>0.736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344854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1D4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344854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Box 35">
            <a:extLst xmlns:a="http://schemas.openxmlformats.org/drawingml/2006/main">
              <a:ext uri="{FF2B5EF4-FFF2-40B4-BE49-F238E27FC236}">
                <a16:creationId xmlns:a16="http://schemas.microsoft.com/office/drawing/2014/main" id="{40B7D0CF-251D-4090-A4CA-39EC49B2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25050750" cy="176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5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5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5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Aligning LLMs with Biomedical Knowledge</a:t>
            </a:r>
          </a:p>
          <a:p xmlns:a="http://schemas.openxmlformats.org/drawingml/2006/main">
            <a:pPr algn="l">
              <a:defRPr sz="5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5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using Balanced Fine-Tuning</a:t>
            </a:r>
          </a:p>
        </p:txBody>
      </p:sp>
      <p:sp>
        <p:nvSpPr>
          <p:cNvPr id="33" name="TextBox 38">
            <a:extLst xmlns:a="http://schemas.openxmlformats.org/drawingml/2006/main">
              <a:ext uri="{FF2B5EF4-FFF2-40B4-BE49-F238E27FC236}">
                <a16:creationId xmlns:a16="http://schemas.microsoft.com/office/drawing/2014/main" id="{BE55CB70-C42B-4953-BE22-C7D7051F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81625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local confidence matters</a:t>
            </a:r>
          </a:p>
        </p:txBody>
      </p:sp>
      <p:sp>
        <p:nvSpPr>
          <p:cNvPr id="34" name="TextBox 39">
            <a:extLst xmlns:a="http://schemas.openxmlformats.org/drawingml/2006/main">
              <a:ext uri="{FF2B5EF4-FFF2-40B4-BE49-F238E27FC236}">
                <a16:creationId xmlns:a16="http://schemas.microsoft.com/office/drawing/2014/main" id="{9E84B08C-94AE-4509-A1F1-7FB65212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572250"/>
            <a:ext cx="9048750" cy="1243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lnSpc>
                <a:spcPct val="120000"/>
              </a:lnSpc>
              <a:buNone/>
              <a:defRPr sz="2100">
                <a:solidFill>
                  <a:srgbClr val="344854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Dense low-confidence runs in biomedical text are enriched for rare entities and mechanistic steps. DFT weights every token by absolute confidence and can suppress these knowledge-bearing regions.</a:t>
            </a:r>
          </a:p>
        </p:txBody>
      </p:sp>
      <p:sp>
        <p:nvSpPr>
          <p:cNvPr id="35" name="TextBox 41">
            <a:extLst xmlns:a="http://schemas.openxmlformats.org/drawingml/2006/main">
              <a:ext uri="{FF2B5EF4-FFF2-40B4-BE49-F238E27FC236}">
                <a16:creationId xmlns:a16="http://schemas.microsoft.com/office/drawing/2014/main" id="{EB4E91F4-8113-45C5-9C47-64DD40D7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3335000"/>
            <a:ext cx="9048750" cy="1243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lnSpc>
                <a:spcPct val="120000"/>
              </a:lnSpc>
              <a:buNone/>
              <a:defRPr sz="2100">
                <a:solidFill>
                  <a:srgbClr val="344854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BFT improves from 0.696 to 0.736 (+4.0 pp) after GRPO, while SFT and DFT decline. Before GRPO, BFT exceeds SFT by 13.4 pp. Its difference from Gemini-2.5-Flash is not significant (p = 0.088).</a:t>
            </a:r>
          </a:p>
        </p:txBody>
      </p:sp>
      <p:sp>
        <p:nvSpPr>
          <p:cNvPr id="37" name="TextBox 43">
            <a:extLst xmlns:a="http://schemas.openxmlformats.org/drawingml/2006/main">
              <a:ext uri="{FF2B5EF4-FFF2-40B4-BE49-F238E27FC236}">
                <a16:creationId xmlns:a16="http://schemas.microsoft.com/office/drawing/2014/main" id="{9287DCD3-128B-462E-B480-311E5B39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5381625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Biomedical reasoning and sparse-reward RL</a:t>
            </a:r>
          </a:p>
        </p:txBody>
      </p:sp>
      <p:sp>
        <p:nvSpPr>
          <p:cNvPr id="38" name="TextBox 44">
            <a:extLst xmlns:a="http://schemas.openxmlformats.org/drawingml/2006/main">
              <a:ext uri="{FF2B5EF4-FFF2-40B4-BE49-F238E27FC236}">
                <a16:creationId xmlns:a16="http://schemas.microsoft.com/office/drawing/2014/main" id="{E2EC2FF0-10F2-4846-B174-CCE466BB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6715125"/>
            <a:ext cx="904875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VCWorld accuracy, 70B backbones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Shared GRPO setup, five held-out cell lines</a:t>
            </a:r>
          </a:p>
        </p:txBody>
      </p:sp>
      <p:sp>
        <p:nvSpPr>
          <p:cNvPr id="39" name="TextBox 45">
            <a:extLst xmlns:a="http://schemas.openxmlformats.org/drawingml/2006/main">
              <a:ext uri="{FF2B5EF4-FFF2-40B4-BE49-F238E27FC236}">
                <a16:creationId xmlns:a16="http://schemas.microsoft.com/office/drawing/2014/main" id="{77C29B18-806C-4742-803C-C9642660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097250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Balanced Fine-Tuning at two scales</a:t>
            </a:r>
          </a:p>
        </p:txBody>
      </p:sp>
      <p:sp>
        <p:nvSpPr>
          <p:cNvPr id="40" name="TextBox 46">
            <a:extLst xmlns:a="http://schemas.openxmlformats.org/drawingml/2006/main">
              <a:ext uri="{FF2B5EF4-FFF2-40B4-BE49-F238E27FC236}">
                <a16:creationId xmlns:a16="http://schemas.microsoft.com/office/drawing/2014/main" id="{46794D03-8A4E-4C0C-BEBA-64D18CCA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87875"/>
            <a:ext cx="904875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Relative token weights and bounded sample weights</a:t>
            </a:r>
          </a:p>
        </p:txBody>
      </p:sp>
      <p:sp>
        <p:nvSpPr>
          <p:cNvPr id="41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0FAD90-3716-43A2-B27C-31533688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0"/>
            <a:ext cx="9048750" cy="1243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lnSpc>
                <a:spcPct val="120000"/>
              </a:lnSpc>
              <a:buNone/>
              <a:defRPr sz="2100">
                <a:solidFill>
                  <a:srgbClr val="344854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The loss combines detached token and sample weights with response-token cross-entropy. The centered window g = 256 is the only additional tunable train-time hyperparameter.</a:t>
            </a:r>
          </a:p>
        </p:txBody>
      </p:sp>
      <p:sp>
        <p:nvSpPr>
          <p:cNvPr id="42" name="TextBox 51">
            <a:extLst xmlns:a="http://schemas.openxmlformats.org/drawingml/2006/main">
              <a:ext uri="{FF2B5EF4-FFF2-40B4-BE49-F238E27FC236}">
                <a16:creationId xmlns:a16="http://schemas.microsoft.com/office/drawing/2014/main" id="{33828F56-4DF2-42E4-9AA8-E5FE5B50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5381625"/>
            <a:ext cx="9048750" cy="1127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Biological representations from generated profiles</a:t>
            </a:r>
          </a:p>
        </p:txBody>
      </p:sp>
      <p:sp>
        <p:nvSpPr>
          <p:cNvPr id="43" name="TextBox 52">
            <a:extLst xmlns:a="http://schemas.openxmlformats.org/drawingml/2006/main">
              <a:ext uri="{FF2B5EF4-FFF2-40B4-BE49-F238E27FC236}">
                <a16:creationId xmlns:a16="http://schemas.microsoft.com/office/drawing/2014/main" id="{D701A3CA-B9C8-439C-AB3A-BBC5BCC6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6715125"/>
            <a:ext cx="904875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BFT-generated profiles are encoded with</a:t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text-embedding-ada-002.</a:t>
            </a:r>
          </a:p>
        </p:txBody>
      </p:sp>
      <p:sp>
        <p:nvSpPr>
          <p:cNvPr id="44" name="TextBox 53">
            <a:extLst xmlns:a="http://schemas.openxmlformats.org/drawingml/2006/main">
              <a:ext uri="{FF2B5EF4-FFF2-40B4-BE49-F238E27FC236}">
                <a16:creationId xmlns:a16="http://schemas.microsoft.com/office/drawing/2014/main" id="{9724C120-C10F-4005-9476-184B9DDD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7716500"/>
            <a:ext cx="9048750" cy="1243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>
              <a:lnSpc>
                <a:spcPct val="120000"/>
              </a:lnSpc>
              <a:buNone/>
              <a:defRPr sz="2100">
                <a:solidFill>
                  <a:srgbClr val="344854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With the STATE decoder retained, BFT embeddings perform comparably to standard inputs across four datasets. Profile generation is zero-shot for these datasets. Decoder training is not.</a:t>
            </a:r>
          </a:p>
        </p:txBody>
      </p:sp>
      <p:sp>
        <p:nvSpPr>
          <p:cNvPr id="45" name="TextBox 54">
            <a:extLst xmlns:a="http://schemas.openxmlformats.org/drawingml/2006/main">
              <a:ext uri="{FF2B5EF4-FFF2-40B4-BE49-F238E27FC236}">
                <a16:creationId xmlns:a16="http://schemas.microsoft.com/office/drawing/2014/main" id="{F03DEECD-9EEE-4420-B7DC-F68ABA20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2287250"/>
            <a:ext cx="904875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00">
                <a:solidFill>
                  <a:srgbClr val="344854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Figure 4. Best average gene-level performance and improved cell clustering on evaluated tasks. GenePT remains higher on Lys4.</a:t>
            </a:r>
          </a:p>
        </p:txBody>
      </p:sp>
      <p:sp>
        <p:nvSpPr>
          <p:cNvPr id="46" name="TextBox 56">
            <a:extLst xmlns:a="http://schemas.openxmlformats.org/drawingml/2006/main">
              <a:ext uri="{FF2B5EF4-FFF2-40B4-BE49-F238E27FC236}">
                <a16:creationId xmlns:a16="http://schemas.microsoft.com/office/drawing/2014/main" id="{FA35ED86-99D5-4AC0-908B-99C778F0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525625"/>
            <a:ext cx="904875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300">
                <a:solidFill>
                  <a:srgbClr val="344854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Figure 1. Local uncertainty structure and BFT. PMC entity share: 60.9% in dense-low versus 12.5% in sparse-low windows. CRAFT expert spans corroborate concept enrichment (63.8% versus 11.2%).</a:t>
            </a:r>
          </a:p>
        </p:txBody>
      </p:sp>
      <p:sp>
        <p:nvSpPr>
          <p:cNvPr id="48" name="TextBox 60">
            <a:extLst xmlns:a="http://schemas.openxmlformats.org/drawingml/2006/main">
              <a:ext uri="{FF2B5EF4-FFF2-40B4-BE49-F238E27FC236}">
                <a16:creationId xmlns:a16="http://schemas.microsoft.com/office/drawing/2014/main" id="{208C5D04-7DB1-47BB-82C3-2164E9A8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9621500"/>
            <a:ext cx="581025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Paper and code</a:t>
            </a:r>
          </a:p>
        </p:txBody>
      </p:sp>
      <p:sp>
        <p:nvSpPr>
          <p:cNvPr id="49" name="TextBox 61">
            <a:extLst xmlns:a="http://schemas.openxmlformats.org/drawingml/2006/main">
              <a:ext uri="{FF2B5EF4-FFF2-40B4-BE49-F238E27FC236}">
                <a16:creationId xmlns:a16="http://schemas.microsoft.com/office/drawing/2014/main" id="{9DD07C2B-04A0-40F4-9B85-E2EB7148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20288250"/>
            <a:ext cx="6572250" cy="1011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spcBef>
                <a:spcPts val="600"/>
              </a:spcBef>
              <a:buNone/>
              <a:defRPr sz="14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677B8C"/>
                </a:solidFill>
                <a:latin typeface="Arial"/>
                <a:ea typeface="Arial"/>
                <a:cs typeface="Arial"/>
              </a:rPr>
              <a:t>arxiv.org/abs/2511.21075</a:t>
            </a:r>
          </a:p>
          <a:p xmlns:a="http://schemas.openxmlformats.org/drawingml/2006/main">
            <a:pPr algn="l">
              <a:lnSpc>
                <a:spcPct val="120000"/>
              </a:lnSpc>
              <a:spcBef>
                <a:spcPts val="600"/>
              </a:spcBef>
              <a:buNone/>
              <a:defRPr sz="14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677B8C"/>
                </a:solidFill>
                <a:latin typeface="Arial"/>
                <a:ea typeface="Arial"/>
                <a:cs typeface="Arial"/>
              </a:rPr>
              <a:t>github.com/TencentAILabHealthcare/BFT</a:t>
            </a:r>
          </a:p>
          <a:p xmlns:a="http://schemas.openxmlformats.org/drawingml/2006/main">
            <a:pPr algn="l">
              <a:lnSpc>
                <a:spcPct val="120000"/>
              </a:lnSpc>
              <a:spcBef>
                <a:spcPts val="600"/>
              </a:spcBef>
              <a:buNone/>
              <a:defRPr sz="1400" b="0">
                <a:solidFill>
                  <a:srgbClr val="677B8C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677B8C"/>
                </a:solidFill>
                <a:latin typeface="Arial"/>
                <a:ea typeface="Arial"/>
                <a:cs typeface="Arial"/>
              </a:rPr>
              <a:t>Project page: shapsider.github.io/BFT</a:t>
            </a:r>
          </a:p>
        </p:txBody>
      </p:sp>
      <p:sp>
        <p:nvSpPr>
          <p:cNvPr id="50" name="TextBox 37">
            <a:extLst xmlns:a="http://schemas.openxmlformats.org/drawingml/2006/main">
              <a:ext uri="{FF2B5EF4-FFF2-40B4-BE49-F238E27FC236}">
                <a16:creationId xmlns:a16="http://schemas.microsoft.com/office/drawing/2014/main" id="{117C48EC-DDC6-43B0-986E-517FA2C5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24955500" cy="986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lnSpc>
                <a:spcPct val="120000"/>
              </a:lnSpc>
              <a:spcBef>
                <a:spcPts val="1000"/>
              </a:spcBef>
              <a:buNone/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Zhenchao Tang*¹, Fang Wang*†¹, Haohuai He¹, Jiale Zhou¹, Tianxu Lv¹, Jun Zhu¹, Shouzhi Chen¹, Minghao Yang¹,</a:t>
            </a:r>
          </a:p>
          <a:p xmlns:a="http://schemas.openxmlformats.org/drawingml/2006/main">
            <a:pPr algn="l">
              <a:lnSpc>
                <a:spcPct val="120000"/>
              </a:lnSpc>
              <a:spcBef>
                <a:spcPts val="1000"/>
              </a:spcBef>
              <a:buNone/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Yu Wang¹, Jiayang Wu¹, Yidong Song², Yaokun Li³, Jiehui Huang⁴, Jun Zhou⁵, Bing He¹, Jianhua Yao†¹</a:t>
            </a:r>
          </a:p>
        </p:txBody>
      </p:sp>
      <p:pic>
        <p:nvPicPr>
          <p:cNvPr id="54" name="neurips_logo.pdf">
            <a:extLst xmlns:a="http://schemas.openxmlformats.org/drawingml/2006/main">
              <a:ext uri="{FF2B5EF4-FFF2-40B4-BE49-F238E27FC236}">
                <a16:creationId xmlns:a16="http://schemas.microsoft.com/office/drawing/2014/main" id="{F94C0DE4-DF3D-4DBC-B218-0E43B7B38E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1849df40f64e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7816" y="588942"/>
            <a:ext cx="4797779" cy="21590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5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17F90830-E335-45D0-B14D-BA2E97A1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249555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¹Tencent AI for Life Sciences Lab   ²Nankai University   ³Sun Yat-sen University</a:t>
            </a:r>
          </a:p>
          <a:p xmlns:a="http://schemas.openxmlformats.org/drawingml/2006/main">
            <a: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⁴The Hong Kong University of Science and Technology   ⁵Tsinghua University</a:t>
            </a:r>
          </a:p>
          <a:p xmlns:a="http://schemas.openxmlformats.org/drawingml/2006/main">
            <a:pPr algn="l">
              <a:defRPr sz="1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*Equal contribution   †Corresponding authors: avonwanghit@gmail.com, jianhua.yao@gmail.com</a:t>
            </a:r>
          </a:p>
        </p:txBody>
      </p:sp>
      <p:pic>
        <p:nvPic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F435C6B-9660-45B5-A331-D02749A07B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7d95e027e427a"/>
          <a:stretch xmlns:a="http://schemas.openxmlformats.org/drawingml/2006/main"/>
        </p:blipFill>
        <p:spPr>
          <a:xfrm xmlns:a="http://schemas.openxmlformats.org/drawingml/2006/main">
            <a:off x="27336750" y="3173585"/>
            <a:ext cx="2238375" cy="920405"/>
          </a:xfrm>
          <a:prstGeom xmlns:a="http://schemas.openxmlformats.org/drawingml/2006/main" prst="rect">
            <a:avLst/>
          </a:prstGeom>
        </p:spPr>
      </p:pic>
      <p:pic>
        <p:nvPic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AD6B98-16BC-4AE4-9E84-2143E93EFD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1eb2ddcdb4d43"/>
          <a:stretch xmlns:a="http://schemas.openxmlformats.org/drawingml/2006/main"/>
        </p:blipFill>
        <p:spPr>
          <a:xfrm xmlns:a="http://schemas.openxmlformats.org/drawingml/2006/main">
            <a:off x="29813250" y="3240520"/>
            <a:ext cx="2628900" cy="929409"/>
          </a:xfrm>
          <a:prstGeom xmlns:a="http://schemas.openxmlformats.org/drawingml/2006/main" prst="rect">
            <a:avLst/>
          </a:prstGeom>
        </p:spPr>
      </p:pic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419CD69-6C52-43E5-B1FD-8B9AFAE9D1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33426edaf40b9"/>
          <a:stretch xmlns:a="http://schemas.openxmlformats.org/drawingml/2006/main"/>
        </p:blipFill>
        <p:spPr>
          <a:xfrm xmlns:a="http://schemas.openxmlformats.org/drawingml/2006/main">
            <a:off x="990627" y="8477250"/>
            <a:ext cx="9048696" cy="5753100"/>
          </a:xfrm>
          <a:prstGeom xmlns:a="http://schemas.openxmlformats.org/drawingml/2006/main" prst="rect">
            <a:avLst/>
          </a:prstGeom>
        </p:spPr>
      </p:pic>
      <p:sp>
        <p:nvSpPr>
          <p:cNvPr id="59" name="Token equation">
            <a:extLst xmlns:a="http://schemas.openxmlformats.org/drawingml/2006/main">
              <a:ext uri="{FF2B5EF4-FFF2-40B4-BE49-F238E27FC236}">
                <a16:creationId xmlns:a16="http://schemas.microsoft.com/office/drawing/2014/main" id="{69E6D7D9-513A-4301-8804-A3428BE0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19275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ρᵦ,ₜ = clip(cᵦ,ₜ / (Cᵦ,ₜˡᵒᶜ + ε), 0, 1)</a:t>
            </a:r>
          </a:p>
        </p:txBody>
      </p:sp>
      <p:sp>
        <p:nvSpPr>
          <p:cNvPr id="60" name="Sample equation">
            <a:extLst xmlns:a="http://schemas.openxmlformats.org/drawingml/2006/main">
              <a:ext uri="{FF2B5EF4-FFF2-40B4-BE49-F238E27FC236}">
                <a16:creationId xmlns:a16="http://schemas.microsoft.com/office/drawing/2014/main" id="{26A85C8A-679B-4711-B16F-51F79677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050000"/>
            <a:ext cx="904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sᵦ = sg(1 − minₜ Cᵦ,ₜˡᵒᶜ)</a:t>
            </a:r>
          </a:p>
        </p:txBody>
      </p:sp>
      <p:graphicFrame>
        <p:nvGraphicFramePr>
          <p:cNvPr id="61" name="Chart">
            <a:extLst xmlns:a="http://schemas.openxmlformats.org/drawingml/2006/main">
              <a:ext uri="{FF2B5EF4-FFF2-40B4-BE49-F238E27FC236}">
                <a16:creationId xmlns:a16="http://schemas.microsoft.com/office/drawing/2014/main" id="{06A72AF8-83E4-47ED-9E39-DC13A144A34D}"/>
              </a:ext>
            </a:extLst>
          </p:cNvPr>
          <p:cNvGraphicFramePr/>
          <p:nvPr/>
        </p:nvGraphicFramePr>
        <p:xfrm>
          <a:off xmlns:a="http://schemas.openxmlformats.org/drawingml/2006/main" x="11877675" y="7953375"/>
          <a:ext xmlns:a="http://schemas.openxmlformats.org/drawingml/2006/main" cx="9048750" cy="4953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c5582d5eb0494c"/>
          </a:graphicData>
        </a:graphic>
      </p:graphicFrame>
      <p:sp>
        <p:nvSpPr>
          <p:cNvPr id="62" name="Medical heading">
            <a:extLst xmlns:a="http://schemas.openxmlformats.org/drawingml/2006/main">
              <a:ext uri="{FF2B5EF4-FFF2-40B4-BE49-F238E27FC236}">
                <a16:creationId xmlns:a16="http://schemas.microsoft.com/office/drawing/2014/main" id="{7C51549E-3805-4F5E-9F0B-9B8B38A6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15621000"/>
            <a:ext cx="904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Medical competence and biological reasoning</a:t>
            </a:r>
          </a:p>
        </p:txBody>
      </p:sp>
      <p:pic>
        <p:nvPic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A56BD02-C0E5-4976-8017-BE341DF226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a3081bc4b0417b"/>
          <a:stretch xmlns:a="http://schemas.openxmlformats.org/drawingml/2006/main"/>
        </p:blipFill>
        <p:spPr>
          <a:xfrm xmlns:a="http://schemas.openxmlformats.org/drawingml/2006/main">
            <a:off x="11877675" y="17051536"/>
            <a:ext cx="9048750" cy="3958828"/>
          </a:xfrm>
          <a:prstGeom xmlns:a="http://schemas.openxmlformats.org/drawingml/2006/main" prst="rect">
            <a:avLst/>
          </a:prstGeom>
        </p:spPr>
      </p:pic>
      <p:sp>
        <p:nvSpPr>
          <p:cNvPr id="64" name="Medical caption">
            <a:extLst xmlns:a="http://schemas.openxmlformats.org/drawingml/2006/main">
              <a:ext uri="{FF2B5EF4-FFF2-40B4-BE49-F238E27FC236}">
                <a16:creationId xmlns:a16="http://schemas.microsoft.com/office/drawing/2014/main" id="{C40548C7-FCE5-4632-A218-50F42969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7675" y="21240750"/>
            <a:ext cx="904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00" b="0">
                <a:solidFill>
                  <a:srgbClr val="344854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344854"/>
                </a:solidFill>
                <a:latin typeface="Arial"/>
                <a:ea typeface="Arial"/>
                <a:cs typeface="Arial"/>
              </a:rPr>
              <a:t>Figure 2. HealthBench Hard and GeneAgent results across 14B, 32B and 70B under a shared supervised training recipe. Error bars quantify decoding variability, not training-seed variability.</a:t>
            </a:r>
          </a:p>
        </p:txBody>
      </p:sp>
      <p:pic>
        <p:nvPic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17A20AE-3BD8-49D0-8416-9E0A9506D1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9cdf714474c1c"/>
          <a:stretch xmlns:a="http://schemas.openxmlformats.org/drawingml/2006/main"/>
        </p:blipFill>
        <p:spPr>
          <a:xfrm xmlns:a="http://schemas.openxmlformats.org/drawingml/2006/main">
            <a:off x="22926675" y="7955212"/>
            <a:ext cx="9048750" cy="3996827"/>
          </a:xfrm>
          <a:prstGeom xmlns:a="http://schemas.openxmlformats.org/drawingml/2006/main" prst="rect">
            <a:avLst/>
          </a:prstGeom>
        </p:spPr>
      </p:pic>
      <p:sp>
        <p:nvSpPr>
          <p:cNvPr id="66" name="Perturbation heading">
            <a:extLst xmlns:a="http://schemas.openxmlformats.org/drawingml/2006/main">
              <a:ext uri="{FF2B5EF4-FFF2-40B4-BE49-F238E27FC236}">
                <a16:creationId xmlns:a16="http://schemas.microsoft.com/office/drawing/2014/main" id="{8A168BDB-F9B4-4197-A2F6-03A78F91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6675" y="13716000"/>
            <a:ext cx="904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Perturbation-response prediction</a:t>
            </a:r>
          </a:p>
        </p:txBody>
      </p:sp>
      <p:pic>
        <p:nvPic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E8F69FD-C619-49A3-BB44-721C2CE015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3275b63ad74b88"/>
          <a:stretch xmlns:a="http://schemas.openxmlformats.org/drawingml/2006/main"/>
        </p:blipFill>
        <p:spPr>
          <a:xfrm xmlns:a="http://schemas.openxmlformats.org/drawingml/2006/main">
            <a:off x="22926675" y="14859462"/>
            <a:ext cx="9048750" cy="2475576"/>
          </a:xfrm>
          <a:prstGeom xmlns:a="http://schemas.openxmlformats.org/drawingml/2006/main" prst="rect">
            <a:avLst/>
          </a:prstGeom>
        </p:spPr>
      </p:pic>
      <p:pic>
        <p:nvPic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1A8B669-28B0-48E3-97B1-79696AE308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0935500e4d47e9"/>
          <a:stretch xmlns:a="http://schemas.openxmlformats.org/drawingml/2006/main"/>
        </p:blipFill>
        <p:spPr>
          <a:xfrm xmlns:a="http://schemas.openxmlformats.org/drawingml/2006/main">
            <a:off x="30622875" y="19411950"/>
            <a:ext cx="2162175" cy="21621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3426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2026-10-10T07:44:13.2680000Z</dcterms:created>
  <dcterms:modified xsi:type="dcterms:W3CDTF">2026-10-10T07:44:13.2680000Z</dcterms:modified>
</coreProperties>
</file>