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a58e97adc284ada" /><Relationship Type="http://schemas.openxmlformats.org/officeDocument/2006/relationships/extended-properties" Target="/docProps/app.xml" Id="Rc5381ace0f51499e" /><Relationship Type="http://schemas.openxmlformats.org/officeDocument/2006/relationships/officeDocument" Target="/ppt/presentation.xml" Id="R91c52d310fcd4ee7" /></Relationships>
</file>

<file path=ppt/presentation.xml><?xml version="1.0" encoding="utf-8"?>
<p:presentation xmlns:p="http://schemas.openxmlformats.org/presentationml/2006/main">
  <p:sldMasterIdLst>
    <p:sldMasterId xmlns:r="http://schemas.openxmlformats.org/officeDocument/2006/relationships" id="2147483648" r:id="R1414eb566beb4652"/>
  </p:sldMasterIdLst>
  <p:notesMasterIdLst>
    <p:notesMasterId xmlns:r="http://schemas.openxmlformats.org/officeDocument/2006/relationships" r:id="Rb5fcedcb7cca464f"/>
  </p:notesMasterIdLst>
  <p:sldIdLst>
    <p:sldId xmlns:r="http://schemas.openxmlformats.org/officeDocument/2006/relationships" id="256" r:id="R0e333a2268244cb4"/>
  </p:sldIdLst>
  <p:sldSz cx="32918400" cy="21945600"/>
  <p:notesSz cx="6858000" cy="9144000"/>
  <p:defaultTextStyle>
    <a:def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defRPr>
    </a:defPPr>
    <a:lvl1pPr xmlns:a="http://schemas.openxmlformats.org/drawingml/2006/main" marL="0" marR="0" indent="0"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1pPr>
    <a:lvl2pPr xmlns:a="http://schemas.openxmlformats.org/drawingml/2006/main" marL="0" marR="0" indent="326532"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2pPr>
    <a:lvl3pPr xmlns:a="http://schemas.openxmlformats.org/drawingml/2006/main" marL="0" marR="0" indent="653064"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3pPr>
    <a:lvl4pPr xmlns:a="http://schemas.openxmlformats.org/drawingml/2006/main" marL="0" marR="0" indent="979596"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4pPr>
    <a:lvl5pPr xmlns:a="http://schemas.openxmlformats.org/drawingml/2006/main" marL="0" marR="0" indent="1306128"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5pPr>
    <a:lvl6pPr xmlns:a="http://schemas.openxmlformats.org/drawingml/2006/main" marL="0" marR="0" indent="1632661"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6pPr>
    <a:lvl7pPr xmlns:a="http://schemas.openxmlformats.org/drawingml/2006/main" marL="0" marR="0" indent="1959193"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7pPr>
    <a:lvl8pPr xmlns:a="http://schemas.openxmlformats.org/drawingml/2006/main" marL="0" marR="0" indent="2285725"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8pPr>
    <a:lvl9pPr xmlns:a="http://schemas.openxmlformats.org/drawingml/2006/main" marL="0" marR="0" indent="2612257"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e9bb2c3941d4915" /><Relationship Type="http://schemas.openxmlformats.org/officeDocument/2006/relationships/slideMaster" Target="/ppt/slideMasters/slideMaster1.xml" Id="R1414eb566beb4652" /><Relationship Type="http://schemas.openxmlformats.org/officeDocument/2006/relationships/notesMaster" Target="/ppt/notesMasters/notesMaster1.xml" Id="Rb5fcedcb7cca464f" /><Relationship Type="http://schemas.openxmlformats.org/officeDocument/2006/relationships/presProps" Target="/ppt/presProps.xml" Id="R433b0e382f544d60" /><Relationship Type="http://schemas.openxmlformats.org/officeDocument/2006/relationships/viewProps" Target="/ppt/viewProps.xml" Id="Rd789536b1a694962" /><Relationship Type="http://schemas.openxmlformats.org/officeDocument/2006/relationships/tableStyles" Target="/ppt/tableStyles.xml" Id="R3ea28422fd7243a5" /><Relationship Type="http://schemas.openxmlformats.org/officeDocument/2006/relationships/slide" Target="/ppt/slides/slide1.xml" Id="R0e333a2268244c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037218fd6648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69caf5beb842a1" /><Relationship Type="http://schemas.openxmlformats.org/officeDocument/2006/relationships/notesMaster" Target="/ppt/notesMasters/notesMaster1.xml" Id="R0277079e84894c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Scientific sources: supplied neurips_2026_arxiv.tex, Sections 1, 3 and Results, diagnostic/counterfactual/training/gene representation/cell clustering appendices, original Figure 1b/c, Figure 2a 70B panels and legend, Figure 5; https://arxiv.org/abs/2511.21075. Enrichment (% sparse/dense): PMC 12.5/60.9, CRAFT 11.2/63.8, UltraChat 3.6/4.1, NuminaMath 3.0/3.2. CRAFT uses expert concept spans; other corpora use entity annotations. Retention accuracy: SFT .562, size-matched random .571, sparse .508, dense .674, continuous BFT .696. The fixed-confidence example is quoted from Section 3. Loss weights are detached, target-only masking, window g256, epsilon 1e-8. All numbers in native charts and tables follow the supplied paper source; mean gene AUC is rounded over six reported tasks. Cell-type table compares four representative methods using ada-002 for profile-based methods. It omits PCA and DFT for space without changing the best-among-evaluated conclusion. VCWorld plot uses three-decimal means from Results; Gemini difference is exploratory and non-significant. Scientific uncertainty labels are interpretations, not measured ground-truth labels. Poster design references: https://github.com/ZLHe0/Skill-ML-Conference-Poster-Creation/blob/main/SKILL.md and https://github.com/skyllwt/AutoSci/blob/main/i18n/en/skills/poster/SKILL.md, for column balance, tight text boxes and inter-section transitions. Official template retains 36x24 inches, Arial and the original NeurIPS mark. Conference source: https://drive.google.com/drive/u/1/folders/16tSJGJryd7NgQCBblaKxTfXLZXDIJJrt. Institutional logos supplied by author: Tencent and Tencent AI for Life Sciences Lab. Upload PNG reference: https://wiki.eventhosts.cc/en/reference/posteruploads.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df58e7f1df44d3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ac5b55435094838" /></Relationships>
</file>

<file path=ppt/slideLayouts/slideLayout1.xml><?xml version="1.0" encoding="utf-8"?>
<p:sldLayout xmlns:p="http://schemas.openxmlformats.org/presentationml/2006/main">
  <p:cSld name="FB AI">
    <p:spTree>
      <p:nvGrpSpPr>
        <p:cNvPr id="1" name=""/>
        <p:cNvGrpSpPr/>
        <p:nvPr/>
      </p:nvGrpSpPr>
      <p:grpSpPr>
        <a:xfrm xmlns:a="http://schemas.openxmlformats.org/drawingml/2006/main"/>
      </p:grpSpPr>
      <p:sp>
        <p:nvSpPr>
          <p:cNvPr id="11" name="Slide Number">
            <a:extLst xmlns:a="http://schemas.openxmlformats.org/drawingml/2006/main">
              <a:ext uri="{FF2B5EF4-FFF2-40B4-BE49-F238E27FC236}">
                <a16:creationId xmlns:a16="http://schemas.microsoft.com/office/drawing/2014/main" id="{A5F8D8F3-CF65-4539-8A12-0FF2825A0BE7}"/>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Layouts/slideLayout2.xml><?xml version="1.0" encoding="utf-8"?>
<p:sldLayout xmlns:p="http://schemas.openxmlformats.org/presentationml/2006/main">
  <p:cSld name="FB AI Research ">
    <p:spTree>
      <p:nvGrpSpPr>
        <p:cNvPr id="1" name=""/>
        <p:cNvGrpSpPr/>
        <p:nvPr/>
      </p:nvGrpSpPr>
      <p:grpSpPr>
        <a:xfrm xmlns:a="http://schemas.openxmlformats.org/drawingml/2006/main"/>
      </p:grpSpPr>
      <p:sp>
        <p:nvSpPr>
          <p:cNvPr id="18" name="Slide Number">
            <a:extLst xmlns:a="http://schemas.openxmlformats.org/drawingml/2006/main">
              <a:ext uri="{FF2B5EF4-FFF2-40B4-BE49-F238E27FC236}">
                <a16:creationId xmlns:a16="http://schemas.microsoft.com/office/drawing/2014/main" id="{6E232A1A-53EC-48DC-99B1-F909B893FD68}"/>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91294c74d546e2" /><Relationship Type="http://schemas.openxmlformats.org/officeDocument/2006/relationships/slideLayout" Target="/ppt/slideLayouts/slideLayout1.xml" Id="R5650259d6e9c4698" /><Relationship Type="http://schemas.openxmlformats.org/officeDocument/2006/relationships/slideLayout" Target="/ppt/slideLayouts/slideLayout2.xml" Id="R7f286622e1a641da"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itle Text">
            <a:extLst xmlns:a="http://schemas.openxmlformats.org/drawingml/2006/main">
              <a:ext uri="{FF2B5EF4-FFF2-40B4-BE49-F238E27FC236}">
                <a16:creationId xmlns:a16="http://schemas.microsoft.com/office/drawing/2014/main" id="{8C356385-51F8-488E-95A3-51979EEF3745}"/>
              </a:ext>
            </a:extLst>
          </p:cNvPr>
          <p:cNvSpPr>
            <a:spLocks xmlns:a="http://schemas.openxmlformats.org/drawingml/2006/main" noGrp="1"/>
          </p:cNvSpPr>
          <p:nvPr>
            <p:ph type="title" idx="0"/>
          </p:nvPr>
        </p:nvSpPr>
        <p:spPr>
          <a:xfrm xmlns:a="http://schemas.openxmlformats.org/drawingml/2006/main">
            <a:off x="1645920" y="294640"/>
            <a:ext cx="29626561" cy="4826001"/>
          </a:xfrm>
          <a:prstGeom xmlns:a="http://schemas.openxmlformats.org/drawingml/2006/main" prst="rect">
            <a:avLst/>
          </a:prstGeom>
          <a:ln xmlns:a="http://schemas.openxmlformats.org/drawingml/2006/main" w="12700">
            <a:miter/>
          </a:ln>
        </p:spPr>
        <p:txBody>
          <a:bodyPr xmlns:a="http://schemas.openxmlformats.org/drawingml/2006/main" lIns="45719" rIns="45719" anchor="ctr"/>
          <a:lstStyle xmlns:a="http://schemas.openxmlformats.org/drawingml/2006/main"/>
          <a:p xmlns:a="http://schemas.openxmlformats.org/drawingml/2006/main">
            <a:r>
              <a:t>Title Text</a:t>
            </a:r>
          </a:p>
        </p:txBody>
      </p:sp>
      <p:sp>
        <p:nvSpPr>
          <p:cNvPr id="3" name="Body Level One…">
            <a:extLst xmlns:a="http://schemas.openxmlformats.org/drawingml/2006/main">
              <a:ext uri="{FF2B5EF4-FFF2-40B4-BE49-F238E27FC236}">
                <a16:creationId xmlns:a16="http://schemas.microsoft.com/office/drawing/2014/main" id="{FE0E6AAF-D54A-4947-BA1C-4F9B58F9FA84}"/>
              </a:ext>
            </a:extLst>
          </p:cNvPr>
          <p:cNvSpPr>
            <a:spLocks xmlns:a="http://schemas.openxmlformats.org/drawingml/2006/main" noGrp="1"/>
          </p:cNvSpPr>
          <p:nvPr>
            <p:ph type="body" idx="1"/>
          </p:nvPr>
        </p:nvSpPr>
        <p:spPr>
          <a:xfrm xmlns:a="http://schemas.openxmlformats.org/drawingml/2006/main">
            <a:off x="1645920" y="5120640"/>
            <a:ext cx="29626561" cy="16824961"/>
          </a:xfrm>
          <a:prstGeom xmlns:a="http://schemas.openxmlformats.org/drawingml/2006/main" prst="rect">
            <a:avLst/>
          </a:prstGeom>
          <a:ln xmlns:a="http://schemas.openxmlformats.org/drawingml/2006/main" w="12700">
            <a:miter/>
          </a:ln>
        </p:spPr>
        <p:txBody>
          <a:bodyPr xmlns:a="http://schemas.openxmlformats.org/drawingml/2006/main" lIns="45719" rIns="45719"/>
          <a:lstStyle xmlns:a="http://schemas.openxmlformats.org/drawingml/2006/main"/>
          <a:p xmlns:a="http://schemas.openxmlformats.org/drawingml/2006/main">
            <a:r>
              <a:t>Body Level One</a:t>
            </a:r>
          </a:p>
          <a:p xmlns:a="http://schemas.openxmlformats.org/drawingml/2006/main">
            <a:pPr lvl="1">
              <a:buNone/>
            </a:pPr>
            <a:r>
              <a:t>Body Level Two</a:t>
            </a:r>
          </a:p>
          <a:p xmlns:a="http://schemas.openxmlformats.org/drawingml/2006/main">
            <a:pPr lvl="2">
              <a:buNone/>
            </a:pPr>
            <a:r>
              <a:t>Body Level Three</a:t>
            </a:r>
          </a:p>
          <a:p xmlns:a="http://schemas.openxmlformats.org/drawingml/2006/main">
            <a:pPr lvl="3">
              <a:buNone/>
            </a:pPr>
            <a:r>
              <a:t>Body Level Four</a:t>
            </a:r>
          </a:p>
          <a:p xmlns:a="http://schemas.openxmlformats.org/drawingml/2006/main">
            <a:pPr lvl="4">
              <a:buNone/>
            </a:pPr>
            <a:r>
              <a:t>Body Level Five</a:t>
            </a:r>
          </a:p>
        </p:txBody>
      </p:sp>
      <p:sp>
        <p:nvSpPr>
          <p:cNvPr id="4" name="Slide Number">
            <a:extLst xmlns:a="http://schemas.openxmlformats.org/drawingml/2006/main">
              <a:ext uri="{FF2B5EF4-FFF2-40B4-BE49-F238E27FC236}">
                <a16:creationId xmlns:a16="http://schemas.microsoft.com/office/drawing/2014/main" id="{EFEC2D3D-D712-4604-8DBA-078EE3AADBCE}"/>
              </a:ext>
            </a:extLst>
          </p:cNvPr>
          <p:cNvSpPr>
            <a:spLocks xmlns:a="http://schemas.openxmlformats.org/drawingml/2006/main" noGrp="1"/>
          </p:cNvSpPr>
          <p:nvPr>
            <p:ph type="sldNum" idx="2"/>
          </p:nvPr>
        </p:nvSpPr>
        <p:spPr>
          <a:xfrm xmlns:a="http://schemas.openxmlformats.org/drawingml/2006/main">
            <a:off x="15910559" y="19756119"/>
            <a:ext cx="7680961" cy="1168401"/>
          </a:xfrm>
          <a:prstGeom xmlns:a="http://schemas.openxmlformats.org/drawingml/2006/main" prst="rect">
            <a:avLst/>
          </a:prstGeom>
          <a:ln xmlns:a="http://schemas.openxmlformats.org/drawingml/2006/main" w="12700">
            <a:miter/>
          </a:ln>
        </p:spPr>
        <p:txBody>
          <a:bodyPr xmlns:a="http://schemas.openxmlformats.org/drawingml/2006/main" wrap="none" lIns="45719" rIns="45719" anchor="ctr">
            <a:spAutoFit/>
          </a:bodyPr>
          <a:lstStyle xmlns:a="http://schemas.openxmlformats.org/drawingml/2006/main">
            <a:lvl1pPr algn="r">
              <a:buNone/>
              <a:defRPr/>
            </a:lvl1pPr>
          </a:lstStyle>
          <a:p xmlns:a="http://schemas.openxmlformats.org/drawingml/2006/main">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50259d6e9c4698"/>
    <p:sldLayoutId xmlns:r="http://schemas.openxmlformats.org/officeDocument/2006/relationships" id="2147483650" r:id="R7f286622e1a641da"/>
  </p:sldLayoutIdLst>
  <p:txStyles>
    <p:titleStyle>
      <a:lvl1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1pPr>
      <a:lvl2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2pPr>
      <a:lvl3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3pPr>
      <a:lvl4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4pPr>
      <a:lvl5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5pPr>
      <a:lvl6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6pPr>
      <a:lvl7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7pPr>
      <a:lvl8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8pPr>
      <a:lvl9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9pPr>
    </p:titleStyle>
    <p:bodyStyle>
      <a:lvl1pPr xmlns:a="http://schemas.openxmlformats.org/drawingml/2006/main" marL="731556" marR="0" indent="-731556"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1pPr>
      <a:lvl2pPr xmlns:a="http://schemas.openxmlformats.org/drawingml/2006/main" marL="2319804" marR="0" indent="-85669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2pPr>
      <a:lvl3pPr xmlns:a="http://schemas.openxmlformats.org/drawingml/2006/main" marL="3943547" marR="0" indent="-101732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3pPr>
      <a:lvl4pPr xmlns:a="http://schemas.openxmlformats.org/drawingml/2006/main" marL="5531594"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4pPr>
      <a:lvl5pPr xmlns:a="http://schemas.openxmlformats.org/drawingml/2006/main" marL="699470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5pPr>
      <a:lvl6pPr xmlns:a="http://schemas.openxmlformats.org/drawingml/2006/main" marL="845782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6pPr>
      <a:lvl7pPr xmlns:a="http://schemas.openxmlformats.org/drawingml/2006/main" marL="9920933"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7pPr>
      <a:lvl8pPr xmlns:a="http://schemas.openxmlformats.org/drawingml/2006/main" marL="1138404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8pPr>
      <a:lvl9pPr xmlns:a="http://schemas.openxmlformats.org/drawingml/2006/main" marL="1284716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9pPr>
    </p:bodyStyle>
    <p:otherStyle>
      <a:lvl1pPr xmlns:a="http://schemas.openxmlformats.org/drawingml/2006/main" marL="0" marR="0" indent="0"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1pPr>
      <a:lvl2pPr xmlns:a="http://schemas.openxmlformats.org/drawingml/2006/main" marL="0" marR="0" indent="326532"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2pPr>
      <a:lvl3pPr xmlns:a="http://schemas.openxmlformats.org/drawingml/2006/main" marL="0" marR="0" indent="653064"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3pPr>
      <a:lvl4pPr xmlns:a="http://schemas.openxmlformats.org/drawingml/2006/main" marL="0" marR="0" indent="979596"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4pPr>
      <a:lvl5pPr xmlns:a="http://schemas.openxmlformats.org/drawingml/2006/main" marL="0" marR="0" indent="1306128"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5pPr>
      <a:lvl6pPr xmlns:a="http://schemas.openxmlformats.org/drawingml/2006/main" marL="0" marR="0" indent="1632661"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6pPr>
      <a:lvl7pPr xmlns:a="http://schemas.openxmlformats.org/drawingml/2006/main" marL="0" marR="0" indent="1959193"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7pPr>
      <a:lvl8pPr xmlns:a="http://schemas.openxmlformats.org/drawingml/2006/main" marL="0" marR="0" indent="2285725"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8pPr>
      <a:lvl9pPr xmlns:a="http://schemas.openxmlformats.org/drawingml/2006/main" marL="0" marR="0" indent="2612257"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eb2e5058a7243dd" /><Relationship Type="http://schemas.openxmlformats.org/officeDocument/2006/relationships/image" Target="/ppt/media/image.png" Id="Rf2855a167db64d78" /><Relationship Type="http://schemas.openxmlformats.org/officeDocument/2006/relationships/image" Target="/ppt/media/image2.png" Id="R3076e4893f154a2b" /><Relationship Type="http://schemas.openxmlformats.org/officeDocument/2006/relationships/image" Target="/ppt/media/image3.png" Id="R147803f31a804b54" /><Relationship Type="http://schemas.openxmlformats.org/officeDocument/2006/relationships/image" Target="/ppt/media/image4.png" Id="R096edda5111d4030" /><Relationship Type="http://schemas.openxmlformats.org/officeDocument/2006/relationships/image" Target="/ppt/media/image5.png" Id="R2a8eb65f14dd4842" /><Relationship Type="http://schemas.openxmlformats.org/officeDocument/2006/relationships/chart" Target="/ppt/slides/charts/chart1.xml" Id="R38377e7d32274783" /><Relationship Type="http://schemas.openxmlformats.org/officeDocument/2006/relationships/chart" Target="/ppt/slides/charts/chart2.xml" Id="R835246912a3241be" /><Relationship Type="http://schemas.openxmlformats.org/officeDocument/2006/relationships/image" Target="/ppt/media/image6.png" Id="R72b3a48ae2234148" /><Relationship Type="http://schemas.openxmlformats.org/officeDocument/2006/relationships/image" Target="/ppt/media/image7.png" Id="R539ddc06c0514bce" /><Relationship Type="http://schemas.openxmlformats.org/officeDocument/2006/relationships/image" Target="/ppt/media/image8.png" Id="R0b9e83e752264899" /><Relationship Type="http://schemas.openxmlformats.org/officeDocument/2006/relationships/chart" Target="/ppt/slides/charts/chart3.xml" Id="R97c7caa430284c91" /><Relationship Type="http://schemas.openxmlformats.org/officeDocument/2006/relationships/chart" Target="/ppt/slides/charts/chart4.xml" Id="Rb5e61dab6f59488b" /><Relationship Type="http://schemas.openxmlformats.org/officeDocument/2006/relationships/image" Target="/ppt/media/image9.png" Id="R66cd16f91312489b" /><Relationship Type="http://schemas.openxmlformats.org/officeDocument/2006/relationships/notesSlide" Target="/ppt/notesSlides/notesSlide1.xml" Id="R3dd0b0b22edd4a4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Sparse-low</c:v>
          </c:tx>
          <c:spPr>
            <a:solidFill xmlns:a="http://schemas.openxmlformats.org/drawingml/2006/main">
              <a:srgbClr val="A5B4C0"/>
            </a:solidFill>
          </c:spPr>
          <c:cat>
            <c:strRef>
              <c:f>'Chart Data'!$A$2:$A$5</c:f>
              <c:strCache>
                <c:ptCount val="4"/>
                <c:pt idx="0">
                  <c:v>PMC</c:v>
                </c:pt>
                <c:pt idx="1">
                  <c:v>CRAFT</c:v>
                </c:pt>
                <c:pt idx="2">
                  <c:v>UltraChat</c:v>
                </c:pt>
                <c:pt idx="3">
                  <c:v>NuminaMath</c:v>
                </c:pt>
              </c:strCache>
            </c:strRef>
          </c:cat>
          <c:val>
            <c:numRef>
              <c:f>'Chart Data'!$B$2:$B$5</c:f>
              <c:numCache>
                <c:formatCode>0</c:formatCode>
                <c:ptCount val="4"/>
                <c:pt idx="0">
                  <c:v>12.5</c:v>
                </c:pt>
                <c:pt idx="1">
                  <c:v>11.2</c:v>
                </c:pt>
                <c:pt idx="2">
                  <c:v>3.6</c:v>
                </c:pt>
                <c:pt idx="3">
                  <c:v>3</c:v>
                </c:pt>
              </c:numCache>
            </c:numRef>
          </c:val>
        </c:ser>
        <c:ser>
          <c:idx val="1"/>
          <c:order val="1"/>
          <c:tx>
            <c:v>Dense-low</c:v>
          </c:tx>
          <c:spPr>
            <a:solidFill xmlns:a="http://schemas.openxmlformats.org/drawingml/2006/main">
              <a:srgbClr val="A92C48"/>
            </a:solidFill>
          </c:spPr>
          <c:cat>
            <c:strRef>
              <c:f>'Chart Data'!$C$2:$C$5</c:f>
              <c:strCache>
                <c:ptCount val="4"/>
                <c:pt idx="0">
                  <c:v>PMC</c:v>
                </c:pt>
                <c:pt idx="1">
                  <c:v>CRAFT</c:v>
                </c:pt>
                <c:pt idx="2">
                  <c:v>UltraChat</c:v>
                </c:pt>
                <c:pt idx="3">
                  <c:v>NuminaMath</c:v>
                </c:pt>
              </c:strCache>
            </c:strRef>
          </c:cat>
          <c:val>
            <c:numRef>
              <c:f>'Chart Data'!$D$2:$D$5</c:f>
              <c:numCache>
                <c:formatCode>0</c:formatCode>
                <c:ptCount val="4"/>
                <c:pt idx="0">
                  <c:v>60.9</c:v>
                </c:pt>
                <c:pt idx="1">
                  <c:v>63.8</c:v>
                </c:pt>
                <c:pt idx="2">
                  <c:v>4.1</c:v>
                </c:pt>
                <c:pt idx="3">
                  <c:v>3.2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crossAx val="48672768"/>
        <c:lblOffset val="80"/>
      </c:catAx>
      <c:valAx>
        <c:axId val="48672768"/>
        <c:scaling>
          <c:orientation val="minMax"/>
          <c:max val="80"/>
          <c:min val="0"/>
        </c:scaling>
        <c:delete val="0"/>
        <c:axPos val="l"/>
        <c:majorGridlines>
          <c:spPr>
            <a:ln xmlns:a="http://schemas.openxmlformats.org/drawingml/2006/main" w="9525">
              <a:solidFill>
                <a:srgbClr val="CAD5E1"/>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00">
                <a:solidFill>
                  <a:srgbClr val="344854"/>
                </a:solidFill>
                <a:latin typeface="Arial"/>
                <a:ea typeface="Arial"/>
                <a:cs typeface="Arial"/>
              </a:defRPr>
            </a:pPr>
          </a:p>
        </c:txPr>
        <c:crossAx val="48650112"/>
        <c:crossBetween val="between"/>
        <c:majorUnit val="2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Accuracy</c:v>
          </c:tx>
          <c:spPr>
            <a:solidFill xmlns:a="http://schemas.openxmlformats.org/drawingml/2006/main">
              <a:srgbClr val="0054B8"/>
            </a:solidFill>
          </c:spPr>
          <c:cat>
            <c:strRef>
              <c:f>'Chart Data'!$A$2:$A$6</c:f>
              <c:strCache>
                <c:ptCount val="5"/>
                <c:pt idx="0">
                  <c:v>SFT</c:v>
                </c:pt>
                <c:pt idx="1">
                  <c:v>Random</c:v>
                </c:pt>
                <c:pt idx="2">
                  <c:v>Sparse-low</c:v>
                </c:pt>
                <c:pt idx="3">
                  <c:v>Dense-low</c:v>
                </c:pt>
                <c:pt idx="4">
                  <c:v>Full BFT</c:v>
                </c:pt>
              </c:strCache>
            </c:strRef>
          </c:cat>
          <c:val>
            <c:numRef>
              <c:f>'Chart Data'!$B$2:$B$6</c:f>
              <c:numCache>
                <c:formatCode>0.0</c:formatCode>
                <c:ptCount val="5"/>
                <c:pt idx="0">
                  <c:v>0.562</c:v>
                </c:pt>
                <c:pt idx="1">
                  <c:v>0.571</c:v>
                </c:pt>
                <c:pt idx="2">
                  <c:v>0.508</c:v>
                </c:pt>
                <c:pt idx="3">
                  <c:v>0.674</c:v>
                </c:pt>
                <c:pt idx="4">
                  <c:v>0.696</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crossAx val="48672768"/>
        <c:lblOffset val="80"/>
      </c:catAx>
      <c:valAx>
        <c:axId val="48672768"/>
        <c:scaling>
          <c:orientation val="minMax"/>
          <c:max val="0.8"/>
          <c:min val="0"/>
        </c:scaling>
        <c:delete val="0"/>
        <c:axPos val="l"/>
        <c:majorGridlines>
          <c:spPr>
            <a:ln xmlns:a="http://schemas.openxmlformats.org/drawingml/2006/main" w="9525">
              <a:solidFill>
                <a:srgbClr val="CAD5E1"/>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00">
                <a:solidFill>
                  <a:srgbClr val="344854"/>
                </a:solidFill>
                <a:latin typeface="Arial"/>
                <a:ea typeface="Arial"/>
                <a:cs typeface="Arial"/>
              </a:defRPr>
            </a:pPr>
          </a:p>
        </c:txPr>
        <c:crossAx val="48650112"/>
        <c:crossBetween val="between"/>
        <c:majorUnit val="0.2"/>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Before GRPO</c:v>
          </c:tx>
          <c:spPr>
            <a:solidFill xmlns:a="http://schemas.openxmlformats.org/drawingml/2006/main">
              <a:srgbClr val="A5B4C0"/>
            </a:solidFill>
          </c:spPr>
          <c:cat>
            <c:strRef>
              <c:f>'Chart Data'!$A$2:$A$6</c:f>
              <c:strCache>
                <c:ptCount val="5"/>
                <c:pt idx="0">
                  <c:v>DFT</c:v>
                </c:pt>
                <c:pt idx="1">
                  <c:v>SFT</c:v>
                </c:pt>
                <c:pt idx="2">
                  <c:v>BFT-sample</c:v>
                </c:pt>
                <c:pt idx="3">
                  <c:v>BFT-token</c:v>
                </c:pt>
                <c:pt idx="4">
                  <c:v>BFT</c:v>
                </c:pt>
              </c:strCache>
            </c:strRef>
          </c:cat>
          <c:val>
            <c:numRef>
              <c:f>'Chart Data'!$B$2:$B$6</c:f>
              <c:numCache>
                <c:formatCode>0.0</c:formatCode>
                <c:ptCount val="5"/>
                <c:pt idx="0">
                  <c:v>0.49</c:v>
                </c:pt>
                <c:pt idx="1">
                  <c:v>0.562</c:v>
                </c:pt>
                <c:pt idx="2">
                  <c:v>0.596</c:v>
                </c:pt>
                <c:pt idx="3">
                  <c:v>0.66</c:v>
                </c:pt>
                <c:pt idx="4">
                  <c:v>0.696</c:v>
                </c:pt>
              </c:numCache>
            </c:numRef>
          </c:val>
        </c:ser>
        <c:ser>
          <c:idx val="1"/>
          <c:order val="1"/>
          <c:tx>
            <c:v>After GRPO</c:v>
          </c:tx>
          <c:spPr>
            <a:solidFill xmlns:a="http://schemas.openxmlformats.org/drawingml/2006/main">
              <a:srgbClr val="0054B8"/>
            </a:solidFill>
          </c:spPr>
          <c:cat>
            <c:strRef>
              <c:f>'Chart Data'!$C$2:$C$6</c:f>
              <c:strCache>
                <c:ptCount val="5"/>
                <c:pt idx="0">
                  <c:v>DFT</c:v>
                </c:pt>
                <c:pt idx="1">
                  <c:v>SFT</c:v>
                </c:pt>
                <c:pt idx="2">
                  <c:v>BFT-sample</c:v>
                </c:pt>
                <c:pt idx="3">
                  <c:v>BFT-token</c:v>
                </c:pt>
                <c:pt idx="4">
                  <c:v>BFT</c:v>
                </c:pt>
              </c:strCache>
            </c:strRef>
          </c:cat>
          <c:val>
            <c:numRef>
              <c:f>'Chart Data'!$D$2:$D$6</c:f>
              <c:numCache>
                <c:formatCode>0.0</c:formatCode>
                <c:ptCount val="5"/>
                <c:pt idx="0">
                  <c:v>0.42</c:v>
                </c:pt>
                <c:pt idx="1">
                  <c:v>0.486</c:v>
                </c:pt>
                <c:pt idx="2">
                  <c:v>0.624</c:v>
                </c:pt>
                <c:pt idx="3">
                  <c:v>0.694</c:v>
                </c:pt>
                <c:pt idx="4">
                  <c:v>0.736</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crossAx val="48672768"/>
        <c:lblOffset val="80"/>
      </c:catAx>
      <c:valAx>
        <c:axId val="48672768"/>
        <c:scaling>
          <c:orientation val="minMax"/>
          <c:max val="0.8"/>
          <c:min val="0"/>
        </c:scaling>
        <c:delete val="0"/>
        <c:axPos val="l"/>
        <c:majorGridlines>
          <c:spPr>
            <a:ln xmlns:a="http://schemas.openxmlformats.org/drawingml/2006/main" w="9525">
              <a:solidFill>
                <a:srgbClr val="CAD5E1"/>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00">
                <a:solidFill>
                  <a:srgbClr val="344854"/>
                </a:solidFill>
                <a:latin typeface="Arial"/>
                <a:ea typeface="Arial"/>
                <a:cs typeface="Arial"/>
              </a:defRPr>
            </a:pPr>
          </a:p>
        </c:txPr>
        <c:crossAx val="48650112"/>
        <c:crossBetween val="between"/>
        <c:majorUnit val="0.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GenePT</c:v>
          </c:tx>
          <c:spPr>
            <a:solidFill xmlns:a="http://schemas.openxmlformats.org/drawingml/2006/main">
              <a:srgbClr val="A5B4C0"/>
            </a:solidFill>
          </c:spPr>
          <c:cat>
            <c:strRef>
              <c:f>'Chart Data'!$A$2:$A$7</c:f>
              <c:strCache>
                <c:ptCount val="6"/>
                <c:pt idx="0">
                  <c:v>TF range</c:v>
                </c:pt>
                <c:pt idx="1">
                  <c:v>Dosage</c:v>
                </c:pt>
                <c:pt idx="2">
                  <c:v>No-methy</c:v>
                </c:pt>
                <c:pt idx="3">
                  <c:v>Lys4</c:v>
                </c:pt>
                <c:pt idx="4">
                  <c:v>GGI</c:v>
                </c:pt>
                <c:pt idx="5">
                  <c:v>PPI</c:v>
                </c:pt>
              </c:strCache>
            </c:strRef>
          </c:cat>
          <c:val>
            <c:numRef>
              <c:f>'Chart Data'!$B$2:$B$7</c:f>
              <c:numCache>
                <c:formatCode>0.0</c:formatCode>
                <c:ptCount val="6"/>
                <c:pt idx="0">
                  <c:v>0.585</c:v>
                </c:pt>
                <c:pt idx="1">
                  <c:v>0.891</c:v>
                </c:pt>
                <c:pt idx="2">
                  <c:v>0.91</c:v>
                </c:pt>
                <c:pt idx="3">
                  <c:v>0.939</c:v>
                </c:pt>
                <c:pt idx="4">
                  <c:v>0.806</c:v>
                </c:pt>
                <c:pt idx="5">
                  <c:v>0.681</c:v>
                </c:pt>
              </c:numCache>
            </c:numRef>
          </c:val>
        </c:ser>
        <c:ser>
          <c:idx val="1"/>
          <c:order val="1"/>
          <c:tx>
            <c:v>BFT</c:v>
          </c:tx>
          <c:spPr>
            <a:solidFill xmlns:a="http://schemas.openxmlformats.org/drawingml/2006/main">
              <a:srgbClr val="0054B8"/>
            </a:solidFill>
          </c:spPr>
          <c:cat>
            <c:strRef>
              <c:f>'Chart Data'!$C$2:$C$7</c:f>
              <c:strCache>
                <c:ptCount val="6"/>
                <c:pt idx="0">
                  <c:v>TF range</c:v>
                </c:pt>
                <c:pt idx="1">
                  <c:v>Dosage</c:v>
                </c:pt>
                <c:pt idx="2">
                  <c:v>No-methy</c:v>
                </c:pt>
                <c:pt idx="3">
                  <c:v>Lys4</c:v>
                </c:pt>
                <c:pt idx="4">
                  <c:v>GGI</c:v>
                </c:pt>
                <c:pt idx="5">
                  <c:v>PPI</c:v>
                </c:pt>
              </c:strCache>
            </c:strRef>
          </c:cat>
          <c:val>
            <c:numRef>
              <c:f>'Chart Data'!$D$2:$D$7</c:f>
              <c:numCache>
                <c:formatCode>0.0</c:formatCode>
                <c:ptCount val="6"/>
                <c:pt idx="0">
                  <c:v>0.629</c:v>
                </c:pt>
                <c:pt idx="1">
                  <c:v>0.913</c:v>
                </c:pt>
                <c:pt idx="2">
                  <c:v>0.927</c:v>
                </c:pt>
                <c:pt idx="3">
                  <c:v>0.91</c:v>
                </c:pt>
                <c:pt idx="4">
                  <c:v>0.823</c:v>
                </c:pt>
                <c:pt idx="5">
                  <c:v>0.769</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crossAx val="48672768"/>
        <c:lblOffset val="80"/>
      </c:catAx>
      <c:valAx>
        <c:axId val="48672768"/>
        <c:scaling>
          <c:orientation val="minMax"/>
          <c:max val="1"/>
          <c:min val="0"/>
        </c:scaling>
        <c:delete val="0"/>
        <c:axPos val="l"/>
        <c:majorGridlines>
          <c:spPr>
            <a:ln xmlns:a="http://schemas.openxmlformats.org/drawingml/2006/main" w="9525">
              <a:solidFill>
                <a:srgbClr val="CAD5E1"/>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00">
                <a:solidFill>
                  <a:srgbClr val="344854"/>
                </a:solidFill>
                <a:latin typeface="Arial"/>
                <a:ea typeface="Arial"/>
                <a:cs typeface="Arial"/>
              </a:defRPr>
            </a:pPr>
          </a:p>
        </c:txPr>
        <c:crossAx val="48650112"/>
        <c:crossBetween val="between"/>
        <c:majorUnit val="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344854"/>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openxmlformats.org/drawingml/2006/chart" xmlns:ns5="http://schemas.microsoft.com/office/powerpoint/2010/main">
  <ns0:cSld>
    <ns0:spTree>
      <ns0:nvGrpSpPr>
        <ns0:cNvPr id="1" name=""/>
        <ns0:cNvGrpSpPr/>
        <ns0:nvPr/>
      </ns0:nvGrpSpPr>
      <ns0:grpSpPr>
        <ns1:xfrm/>
      </ns0:grpSpPr>
      <ns0:sp>
        <ns0:nvSpPr>
          <ns0:cNvPr id="30" name="TextBox 35">
            <ns1:extLst>
              <ns1:ext uri="{FF2B5EF4-FFF2-40B4-BE49-F238E27FC236}">
                <ns2:creationId id="{DB84F73E-22CB-46AA-B2B8-6AD77718214A}"/>
              </ns1:ext>
            </ns1:extLst>
          </ns0:cNvPr>
          <ns0:cNvSpPr>
            <ns1:spLocks noGrp="1"/>
          </ns0:cNvSpPr>
          <ns0:nvPr/>
        </ns0:nvSpPr>
        <ns0:spPr>
          <ns1:xfrm>
            <ns1:off x="666750" y="257175"/>
            <ns1:ext cx="25336500" cy="1767840"/>
          </ns1:xfrm>
          <ns1:prstGeom prst="rect">
            <ns1:avLst/>
          </ns1:prstGeom>
          <ns1:noFill/>
          <ns1:ln w="0">
            <ns1:noFill/>
          </ns1:ln>
        </ns0:spPr>
        <ns0:txBody>
          <ns1:bodyPr wrap="square" lIns="0" tIns="0" rIns="0" bIns="0" anchor="t">
            <ns1:noAutofit/>
          </ns1:bodyPr>
          <ns1:lstStyle>
            <ns1:defPPr algn="l">
              <ns1:defRPr sz="5500" b="1">
                <ns1:solidFill>
                  <ns1:srgbClr val="183B66"/>
                </ns1:solidFill>
                <ns1:latin typeface="Arial"/>
                <ns1:ea typeface="Arial"/>
                <ns1:cs typeface="Arial"/>
              </ns1:defRPr>
            </ns1:defPPr>
            <ns1:lvl1pPr>
              <ns1:buNone/>
              <ns1:defRPr sz="5500">
                <ns1:latin typeface="Arial"/>
                <ns1:ea typeface="Arial"/>
                <ns1:cs typeface="Arial"/>
              </ns1:defRPr>
            </ns1:lvl1pPr>
          </ns1:lstStyle>
          <ns1:p>
            <ns1:pPr algn="l">
              <ns1:defRPr sz="5500" b="1">
                <ns1:solidFill>
                  <ns1:srgbClr val="183B66"/>
                </ns1:solidFill>
                <ns1:latin typeface="Arial"/>
                <ns1:ea typeface="Arial"/>
                <ns1:cs typeface="Arial"/>
              </ns1:defRPr>
            </ns1:pPr>
            <ns1:r>
              <ns1:rPr sz="5500" b="1">
                <ns1:solidFill>
                  <ns1:srgbClr val="183B66"/>
                </ns1:solidFill>
                <ns1:latin typeface="Arial"/>
                <ns1:ea typeface="Arial"/>
                <ns1:cs typeface="Arial"/>
              </ns1:rPr>
              <ns1:t>Aligning LLMs with Biomedical Knowledge</ns1:t>
            </ns1:r>
          </ns1:p>
          <ns1:p>
            <ns1:pPr algn="l">
              <ns1:defRPr sz="5500" b="1">
                <ns1:solidFill>
                  <ns1:srgbClr val="183B66"/>
                </ns1:solidFill>
                <ns1:latin typeface="Arial"/>
                <ns1:ea typeface="Arial"/>
                <ns1:cs typeface="Arial"/>
              </ns1:defRPr>
            </ns1:pPr>
            <ns1:r>
              <ns1:rPr sz="5500" b="1">
                <ns1:solidFill>
                  <ns1:srgbClr val="183B66"/>
                </ns1:solidFill>
                <ns1:latin typeface="Arial"/>
                <ns1:ea typeface="Arial"/>
                <ns1:cs typeface="Arial"/>
              </ns1:rPr>
              <ns1:t>using Balanced Fine-Tuning</ns1:t>
            </ns1:r>
          </ns1:p>
        </ns0:txBody>
      </ns0:sp>
      <ns0:sp>
        <ns0:nvSpPr>
          <ns0:cNvPr id="33" name="TextBox 38">
            <ns1:extLst>
              <ns1:ext uri="{FF2B5EF4-FFF2-40B4-BE49-F238E27FC236}">
                <ns2:creationId id="{C0306BFB-4783-46BB-89AA-026A2D66E59C}"/>
              </ns1:ext>
            </ns1:extLst>
          </ns0:cNvPr>
          <ns0:cNvSpPr>
            <ns1:spLocks noGrp="1"/>
          </ns0:cNvSpPr>
          <ns0:nvPr/>
        </ns0:nvSpPr>
        <ns0:spPr>
          <ns1:xfrm>
            <ns1:off x="666750" y="3905250"/>
            <ns1:ext cx="10172700" cy="609600"/>
          </ns1:xfrm>
          <ns1:prstGeom prst="rect">
            <ns1:avLst/>
          </ns1:prstGeom>
          <ns1:solidFill>
            <ns1:srgbClr val="183B66"/>
          </ns1:solidFill>
          <ns1:ln w="0">
            <ns1:noFill/>
          </ns1:ln>
        </ns0:spPr>
        <ns0:txBody>
          <ns1:bodyPr wrap="square" lIns="171450" tIns="38100" rIns="114300" bIns="38100" anchor="ctr">
            <ns1:noAutofit/>
          </ns1:bodyPr>
          <ns1:lstStyle>
            <ns1:defPPr algn="l">
              <ns1:defRPr sz="3400" b="1">
                <ns1:solidFill>
                  <ns1:srgbClr val="FFFFFF"/>
                </ns1:solidFill>
                <ns1:latin typeface="Arial"/>
                <ns1:ea typeface="Arial"/>
                <ns1:cs typeface="Arial"/>
              </ns1:defRPr>
            </ns1:defPPr>
            <ns1:lvl1pPr>
              <ns1:buNone/>
              <ns1:defRPr sz="3400">
                <ns1:latin typeface="Arial"/>
                <ns1:ea typeface="Arial"/>
                <ns1:cs typeface="Arial"/>
              </ns1:defRPr>
            </ns1:lvl1pPr>
          </ns1:lstStyle>
          <ns1:p>
            <ns1:pPr algn="l">
              <ns1:defRPr sz="3400" b="1">
                <ns1:solidFill>
                  <ns1:srgbClr val="FFFFFF"/>
                </ns1:solidFill>
                <ns1:latin typeface="Arial"/>
                <ns1:ea typeface="Arial"/>
                <ns1:cs typeface="Arial"/>
              </ns1:defRPr>
            </ns1:pPr>
            <ns1:r>
              <ns1:rPr sz="3400" b="1">
                <ns1:solidFill>
                  <ns1:srgbClr val="FFFFFF"/>
                </ns1:solidFill>
                <ns1:latin typeface="Arial"/>
                <ns1:ea typeface="Arial"/>
                <ns1:cs typeface="Arial"/>
              </ns1:rPr>
              <ns1:t>1  Problem &amp; challenges</ns1:t>
            </ns1:r>
          </ns1:p>
        </ns0:txBody>
      </ns0:sp>
      <ns0:sp>
        <ns0:nvSpPr>
          <ns0:cNvPr id="34" name="TextBox 39">
            <ns1:extLst>
              <ns1:ext uri="{FF2B5EF4-FFF2-40B4-BE49-F238E27FC236}">
                <ns2:creationId id="{B99D40B3-EABB-4799-ABAB-1E7C1D48543D}"/>
              </ns1:ext>
            </ns1:extLst>
          </ns0:cNvPr>
          <ns0:cNvSpPr>
            <ns1:spLocks noGrp="1"/>
          </ns0:cNvSpPr>
          <ns0:nvPr/>
        </ns0:nvSpPr>
        <ns0:spPr>
          <ns1:xfrm>
            <ns1:off x="666750" y="4667250"/>
            <ns1:ext cx="10172700" cy="1627632"/>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vl1pPr>
              <ns1:lnSpc>
                <ns1:spcPct val="120000"/>
              </ns1:lnSpc>
              <ns1:buNone/>
              <ns1:defRPr sz="2100">
                <ns1:solidFill>
                  <ns1:srgbClr val="344854"/>
                </ns1:solidFill>
                <ns1:latin typeface="Arial"/>
                <ns1:ea typeface="Arial"/>
                <ns1:cs typeface="Arial"/>
              </ns1:defRPr>
            </ns1:lvl1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Biomedical alignment must retain rare entities and mechanistic reasoning under limited supervision. DFT weights token losses by absolute confidence, which can suppress entire difficult regions. Sparse outcome rewards further make a useful supervised initialization essential.</ns1:t>
            </ns1:r>
          </ns1:p>
        </ns0:txBody>
      </ns0:sp>
      <ns0:sp>
        <ns0:nvSpPr>
          <ns0:cNvPr id="37" name="TextBox 43">
            <ns1:extLst>
              <ns1:ext uri="{FF2B5EF4-FFF2-40B4-BE49-F238E27FC236}">
                <ns2:creationId id="{093A6B13-A1B7-4D1A-BA82-72B1DB9FCD29}"/>
              </ns1:ext>
            </ns1:extLst>
          </ns0:cNvPr>
          <ns0:cNvSpPr>
            <ns1:spLocks noGrp="1"/>
          </ns0:cNvSpPr>
          <ns0:nvPr/>
        </ns0:nvSpPr>
        <ns0:spPr>
          <ns1:xfrm>
            <ns1:off x="11372850" y="3905250"/>
            <ns1:ext cx="10172700" cy="609600"/>
          </ns1:xfrm>
          <ns1:prstGeom prst="rect">
            <ns1:avLst/>
          </ns1:prstGeom>
          <ns1:solidFill>
            <ns1:srgbClr val="183B66"/>
          </ns1:solidFill>
          <ns1:ln w="0">
            <ns1:noFill/>
          </ns1:ln>
        </ns0:spPr>
        <ns0:txBody>
          <ns1:bodyPr wrap="square" lIns="171450" tIns="38100" rIns="114300" bIns="38100" anchor="ctr">
            <ns1:noAutofit/>
          </ns1:bodyPr>
          <ns1:lstStyle>
            <ns1:defPPr algn="l">
              <ns1:defRPr sz="3400" b="1">
                <ns1:solidFill>
                  <ns1:srgbClr val="FFFFFF"/>
                </ns1:solidFill>
                <ns1:latin typeface="Arial"/>
                <ns1:ea typeface="Arial"/>
                <ns1:cs typeface="Arial"/>
              </ns1:defRPr>
            </ns1:defPPr>
            <ns1:lvl1pPr>
              <ns1:buNone/>
              <ns1:defRPr sz="3400">
                <ns1:latin typeface="Arial"/>
                <ns1:ea typeface="Arial"/>
                <ns1:cs typeface="Arial"/>
              </ns1:defRPr>
            </ns1:lvl1pPr>
          </ns1:lstStyle>
          <ns1:p>
            <ns1:pPr algn="l">
              <ns1:defRPr sz="3400" b="1">
                <ns1:solidFill>
                  <ns1:srgbClr val="FFFFFF"/>
                </ns1:solidFill>
                <ns1:latin typeface="Arial"/>
                <ns1:ea typeface="Arial"/>
                <ns1:cs typeface="Arial"/>
              </ns1:defRPr>
            </ns1:pPr>
            <ns1:r>
              <ns1:rPr sz="3400" b="1">
                <ns1:solidFill>
                  <ns1:srgbClr val="FFFFFF"/>
                </ns1:solidFill>
                <ns1:latin typeface="Arial"/>
                <ns1:ea typeface="Arial"/>
                <ns1:cs typeface="Arial"/>
              </ns1:rPr>
              <ns1:t>3  Method: Balanced Fine-Tuning</ns1:t>
            </ns1:r>
          </ns1:p>
        </ns0:txBody>
      </ns0:sp>
      <ns0:sp>
        <ns0:nvSpPr>
          <ns0:cNvPr id="38" name="TextBox 44">
            <ns1:extLst>
              <ns1:ext uri="{FF2B5EF4-FFF2-40B4-BE49-F238E27FC236}">
                <ns2:creationId id="{37DAB24E-D082-4153-9E2E-22D820A014FA}"/>
              </ns1:ext>
            </ns1:extLst>
          </ns0:cNvPr>
          <ns0:cNvSpPr>
            <ns1:spLocks noGrp="1"/>
          </ns0:cNvSpPr>
          <ns0:nvPr/>
        </ns0:nvSpPr>
        <ns0:spPr>
          <ns1:xfrm>
            <ns1:off x="11372850" y="4667250"/>
            <ns1:ext cx="10172700" cy="73152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vl1pPr>
              <ns1:buNone/>
              <ns1:defRPr sz="2100">
                <ns1:latin typeface="Arial"/>
                <ns1:ea typeface="Arial"/>
                <ns1:cs typeface="Arial"/>
              </ns1:defRPr>
            </ns1:lvl1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BFT computes each target probability c and its centered-window mean Cˡᵒᶜ. Relative difficulty sets token weights. The weakest local region sets the sample weight.</ns1:t>
            </ns1:r>
          </ns1:p>
        </ns0:txBody>
      </ns0:sp>
      <ns0:sp>
        <ns0:nvSpPr>
          <ns0:cNvPr id="39" name="TextBox 45">
            <ns1:extLst>
              <ns1:ext uri="{FF2B5EF4-FFF2-40B4-BE49-F238E27FC236}">
                <ns2:creationId id="{57DCE913-7E5F-4727-8BCD-A4DF78B28D94}"/>
              </ns1:ext>
            </ns1:extLst>
          </ns0:cNvPr>
          <ns0:cNvSpPr>
            <ns1:spLocks noGrp="1"/>
          </ns0:cNvSpPr>
          <ns0:nvPr/>
        </ns0:nvSpPr>
        <ns0:spPr>
          <ns1:xfrm>
            <ns1:off x="666750" y="19335750"/>
            <ns1:ext cx="10172700" cy="609600"/>
          </ns1:xfrm>
          <ns1:prstGeom prst="rect">
            <ns1:avLst/>
          </ns1:prstGeom>
          <ns1:solidFill>
            <ns1:srgbClr val="183B66"/>
          </ns1:solidFill>
          <ns1:ln w="0">
            <ns1:noFill/>
          </ns1:ln>
        </ns0:spPr>
        <ns0:txBody>
          <ns1:bodyPr wrap="square" lIns="171450" tIns="38100" rIns="114300" bIns="38100" anchor="ctr">
            <ns1:noAutofit/>
          </ns1:bodyPr>
          <ns1:lstStyle>
            <ns1:defPPr algn="l">
              <ns1:defRPr sz="3400" b="1">
                <ns1:solidFill>
                  <ns1:srgbClr val="FFFFFF"/>
                </ns1:solidFill>
                <ns1:latin typeface="Arial"/>
                <ns1:ea typeface="Arial"/>
                <ns1:cs typeface="Arial"/>
              </ns1:defRPr>
            </ns1:defPPr>
            <ns1:lvl1pPr>
              <ns1:buNone/>
              <ns1:defRPr sz="3400">
                <ns1:latin typeface="Arial"/>
                <ns1:ea typeface="Arial"/>
                <ns1:cs typeface="Arial"/>
              </ns1:defRPr>
            </ns1:lvl1pPr>
          </ns1:lstStyle>
          <ns1:p>
            <ns1:pPr algn="l">
              <ns1:defRPr sz="3400" b="1">
                <ns1:solidFill>
                  <ns1:srgbClr val="FFFFFF"/>
                </ns1:solidFill>
                <ns1:latin typeface="Arial"/>
                <ns1:ea typeface="Arial"/>
                <ns1:cs typeface="Arial"/>
              </ns1:defRPr>
            </ns1:pPr>
            <ns1:r>
              <ns1:rPr sz="3400" b="1">
                <ns1:solidFill>
                  <ns1:srgbClr val="FFFFFF"/>
                </ns1:solidFill>
                <ns1:latin typeface="Arial"/>
                <ns1:ea typeface="Arial"/>
                <ns1:cs typeface="Arial"/>
              </ns1:rPr>
              <ns1:t>2  Motivation</ns1:t>
            </ns1:r>
          </ns1:p>
        </ns0:txBody>
      </ns0:sp>
      <ns0:sp>
        <ns0:nvSpPr>
          <ns0:cNvPr id="40" name="TextBox 46">
            <ns1:extLst>
              <ns1:ext uri="{FF2B5EF4-FFF2-40B4-BE49-F238E27FC236}">
                <ns2:creationId id="{A2E0FDA6-D2FB-43A9-A6E7-17EE286347F1}"/>
              </ns1:ext>
            </ns1:extLst>
          </ns0:cNvPr>
          <ns0:cNvSpPr>
            <ns1:spLocks noGrp="1"/>
          </ns0:cNvSpPr>
          <ns0:nvPr/>
        </ns0:nvSpPr>
        <ns0:spPr>
          <ns1:xfrm>
            <ns1:off x="666750" y="20097750"/>
            <ns1:ext cx="10172700" cy="137160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vl1pPr>
              <ns1:buNone/>
              <ns1:defRPr sz="2100">
                <ns1:latin typeface="Arial"/>
                <ns1:ea typeface="Arial"/>
                <ns1:cs typeface="Arial"/>
              </ns1:defRPr>
            </ns1:lvl1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A token’s local context should determine how much learning signal it retains. Difficult biomedical runs need stronger token signals, and responses containing those runs need more training budget. BFT implements these complementary decisions with one shared local-confidence window.</ns1:t>
            </ns1:r>
          </ns1:p>
        </ns0:txBody>
      </ns0:sp>
      <ns0:sp>
        <ns0:nvSpPr>
          <ns0:cNvPr id="42" name="TextBox 51">
            <ns1:extLst>
              <ns1:ext uri="{FF2B5EF4-FFF2-40B4-BE49-F238E27FC236}">
                <ns2:creationId id="{DB9F6B51-618F-4483-8C46-C65815DCABDA}"/>
              </ns1:ext>
            </ns1:extLst>
          </ns0:cNvPr>
          <ns0:cNvSpPr>
            <ns1:spLocks noGrp="1"/>
          </ns0:cNvSpPr>
          <ns0:nvPr/>
        </ns0:nvSpPr>
        <ns0:spPr>
          <ns1:xfrm>
            <ns1:off x="22078950" y="3905250"/>
            <ns1:ext cx="10172700" cy="609600"/>
          </ns1:xfrm>
          <ns1:prstGeom prst="rect">
            <ns1:avLst/>
          </ns1:prstGeom>
          <ns1:solidFill>
            <ns1:srgbClr val="183B66"/>
          </ns1:solidFill>
          <ns1:ln w="0">
            <ns1:noFill/>
          </ns1:ln>
        </ns0:spPr>
        <ns0:txBody>
          <ns1:bodyPr wrap="square" lIns="171450" tIns="38100" rIns="114300" bIns="38100" anchor="ctr">
            <ns1:noAutofit/>
          </ns1:bodyPr>
          <ns1:lstStyle>
            <ns1:defPPr algn="l">
              <ns1:defRPr sz="3400" b="1">
                <ns1:solidFill>
                  <ns1:srgbClr val="FFFFFF"/>
                </ns1:solidFill>
                <ns1:latin typeface="Arial"/>
                <ns1:ea typeface="Arial"/>
                <ns1:cs typeface="Arial"/>
              </ns1:defRPr>
            </ns1:defPPr>
            <ns1:lvl1pPr>
              <ns1:buNone/>
              <ns1:defRPr sz="3400">
                <ns1:latin typeface="Arial"/>
                <ns1:ea typeface="Arial"/>
                <ns1:cs typeface="Arial"/>
              </ns1:defRPr>
            </ns1:lvl1pPr>
          </ns1:lstStyle>
          <ns1:p>
            <ns1:pPr algn="l">
              <ns1:defRPr sz="3400" b="1">
                <ns1:solidFill>
                  <ns1:srgbClr val="FFFFFF"/>
                </ns1:solidFill>
                <ns1:latin typeface="Arial"/>
                <ns1:ea typeface="Arial"/>
                <ns1:cs typeface="Arial"/>
              </ns1:defRPr>
            </ns1:pPr>
            <ns1:r>
              <ns1:rPr sz="3400" b="1">
                <ns1:solidFill>
                  <ns1:srgbClr val="FFFFFF"/>
                </ns1:solidFill>
                <ns1:latin typeface="Arial"/>
                <ns1:ea typeface="Arial"/>
                <ns1:cs typeface="Arial"/>
              </ns1:rPr>
              <ns1:t>4  Experimental results</ns1:t>
            </ns1:r>
          </ns1:p>
        </ns0:txBody>
      </ns0:sp>
      <ns0:sp>
        <ns0:nvSpPr>
          <ns0:cNvPr id="43" name="TextBox 52">
            <ns1:extLst>
              <ns1:ext uri="{FF2B5EF4-FFF2-40B4-BE49-F238E27FC236}">
                <ns2:creationId id="{0F582E87-6F0E-4B2F-A0CE-8916D95614CF}"/>
              </ns1:ext>
            </ns1:extLst>
          </ns0:cNvPr>
          <ns0:cNvSpPr>
            <ns1:spLocks noGrp="1"/>
          </ns0:cNvSpPr>
          <ns0:nvPr/>
        </ns0:nvSpPr>
        <ns0:spPr>
          <ns1:xfrm>
            <ns1:off x="22078950" y="4667250"/>
            <ns1:ext cx="10172700" cy="73152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vl1pPr>
              <ns1:buNone/>
              <ns1:defRPr sz="2100">
                <ns1:latin typeface="Arial"/>
                <ns1:ea typeface="Arial"/>
                <ns1:cs typeface="Arial"/>
              </ns1:defRPr>
            </ns1:lvl1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Matched SFT / DFT / BFT backbones and token-only / sample-only ablations. Agent pipelines stay fixed while the language-model backbone changes.</ns1:t>
            </ns1:r>
          </ns1:p>
        </ns0:txBody>
      </ns0:sp>
      <ns0:sp>
        <ns0:nvSpPr>
          <ns0:cNvPr id="50" name="TextBox 37">
            <ns1:extLst>
              <ns1:ext uri="{FF2B5EF4-FFF2-40B4-BE49-F238E27FC236}">
                <ns2:creationId id="{6EB468D7-1504-439A-92BD-000F57E72D50}"/>
              </ns1:ext>
            </ns1:extLst>
          </ns0:cNvPr>
          <ns0:cNvSpPr>
            <ns1:spLocks noGrp="1"/>
          </ns0:cNvSpPr>
          <ns0:nvPr/>
        </ns0:nvSpPr>
        <ns0:spPr>
          <ns1:xfrm>
            <ns1:off x="666750" y="2076450"/>
            <ns1:ext cx="25431750" cy="475488"/>
          </ns1:xfrm>
          <ns1:prstGeom prst="rect">
            <ns1:avLst/>
          </ns1:prstGeom>
          <ns1:noFill/>
          <ns1:ln w="0">
            <ns1:noFill/>
          </ns1:ln>
        </ns0:spPr>
        <ns0:txBody>
          <ns1:bodyPr wrap="square" lIns="0" tIns="0" rIns="0" bIns="0" anchor="t">
            <ns1:noAutofit/>
          </ns1:bodyPr>
          <ns1:lstStyle>
            <ns1:defPPr algn="l">
              <ns1:defRPr sz="2100" b="0">
                <ns1:solidFill>
                  <ns1:srgbClr val="000000"/>
                </ns1:solidFill>
                <ns1:latin typeface="Arial"/>
                <ns1:ea typeface="Arial"/>
                <ns1:cs typeface="Arial"/>
              </ns1:defRPr>
            </ns1:defPPr>
          </ns1:lstStyle>
          <ns1:p>
            <ns1:pPr algn="l">
              <ns1:lnSpc>
                <ns1:spcPct val="120000"/>
              </ns1:lnSpc>
              <ns1:spcBef>
                <ns1:spcPts val="1000"/>
              </ns1:spcBef>
              <ns1:buNone/>
              <ns1:defRPr sz="2100" b="0">
                <ns1:solidFill>
                  <ns1:srgbClr val="000000"/>
                </ns1:solidFill>
                <ns1:latin typeface="Arial"/>
                <ns1:ea typeface="Arial"/>
                <ns1:cs typeface="Arial"/>
              </ns1:defRPr>
            </ns1:pPr>
            <ns1:r>
              <ns1:rPr sz="2100" b="0">
                <ns1:solidFill>
                  <ns1:srgbClr val="000000"/>
                </ns1:solidFill>
                <ns1:latin typeface="Arial"/>
                <ns1:ea typeface="Arial"/>
                <ns1:cs typeface="Arial"/>
              </ns1:rPr>
              <ns1:t>Zhenchao Tang*¹, Fang Wang*†¹, Haohuai He¹, Jiale Zhou¹, Tianxu Lv¹, Jun Zhu¹, Shouzhi Chen¹, Minghao Yang¹,</ns1:t>
            </ns1:r>
          </ns1:p>
        </ns0:txBody>
      </ns0:sp>
      <ns0:pic>
        <ns0:nvPicPr>
          <ns0:cNvPr id="54" name="neurips_logo.pdf">
            <ns1:extLst>
              <ns1:ext uri="{FF2B5EF4-FFF2-40B4-BE49-F238E27FC236}">
                <ns2:creationId id="{31BB7462-624A-4913-A971-3D10770571B5}"/>
              </ns1:ext>
            </ns1:extLst>
          </ns0:cNvPr>
          <ns0:cNvPicPr>
            <ns1:picLocks noChangeAspect="1"/>
          </ns0:cNvPicPr>
          <ns0:nvPr/>
        </ns0:nvPicPr>
        <ns0:blipFill>
          <ns1:blip ns3:embed="Rf2855a167db64d78"/>
          <ns1:stretch>
            <ns1:fillRect l="0" t="0" r="0" b="0"/>
          </ns1:stretch>
        </ns0:blipFill>
        <ns0:spPr>
          <ns1:xfrm>
            <ns1:off x="27336750" y="238125"/>
            <ns1:ext cx="4857750" cy="2190750"/>
          </ns1:xfrm>
          <ns1:prstGeom prst="rect">
            <ns1:avLst/>
          </ns1:prstGeom>
          <ns1:ln w="12700">
            <ns1:miter/>
          </ns1:ln>
        </ns0:spPr>
      </ns0:pic>
      <ns0:sp>
        <ns0:nvSpPr>
          <ns0:cNvPr id="55" name="Authors line two">
            <ns1:extLst>
              <ns1:ext uri="{FF2B5EF4-FFF2-40B4-BE49-F238E27FC236}">
                <ns2:creationId id="{FB2BC3E0-D5BB-452A-AACA-F704E1633A4B}"/>
              </ns1:ext>
            </ns1:extLst>
          </ns0:cNvPr>
          <ns0:cNvSpPr>
            <ns1:spLocks noGrp="1"/>
          </ns0:cNvSpPr>
          <ns0:nvPr/>
        </ns0:nvSpPr>
        <ns0:spPr>
          <ns1:xfrm>
            <ns1:off x="666750" y="2486025"/>
            <ns1:ext cx="25431750" cy="361950"/>
          </ns1:xfrm>
          <ns1:prstGeom prst="rect">
            <ns1:avLst/>
          </ns1:prstGeom>
          <ns1:noFill/>
          <ns1:ln w="0">
            <ns1:noFill/>
          </ns1:ln>
        </ns0:spPr>
        <ns0:txBody>
          <ns1:bodyPr wrap="square" lIns="0" tIns="0" rIns="0" bIns="0" anchor="t">
            <ns1:noAutofit/>
          </ns1:bodyPr>
          <ns1:lstStyle>
            <ns1:defPPr algn="l">
              <ns1:defRPr sz="2100" b="0">
                <ns1:solidFill>
                  <ns1:srgbClr val="000000"/>
                </ns1:solidFill>
                <ns1:latin typeface="Arial"/>
                <ns1:ea typeface="Arial"/>
                <ns1:cs typeface="Arial"/>
              </ns1:defRPr>
            </ns1:defPPr>
          </ns1:lstStyle>
          <ns1:p>
            <ns1:pPr algn="l">
              <ns1:defRPr sz="2100" b="0">
                <ns1:solidFill>
                  <ns1:srgbClr val="000000"/>
                </ns1:solidFill>
                <ns1:latin typeface="Arial"/>
                <ns1:ea typeface="Arial"/>
                <ns1:cs typeface="Arial"/>
              </ns1:defRPr>
            </ns1:pPr>
            <ns1:r>
              <ns1:rPr sz="2100" b="0">
                <ns1:solidFill>
                  <ns1:srgbClr val="000000"/>
                </ns1:solidFill>
                <ns1:latin typeface="Arial"/>
                <ns1:ea typeface="Arial"/>
                <ns1:cs typeface="Arial"/>
              </ns1:rPr>
              <ns1:t>Yu Wang¹, Jiayang Wu¹, Yidong Song², Yaokun Li³, Jiehui Huang⁴, Jun Zhou⁵, Bing He¹, Jianhua Yao†¹</ns1:t>
            </ns1:r>
          </ns1:p>
        </ns0:txBody>
      </ns0:sp>
      <ns0:sp>
        <ns0:nvSpPr>
          <ns0:cNvPr id="56" name="Affiliations">
            <ns1:extLst>
              <ns1:ext uri="{FF2B5EF4-FFF2-40B4-BE49-F238E27FC236}">
                <ns2:creationId id="{47788A6F-B4AE-4073-9413-8EFF99454B08}"/>
              </ns1:ext>
            </ns1:extLst>
          </ns0:cNvPr>
          <ns0:cNvSpPr>
            <ns1:spLocks noGrp="1"/>
          </ns0:cNvSpPr>
          <ns0:nvPr/>
        </ns0:nvSpPr>
        <ns0:spPr>
          <ns1:xfrm>
            <ns1:off x="666750" y="2905125"/>
            <ns1:ext cx="25431750" cy="704850"/>
          </ns1:xfrm>
          <ns1:prstGeom prst="rect">
            <ns1:avLst/>
          </ns1:prstGeom>
          <ns1:noFill/>
          <ns1:ln w="0">
            <ns1:noFill/>
          </ns1:ln>
        </ns0:spPr>
        <ns0:txBody>
          <ns1:bodyPr wrap="square" lIns="0" tIns="0" rIns="0" bIns="0" anchor="t">
            <ns1:noAutofit/>
          </ns1:bodyPr>
          <ns1:lstStyle>
            <ns1:defPPr algn="l">
              <ns1:defRPr sz="1600" b="0">
                <ns1:solidFill>
                  <ns1:srgbClr val="344854"/>
                </ns1:solidFill>
                <ns1:latin typeface="Arial"/>
                <ns1:ea typeface="Arial"/>
                <ns1:cs typeface="Arial"/>
              </ns1:defRPr>
            </ns1:defPPr>
          </ns1:lstStyle>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¹Tencent AI for Life Sciences Lab  ²Nankai University  ³Sun Yat-sen University</ns1:t>
            </ns1:r>
          </ns1:p>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⁴The Hong Kong University of Science and Technology  ⁵Tsinghua University</ns1:t>
            </ns1:r>
          </ns1:p>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*Equal contribution  †Correspondence: avonwanghit@gmail.com, jianhua.yao@gmail.com</ns1:t>
            </ns1:r>
          </ns1:p>
        </ns0:txBody>
      </ns0:sp>
      <ns0:pic>
        <ns0:nvPicPr>
          <ns0:cNvPr id="57" name="">
            <ns1:extLst>
              <ns1:ext uri="{FF2B5EF4-FFF2-40B4-BE49-F238E27FC236}">
                <ns2:creationId id="{6273D988-76D2-42B9-B178-6A654E3230A0}"/>
              </ns1:ext>
            </ns1:extLst>
          </ns0:cNvPr>
          <ns0:cNvPicPr>
            <ns1:picLocks noChangeAspect="1"/>
          </ns0:cNvPicPr>
          <ns0:nvPr/>
        </ns0:nvPicPr>
        <ns0:blipFill>
          <ns1:blip ns3:embed="R3076e4893f154a2b"/>
          <ns1:stretch/>
        </ns0:blipFill>
        <ns0:spPr>
          <ns1:xfrm>
            <ns1:off x="26480320" y="2514600"/>
            <ns1:ext cx="1760486" cy="723900"/>
          </ns1:xfrm>
          <ns1:prstGeom prst="rect">
            <ns1:avLst/>
          </ns1:prstGeom>
        </ns0:spPr>
      </ns0:pic>
      <ns0:pic>
        <ns0:nvPicPr>
          <ns0:cNvPr id="58" name="">
            <ns1:extLst>
              <ns1:ext uri="{FF2B5EF4-FFF2-40B4-BE49-F238E27FC236}">
                <ns2:creationId id="{53B1A36E-59BA-4B4A-9CAF-4D5ED248469E}"/>
              </ns1:ext>
            </ns1:extLst>
          </ns0:cNvPr>
          <ns0:cNvPicPr>
            <ns1:picLocks noChangeAspect="1"/>
          </ns0:cNvPicPr>
          <ns0:nvPr/>
        </ns0:nvPicPr>
        <ns0:blipFill>
          <ns1:blip ns3:embed="R147803f31a804b54"/>
          <ns1:stretch/>
        </ns0:blipFill>
        <ns0:spPr>
          <ns1:xfrm>
            <ns1:off x="28336875" y="2514985"/>
            <ns1:ext cx="2476500" cy="875530"/>
          </ns1:xfrm>
          <ns1:prstGeom prst="rect">
            <ns1:avLst/>
          </ns1:prstGeom>
        </ns0:spPr>
      </ns0:pic>
      <ns0:pic>
        <ns0:nvPicPr>
          <ns0:cNvPr id="59" name="">
            <ns1:extLst>
              <ns1:ext uri="{FF2B5EF4-FFF2-40B4-BE49-F238E27FC236}">
                <ns2:creationId id="{64ABCC8E-4691-4C06-9209-79271B479E9A}"/>
              </ns1:ext>
            </ns1:extLst>
          </ns0:cNvPr>
          <ns0:cNvPicPr>
            <ns1:picLocks noChangeAspect="1"/>
          </ns0:cNvPicPr>
          <ns0:nvPr/>
        </ns0:nvPicPr>
        <ns0:blipFill>
          <ns1:blip ns3:embed="R096edda5111d4030"/>
          <ns1:stretch/>
        </ns0:blipFill>
        <ns0:spPr>
          <ns1:xfrm>
            <ns1:off x="30956250" y="2514600"/>
            <ns1:ext cx="1238250" cy="1238250"/>
          </ns1:xfrm>
          <ns1:prstGeom prst="rect">
            <ns1:avLst/>
          </ns1:prstGeom>
        </ns0:spPr>
      </ns0:pic>
      <ns0:sp>
        <ns0:nvSpPr>
          <ns0:cNvPr id="60" name="Header links">
            <ns1:extLst>
              <ns1:ext uri="{FF2B5EF4-FFF2-40B4-BE49-F238E27FC236}">
                <ns2:creationId id="{13496E7A-B5AC-4F75-AB9F-9BB5AE999DC5}"/>
              </ns1:ext>
            </ns1:extLst>
          </ns0:cNvPr>
          <ns0:cNvSpPr>
            <ns1:spLocks noGrp="1"/>
          </ns0:cNvSpPr>
          <ns0:nvPr/>
        </ns0:nvSpPr>
        <ns0:spPr>
          <ns1:xfrm>
            <ns1:off x="26479500" y="3429000"/>
            <ns1:ext cx="4381500" cy="400050"/>
          </ns1:xfrm>
          <ns1:prstGeom prst="rect">
            <ns1:avLst/>
          </ns1:prstGeom>
          <ns1:noFill/>
          <ns1:ln w="0">
            <ns1:noFill/>
          </ns1:ln>
        </ns0:spPr>
        <ns0:txBody>
          <ns1:bodyPr wrap="square" lIns="0" tIns="0" rIns="0" bIns="0" anchor="t">
            <ns1:noAutofit/>
          </ns1:bodyPr>
          <ns1:lstStyle>
            <ns1:defPPr algn="l">
              <ns1:defRPr sz="1300" b="0">
                <ns1:solidFill>
                  <ns1:srgbClr val="344854"/>
                </ns1:solidFill>
                <ns1:latin typeface="Arial"/>
                <ns1:ea typeface="Arial"/>
                <ns1:cs typeface="Arial"/>
              </ns1:defRPr>
            </ns1:defPPr>
          </ns1:lstStyle>
          <ns1:p>
            <ns1:pPr algn="l">
              <ns1:defRPr sz="1300" b="0">
                <ns1:solidFill>
                  <ns1:srgbClr val="344854"/>
                </ns1:solidFill>
                <ns1:latin typeface="Arial"/>
                <ns1:ea typeface="Arial"/>
                <ns1:cs typeface="Arial"/>
              </ns1:defRPr>
            </ns1:pPr>
            <ns1:r>
              <ns1:rPr sz="1300" b="0">
                <ns1:solidFill>
                  <ns1:srgbClr val="344854"/>
                </ns1:solidFill>
                <ns1:latin typeface="Arial"/>
                <ns1:ea typeface="Arial"/>
                <ns1:cs typeface="Arial"/>
              </ns1:rPr>
              <ns1:t>NeurIPS 2026   arxiv.org/abs/2511.21075</ns1:t>
            </ns1:r>
          </ns1:p>
          <ns1:p>
            <ns1:pPr algn="l">
              <ns1:defRPr sz="1300" b="0">
                <ns1:solidFill>
                  <ns1:srgbClr val="344854"/>
                </ns1:solidFill>
                <ns1:latin typeface="Arial"/>
                <ns1:ea typeface="Arial"/>
                <ns1:cs typeface="Arial"/>
              </ns1:defRPr>
            </ns1:pPr>
            <ns1:r>
              <ns1:rPr sz="1300" b="0">
                <ns1:solidFill>
                  <ns1:srgbClr val="344854"/>
                </ns1:solidFill>
                <ns1:latin typeface="Arial"/>
                <ns1:ea typeface="Arial"/>
                <ns1:cs typeface="Arial"/>
              </ns1:rPr>
              <ns1:t>Project and code: shapsider.github.io/BFT</ns1:t>
            </ns1:r>
          </ns1:p>
        </ns0:txBody>
      </ns0:sp>
      <ns0:sp>
        <ns0:nvSpPr>
          <ns0:cNvPr id="61" name="Observation heading">
            <ns1:extLst>
              <ns1:ext uri="{FF2B5EF4-FFF2-40B4-BE49-F238E27FC236}">
                <ns2:creationId id="{7B3A9756-BFCC-4B1C-BB7F-AF8796348359}"/>
              </ns1:ext>
            </ns1:extLst>
          </ns0:cNvPr>
          <ns0:cNvSpPr>
            <ns1:spLocks noGrp="1"/>
          </ns0:cNvSpPr>
          <ns0:nvPr/>
        </ns0:nvSpPr>
        <ns0:spPr>
          <ns1:xfrm>
            <ns1:off x="666750" y="6334125"/>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Observation: uncertainty has local structure</ns1:t>
            </ns1:r>
          </ns1:p>
        </ns0:txBody>
      </ns0:sp>
      <ns0:sp>
        <ns0:nvSpPr>
          <ns0:cNvPr id="62" name="Diagnostic setup">
            <ns1:extLst>
              <ns1:ext uri="{FF2B5EF4-FFF2-40B4-BE49-F238E27FC236}">
                <ns2:creationId id="{965E95B1-AA68-459B-8B45-815099E905D7}"/>
              </ns1:ext>
            </ns1:extLst>
          </ns0:cNvPr>
          <ns0:cNvSpPr>
            <ns1:spLocks noGrp="1"/>
          </ns0:cNvSpPr>
          <ns0:nvPr/>
        </ns0:nvSpPr>
        <ns0:spPr>
          <ns1:xfrm>
            <ns1:off x="666750" y="6858000"/>
            <ns1:ext cx="10172700" cy="38100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Teacher-forced PMC responses, base 70B model, g = 256</ns1:t>
            </ns1:r>
          </ns1:p>
        </ns0:txBody>
      </ns0:sp>
      <ns0:pic>
        <ns0:nvPicPr>
          <ns0:cNvPr id="63" name="">
            <ns1:extLst>
              <ns1:ext uri="{FF2B5EF4-FFF2-40B4-BE49-F238E27FC236}">
                <ns2:creationId id="{61A438B3-8BAD-4BCF-A158-07347DF88465}"/>
              </ns1:ext>
            </ns1:extLst>
          </ns0:cNvPr>
          <ns0:cNvPicPr>
            <ns1:picLocks noChangeAspect="1"/>
          </ns0:cNvPicPr>
          <ns0:nvPr/>
        </ns0:nvPicPr>
        <ns0:blipFill>
          <ns1:blip ns3:embed="R2a8eb65f14dd4842"/>
          <ns1:stretch/>
        </ns0:blipFill>
        <ns0:spPr>
          <ns1:xfrm>
            <ns1:off x="666750" y="7383353"/>
            <ns1:ext cx="10172700" cy="2664044"/>
          </ns1:xfrm>
          <ns1:prstGeom prst="rect">
            <ns1:avLst/>
          </ns1:prstGeom>
        </ns0:spPr>
      </ns0:pic>
      <ns0:sp>
        <ns0:nvSpPr>
          <ns0:cNvPr id="64" name="Entity chart title">
            <ns1:extLst>
              <ns1:ext uri="{FF2B5EF4-FFF2-40B4-BE49-F238E27FC236}">
                <ns2:creationId id="{9E13E025-9217-407C-979D-6F8DB7F504A9}"/>
              </ns1:ext>
            </ns1:extLst>
          </ns0:cNvPr>
          <ns0:cNvSpPr>
            <ns1:spLocks noGrp="1"/>
          </ns0:cNvSpPr>
          <ns0:nvPr/>
        </ns0:nvSpPr>
        <ns0:spPr>
          <ns1:xfrm>
            <ns1:off x="666750" y="10191750"/>
            <ns1:ext cx="10172700" cy="381000"/>
          </ns1:xfrm>
          <ns1:prstGeom prst="rect">
            <ns1:avLst/>
          </ns1:prstGeom>
          <ns1:noFill/>
          <ns1:ln w="0">
            <ns1:noFill/>
          </ns1:ln>
        </ns0:spPr>
        <ns0:txBody>
          <ns1:bodyPr wrap="square" lIns="0" tIns="0" rIns="0" bIns="0" anchor="t">
            <ns1:noAutofit/>
          </ns1:bodyPr>
          <ns1:lstStyle>
            <ns1:defPPr algn="l">
              <ns1:defRPr sz="2100" b="0">
                <ns1:solidFill>
                  <ns1:srgbClr val="000000"/>
                </ns1:solidFill>
                <ns1:latin typeface="Arial"/>
                <ns1:ea typeface="Arial"/>
                <ns1:cs typeface="Arial"/>
              </ns1:defRPr>
            </ns1:defPPr>
          </ns1:lstStyle>
          <ns1:p>
            <ns1:pPr algn="l">
              <ns1:defRPr sz="2100" b="0">
                <ns1:solidFill>
                  <ns1:srgbClr val="000000"/>
                </ns1:solidFill>
                <ns1:latin typeface="Arial"/>
                <ns1:ea typeface="Arial"/>
                <ns1:cs typeface="Arial"/>
              </ns1:defRPr>
            </ns1:pPr>
            <ns1:r>
              <ns1:rPr sz="2100" b="0">
                <ns1:solidFill>
                  <ns1:srgbClr val="000000"/>
                </ns1:solidFill>
                <ns1:latin typeface="Arial"/>
                <ns1:ea typeface="Arial"/>
                <ns1:cs typeface="Arial"/>
              </ns1:rPr>
              <ns1:t>Share of biomedical entities / expert concept spans (%)</ns1:t>
            </ns1:r>
          </ns1:p>
        </ns0:txBody>
      </ns0:sp>
      <ns0:graphicFrame>
        <ns0:nvGraphicFramePr>
          <ns0:cNvPr id="65" name="Chart">
            <ns1:extLst>
              <ns1:ext uri="{FF2B5EF4-FFF2-40B4-BE49-F238E27FC236}">
                <ns2:creationId id="{4FA051C4-8DE5-41E5-9AE5-FAE1B39A886E}"/>
              </ns1:ext>
            </ns1:extLst>
          </ns0:cNvPr>
          <ns0:cNvGraphicFramePr/>
          <ns0:nvPr/>
        </ns0:nvGraphicFramePr>
        <ns0:xfrm>
          <ns1:off x="666750" y="10715625"/>
          <ns1:ext cx="10172700" cy="2857500"/>
        </ns0:xfrm>
        <ns1:graphic>
          <ns1:graphicData uri="http://schemas.openxmlformats.org/drawingml/2006/chart">
            <ns4:chart ns3:id="R38377e7d32274783"/>
          </ns1:graphicData>
        </ns1:graphic>
      </ns0:graphicFrame>
      <ns0:sp>
        <ns0:nvSpPr>
          <ns0:cNvPr id="66" name="Observation conclusion">
            <ns1:extLst>
              <ns1:ext uri="{FF2B5EF4-FFF2-40B4-BE49-F238E27FC236}">
                <ns2:creationId id="{C1C9C252-3F7E-4F87-9841-2502A7174D7E}"/>
              </ns1:ext>
            </ns1:extLst>
          </ns0:cNvPr>
          <ns0:cNvSpPr>
            <ns1:spLocks noGrp="1"/>
          </ns0:cNvSpPr>
          <ns0:nvPr/>
        </ns0:nvSpPr>
        <ns0:spPr>
          <ns1:xfrm>
            <ns1:off x="666750" y="13668375"/>
            <ns1:ext cx="10172700" cy="781050"/>
          </ns1:xfrm>
          <ns1:prstGeom prst="rect">
            <ns1:avLst/>
          </ns1:prstGeom>
          <ns1:noFill/>
          <ns1:ln w="0">
            <ns1:noFill/>
          </ns1:ln>
        </ns0:spPr>
        <ns0:txBody>
          <ns1:bodyPr wrap="square" lIns="0" tIns="0" rIns="0" bIns="0" anchor="t">
            <ns1:noAutofit/>
          </ns1:bodyPr>
          <ns1:lstStyle>
            <ns1:defPPr algn="l">
              <ns1:defRPr sz="1600" b="0">
                <ns1:solidFill>
                  <ns1:srgbClr val="344854"/>
                </ns1:solidFill>
                <ns1:latin typeface="Arial"/>
                <ns1:ea typeface="Arial"/>
                <ns1:cs typeface="Arial"/>
              </ns1:defRPr>
            </ns1:defPPr>
          </ns1:lstStyle>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Dense biomedical runs are enriched for concepts. CRAFT uses expert annotations, while general-domain controls show little entity enrichment. This supports a knowledge-gap interpretation without directly labeling epistemic uncertainty.</ns1:t>
            </ns1:r>
          </ns1:p>
        </ns0:txBody>
      </ns0:sp>
      <ns0:sp>
        <ns0:nvSpPr>
          <ns0:cNvPr id="67" name="Retention heading">
            <ns1:extLst>
              <ns1:ext uri="{FF2B5EF4-FFF2-40B4-BE49-F238E27FC236}">
                <ns2:creationId id="{D0B1738E-213F-4B42-8F4D-57159EB1C891}"/>
              </ns1:ext>
            </ns1:extLst>
          </ns0:cNvPr>
          <ns0:cNvSpPr>
            <ns1:spLocks noGrp="1"/>
          </ns0:cNvSpPr>
          <ns0:nvPr/>
        </ns0:nvSpPr>
        <ns0:spPr>
          <ns1:xfrm>
            <ns1:off x="666750" y="14620875"/>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Retention control: selected regions matter</ns1:t>
            </ns1:r>
          </ns1:p>
        </ns0:txBody>
      </ns0:sp>
      <ns0:sp>
        <ns0:nvSpPr>
          <ns0:cNvPr id="68" name="Retention setup">
            <ns1:extLst>
              <ns1:ext uri="{FF2B5EF4-FFF2-40B4-BE49-F238E27FC236}">
                <ns2:creationId id="{78F4C3BE-0830-47CE-A177-D0BD1F912AC1}"/>
              </ns1:ext>
            </ns1:extLst>
          </ns0:cNvPr>
          <ns0:cNvSpPr>
            <ns1:spLocks noGrp="1"/>
          </ns0:cNvSpPr>
          <ns0:nvPr/>
        </ns0:nvSpPr>
        <ns0:spPr>
          <ns1:xfrm>
            <ns1:off x="666750" y="15144750"/>
            <ns1:ext cx="10172700" cy="38100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VCWorld accuracy, 70B, same supervised training recipe</ns1:t>
            </ns1:r>
          </ns1:p>
        </ns0:txBody>
      </ns0:sp>
      <ns0:graphicFrame>
        <ns0:nvGraphicFramePr>
          <ns0:cNvPr id="69" name="Chart">
            <ns1:extLst>
              <ns1:ext uri="{FF2B5EF4-FFF2-40B4-BE49-F238E27FC236}">
                <ns2:creationId id="{B3AF1752-505C-4CD3-B797-C1FCEAB61946}"/>
              </ns1:ext>
            </ns1:extLst>
          </ns0:cNvPr>
          <ns0:cNvGraphicFramePr/>
          <ns0:nvPr/>
        </ns0:nvGraphicFramePr>
        <ns0:xfrm>
          <ns1:off x="666750" y="15621000"/>
          <ns1:ext cx="10172700" cy="2714625"/>
        </ns0:xfrm>
        <ns1:graphic>
          <ns1:graphicData uri="http://schemas.openxmlformats.org/drawingml/2006/chart">
            <ns4:chart ns3:id="R835246912a3241be"/>
          </ns1:graphicData>
        </ns1:graphic>
      </ns0:graphicFrame>
      <ns0:sp>
        <ns0:nvSpPr>
          <ns0:cNvPr id="70" name="Retention conclusion">
            <ns1:extLst>
              <ns1:ext uri="{FF2B5EF4-FFF2-40B4-BE49-F238E27FC236}">
                <ns2:creationId id="{0E7B1D2A-36EF-47FE-913B-E6075A876368}"/>
              </ns1:ext>
            </ns1:extLst>
          </ns0:cNvPr>
          <ns0:cNvSpPr>
            <ns1:spLocks noGrp="1"/>
          </ns0:cNvSpPr>
          <ns0:nvPr/>
        </ns0:nvSpPr>
        <ns0:spPr>
          <ns1:xfrm>
            <ns1:off x="666750" y="18430875"/>
            <ns1:ext cx="10172700" cy="742950"/>
          </ns1:xfrm>
          <ns1:prstGeom prst="rect">
            <ns1:avLst/>
          </ns1:prstGeom>
          <ns1:noFill/>
          <ns1:ln w="0">
            <ns1:noFill/>
          </ns1:ln>
        </ns0:spPr>
        <ns0:txBody>
          <ns1:bodyPr wrap="square" lIns="0" tIns="0" rIns="0" bIns="0" anchor="t">
            <ns1:noAutofit/>
          </ns1:bodyPr>
          <ns1:lstStyle>
            <ns1:defPPr algn="l">
              <ns1:defRPr sz="1600" b="0">
                <ns1:solidFill>
                  <ns1:srgbClr val="344854"/>
                </ns1:solidFill>
                <ns1:latin typeface="Arial"/>
                <ns1:ea typeface="Arial"/>
                <ns1:cs typeface="Arial"/>
              </ns1:defRPr>
            </ns1:defPPr>
          </ns1:lstStyle>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Random retention matches the dense-window token budget. Dense-only retention reaches 0.674 vs 0.571 for random selection. Full BFT replaces discrete masks with continuous weights.</ns1:t>
            </ns1:r>
          </ns1:p>
        </ns0:txBody>
      </ns0:sp>
      <ns0:pic>
        <ns0:nvPicPr>
          <ns0:cNvPr id="71" name="">
            <ns1:extLst>
              <ns1:ext uri="{FF2B5EF4-FFF2-40B4-BE49-F238E27FC236}">
                <ns2:creationId id="{0621B24E-BC56-4B11-B56A-33D2F93383E3}"/>
              </ns1:ext>
            </ns1:extLst>
          </ns0:cNvPr>
          <ns0:cNvPicPr>
            <ns1:picLocks noChangeAspect="1"/>
          </ns0:cNvPicPr>
          <ns0:nvPr/>
        </ns0:nvPicPr>
        <ns0:blipFill>
          <ns1:blip ns3:embed="R72b3a48ae2234148"/>
          <ns1:stretch/>
        </ns0:blipFill>
        <ns0:spPr>
          <ns1:xfrm>
            <ns1:off x="11372850" y="5573882"/>
            <ns1:ext cx="10172700" cy="3777910"/>
          </ns1:xfrm>
          <ns1:prstGeom prst="rect">
            <ns1:avLst/>
          </ns1:prstGeom>
        </ns0:spPr>
      </ns0:pic>
      <ns0:sp>
        <ns0:nvSpPr>
          <ns0:cNvPr id="72" name="Token heading">
            <ns1:extLst>
              <ns1:ext uri="{FF2B5EF4-FFF2-40B4-BE49-F238E27FC236}">
                <ns2:creationId id="{6919852B-1ACF-466B-9262-CAD4BDD70924}"/>
              </ns1:ext>
            </ns1:extLst>
          </ns0:cNvPr>
          <ns0:cNvSpPr>
            <ns1:spLocks noGrp="1"/>
          </ns0:cNvSpPr>
          <ns0:nvPr/>
        </ns0:nvSpPr>
        <ns0:spPr>
          <ns1:xfrm>
            <ns1:off x="11372850" y="9477375"/>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Token level: normalize by local confidence</ns1:t>
            </ns1:r>
          </ns1:p>
        </ns0:txBody>
      </ns0:sp>
      <ns0:sp>
        <ns0:nvSpPr>
          <ns0:cNvPr id="73" name="Token equation">
            <ns1:extLst>
              <ns1:ext uri="{FF2B5EF4-FFF2-40B4-BE49-F238E27FC236}">
                <ns2:creationId id="{32CB3D3F-0FD6-40DC-B1FD-F284DDF589AA}"/>
              </ns1:ext>
            </ns1:extLst>
          </ns0:cNvPr>
          <ns0:cNvSpPr>
            <ns1:spLocks noGrp="1"/>
          </ns0:cNvSpPr>
          <ns0:nvPr/>
        </ns0:nvSpPr>
        <ns0:spPr>
          <ns1:xfrm>
            <ns1:off x="11372850" y="10001250"/>
            <ns1:ext cx="10172700" cy="561975"/>
          </ns1:xfrm>
          <ns1:prstGeom prst="rect">
            <ns1:avLst/>
          </ns1:prstGeom>
          <ns1:noFill/>
          <ns1:ln w="0">
            <ns1:noFill/>
          </ns1:ln>
        </ns0:spPr>
        <ns0:txBody>
          <ns1:bodyPr wrap="square" lIns="0" tIns="0" rIns="0" bIns="0" anchor="t">
            <ns1:noAutofit/>
          </ns1:bodyPr>
          <ns1:lstStyle>
            <ns1:defPPr algn="l">
              <ns1:defRPr sz="2600" b="0">
                <ns1:solidFill>
                  <ns1:srgbClr val="0054B8"/>
                </ns1:solidFill>
                <ns1:latin typeface="Arial"/>
                <ns1:ea typeface="Arial"/>
                <ns1:cs typeface="Arial"/>
              </ns1:defRPr>
            </ns1:defPPr>
          </ns1:lstStyle>
          <ns1:p>
            <ns1:pPr algn="l">
              <ns1:defRPr sz="2600" b="0">
                <ns1:solidFill>
                  <ns1:srgbClr val="0054B8"/>
                </ns1:solidFill>
                <ns1:latin typeface="Arial"/>
                <ns1:ea typeface="Arial"/>
                <ns1:cs typeface="Arial"/>
              </ns1:defRPr>
            </ns1:pPr>
            <ns1:r>
              <ns1:rPr sz="2600" b="0">
                <ns1:solidFill>
                  <ns1:srgbClr val="0054B8"/>
                </ns1:solidFill>
                <ns1:latin typeface="Arial"/>
                <ns1:ea typeface="Arial"/>
                <ns1:cs typeface="Arial"/>
              </ns1:rPr>
              <ns1:t>ρ</ns1:t>
            </ns1:r>
            <ns1:r>
              <ns1:rPr sz="1950" b="0" baseline="-25000">
                <ns1:solidFill>
                  <ns1:srgbClr val="0054B8"/>
                </ns1:solidFill>
                <ns1:latin typeface="Arial"/>
                <ns1:ea typeface="Arial"/>
                <ns1:cs typeface="Arial"/>
              </ns1:rPr>
              <ns1:t>b</ns1:t>
            </ns1:r>
            <ns1:r>
              <ns1:rPr sz="2600" b="0">
                <ns1:solidFill>
                  <ns1:srgbClr val="0054B8"/>
                </ns1:solidFill>
                <ns1:latin typeface="Arial"/>
                <ns1:ea typeface="Arial"/>
                <ns1:cs typeface="Arial"/>
              </ns1:rPr>
              <ns1:t>,ₜ = clip(c</ns1:t>
            </ns1:r>
            <ns1:r>
              <ns1:rPr sz="1950" b="0" baseline="-25000">
                <ns1:solidFill>
                  <ns1:srgbClr val="0054B8"/>
                </ns1:solidFill>
                <ns1:latin typeface="Arial"/>
                <ns1:ea typeface="Arial"/>
                <ns1:cs typeface="Arial"/>
              </ns1:rPr>
              <ns1:t>b</ns1:t>
            </ns1:r>
            <ns1:r>
              <ns1:rPr sz="2600" b="0">
                <ns1:solidFill>
                  <ns1:srgbClr val="0054B8"/>
                </ns1:solidFill>
                <ns1:latin typeface="Arial"/>
                <ns1:ea typeface="Arial"/>
                <ns1:cs typeface="Arial"/>
              </ns1:rPr>
              <ns1:t>,ₜ / (C</ns1:t>
            </ns1:r>
            <ns1:r>
              <ns1:rPr sz="1950" b="0" baseline="-25000">
                <ns1:solidFill>
                  <ns1:srgbClr val="0054B8"/>
                </ns1:solidFill>
                <ns1:latin typeface="Arial"/>
                <ns1:ea typeface="Arial"/>
                <ns1:cs typeface="Arial"/>
              </ns1:rPr>
              <ns1:t>b</ns1:t>
            </ns1:r>
            <ns1:r>
              <ns1:rPr sz="2600" b="0">
                <ns1:solidFill>
                  <ns1:srgbClr val="0054B8"/>
                </ns1:solidFill>
                <ns1:latin typeface="Arial"/>
                <ns1:ea typeface="Arial"/>
                <ns1:cs typeface="Arial"/>
              </ns1:rPr>
              <ns1:t>,ₜˡᵒᶜ + ε), 0, 1)</ns1:t>
            </ns1:r>
          </ns1:p>
        </ns0:txBody>
      </ns0:sp>
      <ns0:graphicFrame>
        <ns0:nvGraphicFramePr>
          <ns0:cNvPr id="74" name="">
            <ns1:extLst>
              <ns1:ext uri="{FF2B5EF4-FFF2-40B4-BE49-F238E27FC236}">
                <ns2:creationId id="{2219F8D0-6E6C-44B3-B1B4-CDE2D7604360}"/>
              </ns1:ext>
            </ns1:extLst>
          </ns0:cNvPr>
          <ns0:cNvGraphicFramePr/>
          <ns0:nvPr/>
        </ns0:nvGraphicFramePr>
        <ns0:xfrm>
          <ns1:off x="11372850" y="10668000"/>
          <ns1:ext cx="10172700" cy="1143000"/>
        </ns0:xfrm>
        <ns1:graphic>
          <ns1:graphicData uri="http://schemas.openxmlformats.org/drawingml/2006/table">
            <ns1:tbl>
              <ns1:tblPr/>
              <ns1:tblGrid>
                <ns1:gridCol w="3143250"/>
                <ns1:gridCol w="1381125"/>
                <ns1:gridCol w="1571625"/>
                <ns1:gridCol w="2076450"/>
                <ns1:gridCol w="2000250"/>
              </ns1:tblGrid>
              <ns1:tr h="381000">
                <ns1:tc>
                  <ns1:txBody>
                    <ns1:bodyPr lIns="0" tIns="0" rIns="0" bIns="0"/>
                    <ns1:lstStyle/>
                    <ns1:p>
                      <ns1:pPr algn="l"/>
                      <ns1:r>
                        <ns1:rPr sz="2000" b="1">
                          <ns1:solidFill>
                            <ns1:srgbClr val="FFFFFF"/>
                          </ns1:solidFill>
                          <ns1:latin typeface="Arial"/>
                          <ns1:ea typeface="Arial"/>
                          <ns1:cs typeface="Arial"/>
                        </ns1:rPr>
                        <ns1:t>Context</ns1:t>
                      </ns1:r>
                    </ns1:p>
                  </ns1:txBody>
                  <ns1:tcPr marL="114300" marR="114300" marT="38100" marB="38100" anchor="ctr">
                    <ns1:solidFill>
                      <ns1:srgbClr val="183B66"/>
                    </ns1:solidFill>
                  </ns1:tcPr>
                </ns1:tc>
                <ns1:tc>
                  <ns1:txBody>
                    <ns1:bodyPr lIns="0" tIns="0" rIns="0" bIns="0"/>
                    <ns1:lstStyle/>
                    <ns1:p>
                      <ns1:pPr algn="ctr"/>
                      <ns1:r>
                        <ns1:rPr sz="2000" b="1">
                          <ns1:solidFill>
                            <ns1:srgbClr val="FFFFFF"/>
                          </ns1:solidFill>
                          <ns1:latin typeface="Arial"/>
                          <ns1:ea typeface="Arial"/>
                          <ns1:cs typeface="Arial"/>
                        </ns1:rPr>
                        <ns1:t>c</ns1:t>
                      </ns1:r>
                    </ns1:p>
                  </ns1:txBody>
                  <ns1:tcPr marL="114300" marR="114300" marT="38100" marB="38100" anchor="ctr">
                    <ns1:solidFill>
                      <ns1:srgbClr val="183B66"/>
                    </ns1:solidFill>
                  </ns1:tcPr>
                </ns1:tc>
                <ns1:tc>
                  <ns1:txBody>
                    <ns1:bodyPr lIns="0" tIns="0" rIns="0" bIns="0"/>
                    <ns1:lstStyle/>
                    <ns1:p>
                      <ns1:pPr algn="ctr"/>
                      <ns1:r>
                        <ns1:rPr sz="2000" b="1">
                          <ns1:solidFill>
                            <ns1:srgbClr val="FFFFFF"/>
                          </ns1:solidFill>
                          <ns1:latin typeface="Arial"/>
                          <ns1:ea typeface="Arial"/>
                          <ns1:cs typeface="Arial"/>
                        </ns1:rPr>
                        <ns1:t>Cˡᵒᶜ</ns1:t>
                      </ns1:r>
                    </ns1:p>
                  </ns1:txBody>
                  <ns1:tcPr marL="114300" marR="114300" marT="38100" marB="38100" anchor="ctr">
                    <ns1:solidFill>
                      <ns1:srgbClr val="183B66"/>
                    </ns1:solidFill>
                  </ns1:tcPr>
                </ns1:tc>
                <ns1:tc>
                  <ns1:txBody>
                    <ns1:bodyPr lIns="0" tIns="0" rIns="0" bIns="0"/>
                    <ns1:lstStyle/>
                    <ns1:p>
                      <ns1:pPr algn="ctr"/>
                      <ns1:r>
                        <ns1:rPr sz="2000" b="1">
                          <ns1:solidFill>
                            <ns1:srgbClr val="FFFFFF"/>
                          </ns1:solidFill>
                          <ns1:latin typeface="Arial"/>
                          <ns1:ea typeface="Arial"/>
                          <ns1:cs typeface="Arial"/>
                        </ns1:rPr>
                        <ns1:t>DFT weight</ns1:t>
                      </ns1:r>
                    </ns1:p>
                  </ns1:txBody>
                  <ns1:tcPr marL="114300" marR="114300" marT="38100" marB="38100" anchor="ctr">
                    <ns1:solidFill>
                      <ns1:srgbClr val="183B66"/>
                    </ns1:solidFill>
                  </ns1:tcPr>
                </ns1:tc>
                <ns1:tc>
                  <ns1:txBody>
                    <ns1:bodyPr lIns="0" tIns="0" rIns="0" bIns="0"/>
                    <ns1:lstStyle/>
                    <ns1:p>
                      <ns1:pPr algn="ctr"/>
                      <ns1:r>
                        <ns1:rPr sz="2000" b="1">
                          <ns1:solidFill>
                            <ns1:srgbClr val="FFFFFF"/>
                          </ns1:solidFill>
                          <ns1:latin typeface="Arial"/>
                          <ns1:ea typeface="Arial"/>
                          <ns1:cs typeface="Arial"/>
                        </ns1:rPr>
                        <ns1:t>BFT ρ</ns1:t>
                      </ns1:r>
                    </ns1:p>
                  </ns1:txBody>
                  <ns1:tcPr marL="114300" marR="114300" marT="38100" marB="38100" anchor="ctr">
                    <ns1:solidFill>
                      <ns1:srgbClr val="183B66"/>
                    </ns1:solidFill>
                  </ns1:tcPr>
                </ns1:tc>
              </ns1:tr>
              <ns1:tr h="381000">
                <ns1:tc>
                  <ns1:txBody>
                    <ns1:bodyPr lIns="0" tIns="0" rIns="0" bIns="0"/>
                    <ns1:lstStyle/>
                    <ns1:p>
                      <ns1:pPr algn="l"/>
                      <ns1:r>
                        <ns1:rPr sz="2000" b="0">
                          <ns1:solidFill>
                            <ns1:srgbClr val="344854"/>
                          </ns1:solidFill>
                          <ns1:latin typeface="Arial"/>
                          <ns1:ea typeface="Arial"/>
                          <ns1:cs typeface="Arial"/>
                        </ns1:rPr>
                        <ns1:t>Sparse-low</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0.10</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0.87</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0.10</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0.115</ns1:t>
                      </ns1:r>
                    </ns1:p>
                  </ns1:txBody>
                  <ns1:tcPr marL="114300" marR="114300" marT="38100" marB="38100" anchor="ctr">
                    <ns1:solidFill>
                      <ns1:srgbClr val="FFFFFF"/>
                    </ns1:solidFill>
                  </ns1:tcPr>
                </ns1:tc>
              </ns1:tr>
              <ns1:tr h="381000">
                <ns1:tc>
                  <ns1:txBody>
                    <ns1:bodyPr lIns="0" tIns="0" rIns="0" bIns="0"/>
                    <ns1:lstStyle/>
                    <ns1:p>
                      <ns1:pPr algn="l"/>
                      <ns1:r>
                        <ns1:rPr sz="2000" b="1">
                          <ns1:solidFill>
                            <ns1:srgbClr val="344854"/>
                          </ns1:solidFill>
                          <ns1:latin typeface="Arial"/>
                          <ns1:ea typeface="Arial"/>
                          <ns1:cs typeface="Arial"/>
                        </ns1:rPr>
                        <ns1:t>Dense-low</ns1:t>
                      </ns1:r>
                    </ns1:p>
                  </ns1:txBody>
                  <ns1:tcPr marL="114300" marR="114300" marT="38100" marB="38100" anchor="ctr">
                    <ns1:solidFill>
                      <ns1:srgbClr val="EAF1FA"/>
                    </ns1:solidFill>
                  </ns1:tcPr>
                </ns1:tc>
                <ns1:tc>
                  <ns1:txBody>
                    <ns1:bodyPr lIns="0" tIns="0" rIns="0" bIns="0"/>
                    <ns1:lstStyle/>
                    <ns1:p>
                      <ns1:pPr algn="ctr"/>
                      <ns1:r>
                        <ns1:rPr sz="2000" b="1">
                          <ns1:solidFill>
                            <ns1:srgbClr val="344854"/>
                          </ns1:solidFill>
                          <ns1:latin typeface="Arial"/>
                          <ns1:ea typeface="Arial"/>
                          <ns1:cs typeface="Arial"/>
                        </ns1:rPr>
                        <ns1:t>0.10</ns1:t>
                      </ns1:r>
                    </ns1:p>
                  </ns1:txBody>
                  <ns1:tcPr marL="114300" marR="114300" marT="38100" marB="38100" anchor="ctr">
                    <ns1:solidFill>
                      <ns1:srgbClr val="EAF1FA"/>
                    </ns1:solidFill>
                  </ns1:tcPr>
                </ns1:tc>
                <ns1:tc>
                  <ns1:txBody>
                    <ns1:bodyPr lIns="0" tIns="0" rIns="0" bIns="0"/>
                    <ns1:lstStyle/>
                    <ns1:p>
                      <ns1:pPr algn="ctr"/>
                      <ns1:r>
                        <ns1:rPr sz="2000" b="1">
                          <ns1:solidFill>
                            <ns1:srgbClr val="344854"/>
                          </ns1:solidFill>
                          <ns1:latin typeface="Arial"/>
                          <ns1:ea typeface="Arial"/>
                          <ns1:cs typeface="Arial"/>
                        </ns1:rPr>
                        <ns1:t>0.20</ns1:t>
                      </ns1:r>
                    </ns1:p>
                  </ns1:txBody>
                  <ns1:tcPr marL="114300" marR="114300" marT="38100" marB="38100" anchor="ctr">
                    <ns1:solidFill>
                      <ns1:srgbClr val="EAF1FA"/>
                    </ns1:solidFill>
                  </ns1:tcPr>
                </ns1:tc>
                <ns1:tc>
                  <ns1:txBody>
                    <ns1:bodyPr lIns="0" tIns="0" rIns="0" bIns="0"/>
                    <ns1:lstStyle/>
                    <ns1:p>
                      <ns1:pPr algn="ctr"/>
                      <ns1:r>
                        <ns1:rPr sz="2000" b="1">
                          <ns1:solidFill>
                            <ns1:srgbClr val="344854"/>
                          </ns1:solidFill>
                          <ns1:latin typeface="Arial"/>
                          <ns1:ea typeface="Arial"/>
                          <ns1:cs typeface="Arial"/>
                        </ns1:rPr>
                        <ns1:t>0.10</ns1:t>
                      </ns1:r>
                    </ns1:p>
                  </ns1:txBody>
                  <ns1:tcPr marL="114300" marR="114300" marT="38100" marB="38100" anchor="ctr">
                    <ns1:solidFill>
                      <ns1:srgbClr val="EAF1FA"/>
                    </ns1:solidFill>
                  </ns1:tcPr>
                </ns1:tc>
                <ns1:tc>
                  <ns1:txBody>
                    <ns1:bodyPr lIns="0" tIns="0" rIns="0" bIns="0"/>
                    <ns1:lstStyle/>
                    <ns1:p>
                      <ns1:pPr algn="ctr"/>
                      <ns1:r>
                        <ns1:rPr sz="2000" b="1">
                          <ns1:solidFill>
                            <ns1:srgbClr val="344854"/>
                          </ns1:solidFill>
                          <ns1:latin typeface="Arial"/>
                          <ns1:ea typeface="Arial"/>
                          <ns1:cs typeface="Arial"/>
                        </ns1:rPr>
                        <ns1:t>0.50</ns1:t>
                      </ns1:r>
                    </ns1:p>
                  </ns1:txBody>
                  <ns1:tcPr marL="114300" marR="114300" marT="38100" marB="38100" anchor="ctr">
                    <ns1:solidFill>
                      <ns1:srgbClr val="EAF1FA"/>
                    </ns1:solidFill>
                  </ns1:tcPr>
                </ns1:tc>
              </ns1:tr>
            </ns1:tbl>
          </ns1:graphicData>
        </ns1:graphic>
      </ns0:graphicFrame>
      <ns0:sp>
        <ns0:nvSpPr>
          <ns0:cNvPr id="75" name="Sample heading">
            <ns1:extLst>
              <ns1:ext uri="{FF2B5EF4-FFF2-40B4-BE49-F238E27FC236}">
                <ns2:creationId id="{3B5A1722-B95E-42DA-8590-75FE4BC2B10C}"/>
              </ns1:ext>
            </ns1:extLst>
          </ns0:cNvPr>
          <ns0:cNvSpPr>
            <ns1:spLocks noGrp="1"/>
          </ns0:cNvSpPr>
          <ns0:nvPr/>
        </ns0:nvSpPr>
        <ns0:spPr>
          <ns1:xfrm>
            <ns1:off x="11372850" y="11953875"/>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Sample level: emphasize the weakest region</ns1:t>
            </ns1:r>
          </ns1:p>
        </ns0:txBody>
      </ns0:sp>
      <ns0:sp>
        <ns0:nvSpPr>
          <ns0:cNvPr id="76" name="Sample equation">
            <ns1:extLst>
              <ns1:ext uri="{FF2B5EF4-FFF2-40B4-BE49-F238E27FC236}">
                <ns2:creationId id="{7789A667-B76C-4E1B-9D86-58A1E6A248A9}"/>
              </ns1:ext>
            </ns1:extLst>
          </ns0:cNvPr>
          <ns0:cNvSpPr>
            <ns1:spLocks noGrp="1"/>
          </ns0:cNvSpPr>
          <ns0:nvPr/>
        </ns0:nvSpPr>
        <ns0:spPr>
          <ns1:xfrm>
            <ns1:off x="11372850" y="12477750"/>
            <ns1:ext cx="10172700" cy="561975"/>
          </ns1:xfrm>
          <ns1:prstGeom prst="rect">
            <ns1:avLst/>
          </ns1:prstGeom>
          <ns1:noFill/>
          <ns1:ln w="0">
            <ns1:noFill/>
          </ns1:ln>
        </ns0:spPr>
        <ns0:txBody>
          <ns1:bodyPr wrap="square" lIns="0" tIns="0" rIns="0" bIns="0" anchor="t">
            <ns1:noAutofit/>
          </ns1:bodyPr>
          <ns1:lstStyle>
            <ns1:defPPr algn="l">
              <ns1:defRPr sz="2600" b="0">
                <ns1:solidFill>
                  <ns1:srgbClr val="0054B8"/>
                </ns1:solidFill>
                <ns1:latin typeface="Arial"/>
                <ns1:ea typeface="Arial"/>
                <ns1:cs typeface="Arial"/>
              </ns1:defRPr>
            </ns1:defPPr>
          </ns1:lstStyle>
          <ns1:p>
            <ns1:pPr algn="l">
              <ns1:defRPr sz="2600" b="0">
                <ns1:solidFill>
                  <ns1:srgbClr val="0054B8"/>
                </ns1:solidFill>
                <ns1:latin typeface="Arial"/>
                <ns1:ea typeface="Arial"/>
                <ns1:cs typeface="Arial"/>
              </ns1:defRPr>
            </ns1:pPr>
            <ns1:r>
              <ns1:rPr sz="2600" b="0">
                <ns1:solidFill>
                  <ns1:srgbClr val="0054B8"/>
                </ns1:solidFill>
                <ns1:latin typeface="Arial"/>
                <ns1:ea typeface="Arial"/>
                <ns1:cs typeface="Arial"/>
              </ns1:rPr>
              <ns1:t>s</ns1:t>
            </ns1:r>
            <ns1:r>
              <ns1:rPr sz="1950" b="0" baseline="-25000">
                <ns1:solidFill>
                  <ns1:srgbClr val="0054B8"/>
                </ns1:solidFill>
                <ns1:latin typeface="Arial"/>
                <ns1:ea typeface="Arial"/>
                <ns1:cs typeface="Arial"/>
              </ns1:rPr>
              <ns1:t>b</ns1:t>
            </ns1:r>
            <ns1:r>
              <ns1:rPr sz="2600" b="0">
                <ns1:solidFill>
                  <ns1:srgbClr val="0054B8"/>
                </ns1:solidFill>
                <ns1:latin typeface="Arial"/>
                <ns1:ea typeface="Arial"/>
                <ns1:cs typeface="Arial"/>
              </ns1:rPr>
              <ns1:t> = sg(1 − minₜ C</ns1:t>
            </ns1:r>
            <ns1:r>
              <ns1:rPr sz="1950" b="0" baseline="-25000">
                <ns1:solidFill>
                  <ns1:srgbClr val="0054B8"/>
                </ns1:solidFill>
                <ns1:latin typeface="Arial"/>
                <ns1:ea typeface="Arial"/>
                <ns1:cs typeface="Arial"/>
              </ns1:rPr>
              <ns1:t>b</ns1:t>
            </ns1:r>
            <ns1:r>
              <ns1:rPr sz="2600" b="0">
                <ns1:solidFill>
                  <ns1:srgbClr val="0054B8"/>
                </ns1:solidFill>
                <ns1:latin typeface="Arial"/>
                <ns1:ea typeface="Arial"/>
                <ns1:cs typeface="Arial"/>
              </ns1:rPr>
              <ns1:t>,ₜˡᵒᶜ)</ns1:t>
            </ns1:r>
          </ns1:p>
        </ns0:txBody>
      </ns0:sp>
      <ns0:sp>
        <ns0:nvSpPr>
          <ns0:cNvPr id="77" name="Sample explanation">
            <ns1:extLst>
              <ns1:ext uri="{FF2B5EF4-FFF2-40B4-BE49-F238E27FC236}">
                <ns2:creationId id="{65D82CDD-08AA-4B90-8CBA-CFAFE1DD9621}"/>
              </ns1:ext>
            </ns1:extLst>
          </ns0:cNvPr>
          <ns0:cNvSpPr>
            <ns1:spLocks noGrp="1"/>
          </ns0:cNvSpPr>
          <ns0:nvPr/>
        </ns0:nvSpPr>
        <ns0:spPr>
          <ns1:xfrm>
            <ns1:off x="11372850" y="13144500"/>
            <ns1:ext cx="10172700" cy="74295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The bounded s</ns1:t>
            </ns1:r>
            <ns1:r>
              <ns1:rPr sz="1575" b="0" baseline="-25000">
                <ns1:solidFill>
                  <ns1:srgbClr val="344854"/>
                </ns1:solidFill>
                <ns1:latin typeface="Arial"/>
                <ns1:ea typeface="Arial"/>
                <ns1:cs typeface="Arial"/>
              </ns1:rPr>
              <ns1:t>b</ns1:t>
            </ns1:r>
            <ns1:r>
              <ns1:rPr sz="2100" b="0">
                <ns1:solidFill>
                  <ns1:srgbClr val="344854"/>
                </ns1:solidFill>
                <ns1:latin typeface="Arial"/>
                <ns1:ea typeface="Arial"/>
                <ns1:cs typeface="Arial"/>
              </ns1:rPr>
              <ns1:t> coefficient reallocates budget across responses, while token weights redistribute it within each response. Both signals use stop-gradient.</ns1:t>
            </ns1:r>
          </ns1:p>
        </ns0:txBody>
      </ns0:sp>
      <ns0:sp>
        <ns0:nvSpPr>
          <ns0:cNvPr id="78" name="Loss heading">
            <ns1:extLst>
              <ns1:ext uri="{FF2B5EF4-FFF2-40B4-BE49-F238E27FC236}">
                <ns2:creationId id="{37F5F0EC-6CE9-4ACE-B631-2D9E336ACD9F}"/>
              </ns1:ext>
            </ns1:extLst>
          </ns0:cNvPr>
          <ns0:cNvSpPr>
            <ns1:spLocks noGrp="1"/>
          </ns0:cNvSpPr>
          <ns0:nvPr/>
        </ns0:nvSpPr>
        <ns0:spPr>
          <ns1:xfrm>
            <ns1:off x="11372850" y="13954125"/>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Joint response-token objective</ns1:t>
            </ns1:r>
          </ns1:p>
        </ns0:txBody>
      </ns0:sp>
      <ns0:sp>
        <ns0:nvSpPr>
          <ns0:cNvPr id="79" name="Loss equation">
            <ns1:extLst>
              <ns1:ext uri="{FF2B5EF4-FFF2-40B4-BE49-F238E27FC236}">
                <ns2:creationId id="{8E86B477-D5F1-4D5D-9CB2-98F8CCF97610}"/>
              </ns1:ext>
            </ns1:extLst>
          </ns0:cNvPr>
          <ns0:cNvSpPr>
            <ns1:spLocks noGrp="1"/>
          </ns0:cNvSpPr>
          <ns0:nvPr/>
        </ns0:nvSpPr>
        <ns0:spPr>
          <ns1:xfrm>
            <ns1:off x="11372850" y="14478000"/>
            <ns1:ext cx="10172700" cy="762000"/>
          </ns1:xfrm>
          <ns1:prstGeom prst="rect">
            <ns1:avLst/>
          </ns1:prstGeom>
          <ns1:noFill/>
          <ns1:ln w="0">
            <ns1:noFill/>
          </ns1:ln>
        </ns0:spPr>
        <ns0:txBody>
          <ns1:bodyPr wrap="square" lIns="0" tIns="0" rIns="0" bIns="0" anchor="t">
            <ns1:noAutofit/>
          </ns1:bodyPr>
          <ns1:lstStyle>
            <ns1:defPPr algn="l">
              <ns1:defRPr sz="2400" b="0">
                <ns1:solidFill>
                  <ns1:srgbClr val="000000"/>
                </ns1:solidFill>
                <ns1:latin typeface="Arial"/>
                <ns1:ea typeface="Arial"/>
                <ns1:cs typeface="Arial"/>
              </ns1:defRPr>
            </ns1:defPPr>
          </ns1:lstStyle>
          <ns1:p>
            <ns1:pPr algn="l">
              <ns1:defRPr sz="2400" b="0">
                <ns1:solidFill>
                  <ns1:srgbClr val="000000"/>
                </ns1:solidFill>
                <ns1:latin typeface="Arial"/>
                <ns1:ea typeface="Arial"/>
                <ns1:cs typeface="Arial"/>
              </ns1:defRPr>
            </ns1:pPr>
            <ns1:r>
              <ns1:rPr sz="2400" b="0">
                <ns1:solidFill>
                  <ns1:srgbClr val="000000"/>
                </ns1:solidFill>
                <ns1:latin typeface="Arial"/>
                <ns1:ea typeface="Arial"/>
                <ns1:cs typeface="Arial"/>
              </ns1:rPr>
              <ns1:t>L = (1/B) Σ</ns1:t>
            </ns1:r>
            <ns1:r>
              <ns1:rPr sz="1800" b="0" baseline="-25000">
                <ns1:solidFill>
                  <ns1:srgbClr val="000000"/>
                </ns1:solidFill>
                <ns1:latin typeface="Arial"/>
                <ns1:ea typeface="Arial"/>
                <ns1:cs typeface="Arial"/>
              </ns1:rPr>
              <ns1:t>b</ns1:t>
            </ns1:r>
            <ns1:r>
              <ns1:rPr sz="2400" b="0">
                <ns1:solidFill>
                  <ns1:srgbClr val="000000"/>
                </ns1:solidFill>
                <ns1:latin typeface="Arial"/>
                <ns1:ea typeface="Arial"/>
                <ns1:cs typeface="Arial"/>
              </ns1:rPr>
              <ns1:t> s</ns1:t>
            </ns1:r>
            <ns1:r>
              <ns1:rPr sz="1800" b="0" baseline="-25000">
                <ns1:solidFill>
                  <ns1:srgbClr val="000000"/>
                </ns1:solidFill>
                <ns1:latin typeface="Arial"/>
                <ns1:ea typeface="Arial"/>
                <ns1:cs typeface="Arial"/>
              </ns1:rPr>
              <ns1:t>b</ns1:t>
            </ns1:r>
            <ns1:r>
              <ns1:rPr sz="2400" b="0">
                <ns1:solidFill>
                  <ns1:srgbClr val="000000"/>
                </ns1:solidFill>
                <ns1:latin typeface="Arial"/>
                <ns1:ea typeface="Arial"/>
                <ns1:cs typeface="Arial"/>
              </ns1:rPr>
              <ns1:t> [Σₜ m</ns1:t>
            </ns1:r>
            <ns1:r>
              <ns1:rPr sz="1800" b="0" baseline="-25000">
                <ns1:solidFill>
                  <ns1:srgbClr val="000000"/>
                </ns1:solidFill>
                <ns1:latin typeface="Arial"/>
                <ns1:ea typeface="Arial"/>
                <ns1:cs typeface="Arial"/>
              </ns1:rPr>
              <ns1:t>b</ns1:t>
            </ns1:r>
            <ns1:r>
              <ns1:rPr sz="2400" b="0">
                <ns1:solidFill>
                  <ns1:srgbClr val="000000"/>
                </ns1:solidFill>
                <ns1:latin typeface="Arial"/>
                <ns1:ea typeface="Arial"/>
                <ns1:cs typeface="Arial"/>
              </ns1:rPr>
              <ns1:t>,ₜ sg(ρ</ns1:t>
            </ns1:r>
            <ns1:r>
              <ns1:rPr sz="1800" b="0" baseline="-25000">
                <ns1:solidFill>
                  <ns1:srgbClr val="000000"/>
                </ns1:solidFill>
                <ns1:latin typeface="Arial"/>
                <ns1:ea typeface="Arial"/>
                <ns1:cs typeface="Arial"/>
              </ns1:rPr>
              <ns1:t>b</ns1:t>
            </ns1:r>
            <ns1:r>
              <ns1:rPr sz="2400" b="0">
                <ns1:solidFill>
                  <ns1:srgbClr val="000000"/>
                </ns1:solidFill>
                <ns1:latin typeface="Arial"/>
                <ns1:ea typeface="Arial"/>
                <ns1:cs typeface="Arial"/>
              </ns1:rPr>
              <ns1:t>,ₜ) ℓ</ns1:t>
            </ns1:r>
            <ns1:r>
              <ns1:rPr sz="1800" b="0" baseline="-25000">
                <ns1:solidFill>
                  <ns1:srgbClr val="000000"/>
                </ns1:solidFill>
                <ns1:latin typeface="Arial"/>
                <ns1:ea typeface="Arial"/>
                <ns1:cs typeface="Arial"/>
              </ns1:rPr>
              <ns1:t>b</ns1:t>
            </ns1:r>
            <ns1:r>
              <ns1:rPr sz="2400" b="0">
                <ns1:solidFill>
                  <ns1:srgbClr val="000000"/>
                </ns1:solidFill>
                <ns1:latin typeface="Arial"/>
                <ns1:ea typeface="Arial"/>
                <ns1:cs typeface="Arial"/>
              </ns1:rPr>
              <ns1:t>,ₜ]</ns1:t>
            </ns1:r>
          </ns1:p>
          <ns1:p>
            <ns1:pPr algn="l">
              <ns1:defRPr sz="2400" b="0">
                <ns1:solidFill>
                  <ns1:srgbClr val="000000"/>
                </ns1:solidFill>
                <ns1:latin typeface="Arial"/>
                <ns1:ea typeface="Arial"/>
                <ns1:cs typeface="Arial"/>
              </ns1:defRPr>
            </ns1:pPr>
            <ns1:r>
              <ns1:rPr sz="2400" b="0">
                <ns1:solidFill>
                  <ns1:srgbClr val="000000"/>
                </ns1:solidFill>
                <ns1:latin typeface="Arial"/>
                <ns1:ea typeface="Arial"/>
                <ns1:cs typeface="Arial"/>
              </ns1:rPr>
              <ns1:t>                           / [Σₜ m</ns1:t>
            </ns1:r>
            <ns1:r>
              <ns1:rPr sz="1800" b="0" baseline="-25000">
                <ns1:solidFill>
                  <ns1:srgbClr val="000000"/>
                </ns1:solidFill>
                <ns1:latin typeface="Arial"/>
                <ns1:ea typeface="Arial"/>
                <ns1:cs typeface="Arial"/>
              </ns1:rPr>
              <ns1:t>b</ns1:t>
            </ns1:r>
            <ns1:r>
              <ns1:rPr sz="2400" b="0">
                <ns1:solidFill>
                  <ns1:srgbClr val="000000"/>
                </ns1:solidFill>
                <ns1:latin typeface="Arial"/>
                <ns1:ea typeface="Arial"/>
                <ns1:cs typeface="Arial"/>
              </ns1:rPr>
              <ns1:t>,ₜ + ε]</ns1:t>
            </ns1:r>
          </ns1:p>
        </ns0:txBody>
      </ns0:sp>
      <ns0:sp>
        <ns0:nvSpPr>
          <ns0:cNvPr id="80" name="Definitions">
            <ns1:extLst>
              <ns1:ext uri="{FF2B5EF4-FFF2-40B4-BE49-F238E27FC236}">
                <ns2:creationId id="{A7FB0FB9-243D-4214-BAC1-32C3B8378414}"/>
              </ns1:ext>
            </ns1:extLst>
          </ns0:cNvPr>
          <ns0:cNvSpPr>
            <ns1:spLocks noGrp="1"/>
          </ns0:cNvSpPr>
          <ns0:nvPr/>
        </ns0:nvSpPr>
        <ns0:spPr>
          <ns1:xfrm>
            <ns1:off x="11372850" y="15335250"/>
            <ns1:ext cx="10172700" cy="704850"/>
          </ns1:xfrm>
          <ns1:prstGeom prst="rect">
            <ns1:avLst/>
          </ns1:prstGeom>
          <ns1:noFill/>
          <ns1:ln w="0">
            <ns1:noFill/>
          </ns1:ln>
        </ns0:spPr>
        <ns0:txBody>
          <ns1:bodyPr wrap="square" lIns="0" tIns="0" rIns="0" bIns="0" anchor="t">
            <ns1:noAutofit/>
          </ns1:bodyPr>
          <ns1:lstStyle>
            <ns1:defPPr algn="l">
              <ns1:defRPr sz="1600" b="0">
                <ns1:solidFill>
                  <ns1:srgbClr val="344854"/>
                </ns1:solidFill>
                <ns1:latin typeface="Arial"/>
                <ns1:ea typeface="Arial"/>
                <ns1:cs typeface="Arial"/>
              </ns1:defRPr>
            </ns1:defPPr>
          </ns1:lstStyle>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ℓ = −log c. m selects valid response targets. Cˡᵒᶜ averages a boundary-aware centered window. g = 256 is the only added tunable hyperparameter, with ε = 10⁻⁸.</ns1:t>
            </ns1:r>
          </ns1:p>
        </ns0:txBody>
      </ns0:sp>
      <ns0:sp>
        <ns0:nvSpPr>
          <ns0:cNvPr id="81" name="Training recipe">
            <ns1:extLst>
              <ns1:ext uri="{FF2B5EF4-FFF2-40B4-BE49-F238E27FC236}">
                <ns2:creationId id="{7044AA93-FC7F-4C91-8B16-728534AC0C5B}"/>
              </ns1:ext>
            </ns1:extLst>
          </ns0:cNvPr>
          <ns0:cNvSpPr>
            <ns1:spLocks noGrp="1"/>
          </ns0:cNvSpPr>
          <ns0:nvPr/>
        </ns0:nvSpPr>
        <ns0:spPr>
          <ns1:xfrm>
            <ns1:off x="11372850" y="16144875"/>
            <ns1:ext cx="10172700" cy="76200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Shared recipe: 48,503 examples, two full-parameter epochs, learning rate 10⁻⁵, 4096-token cutoff. We evaluate reasoning and transfer under this matched setup.</ns1:t>
            </ns1:r>
          </ns1:p>
        </ns0:txBody>
      </ns0:sp>
      <ns0:sp>
        <ns0:nvSpPr>
          <ns0:cNvPr id="82" name="Medical heading">
            <ns1:extLst>
              <ns1:ext uri="{FF2B5EF4-FFF2-40B4-BE49-F238E27FC236}">
                <ns2:creationId id="{35BC5A43-6EDF-4F8A-96A3-AEEEB1AB0DE1}"/>
              </ns1:ext>
            </ns1:extLst>
          </ns0:cNvPr>
          <ns0:cNvSpPr>
            <ns1:spLocks noGrp="1"/>
          </ns0:cNvSpPr>
          <ns0:nvPr/>
        </ns0:nvSpPr>
        <ns0:spPr>
          <ns1:xfrm>
            <ns1:off x="11372850" y="17049750"/>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HealthBench Hard (70B) &amp; GeneAgent</ns1:t>
            </ns1:r>
          </ns1:p>
        </ns0:txBody>
      </ns0:sp>
      <ns0:pic>
        <ns0:nvPicPr>
          <ns0:cNvPr id="83" name="">
            <ns1:extLst>
              <ns1:ext uri="{FF2B5EF4-FFF2-40B4-BE49-F238E27FC236}">
                <ns2:creationId id="{CEEA5A0E-67CC-41C3-A110-8692A2B8A9DC}"/>
              </ns1:ext>
            </ns1:extLst>
          </ns0:cNvPr>
          <ns0:cNvPicPr>
            <ns1:picLocks noChangeAspect="1"/>
          </ns0:cNvPicPr>
          <ns0:nvPr/>
        </ns0:nvPicPr>
        <ns0:blipFill>
          <ns1:blip ns3:embed="R539ddc06c0514bce"/>
          <ns1:stretch/>
        </ns0:blipFill>
        <ns0:spPr>
          <ns1:xfrm>
            <ns1:off x="11372850" y="17623257"/>
            <ns1:ext cx="10172700" cy="3110660"/>
          </ns1:xfrm>
          <ns1:prstGeom prst="rect">
            <ns1:avLst/>
          </ns1:prstGeom>
        </ns0:spPr>
      </ns0:pic>
      <ns0:pic>
        <ns0:nvPicPr>
          <ns0:cNvPr id="84" name="">
            <ns1:extLst>
              <ns1:ext uri="{FF2B5EF4-FFF2-40B4-BE49-F238E27FC236}">
                <ns2:creationId id="{1CB79D3C-9980-4954-8263-312C12E03A73}"/>
              </ns1:ext>
            </ns1:extLst>
          </ns0:cNvPr>
          <ns0:cNvPicPr>
            <ns1:picLocks noChangeAspect="1"/>
          </ns0:cNvPicPr>
          <ns0:nvPr/>
        </ns0:nvPicPr>
        <ns0:blipFill>
          <ns1:blip ns3:embed="R0b9e83e752264899"/>
          <ns1:stretch/>
        </ns0:blipFill>
        <ns0:spPr>
          <ns1:xfrm>
            <ns1:off x="13641917" y="20764500"/>
            <ns1:ext cx="5634567" cy="419100"/>
          </ns1:xfrm>
          <ns1:prstGeom prst="rect">
            <ns1:avLst/>
          </ns1:prstGeom>
        </ns0:spPr>
      </ns0:pic>
      <ns0:sp>
        <ns0:nvSpPr>
          <ns0:cNvPr id="85" name="Medical caption">
            <ns1:extLst>
              <ns1:ext uri="{FF2B5EF4-FFF2-40B4-BE49-F238E27FC236}">
                <ns2:creationId id="{0EC66358-5C7E-4E19-976C-0D9E3DD43C86}"/>
              </ns1:ext>
            </ns1:extLst>
          </ns0:cNvPr>
          <ns0:cNvSpPr>
            <ns1:spLocks noGrp="1"/>
          </ns0:cNvSpPr>
          <ns0:nvPr/>
        </ns0:nvSpPr>
        <ns0:spPr>
          <ns1:xfrm>
            <ns1:off x="11372850" y="21288375"/>
            <ns1:ext cx="10172700" cy="514350"/>
          </ns1:xfrm>
          <ns1:prstGeom prst="rect">
            <ns1:avLst/>
          </ns1:prstGeom>
          <ns1:noFill/>
          <ns1:ln w="0">
            <ns1:noFill/>
          </ns1:ln>
        </ns0:spPr>
        <ns0:txBody>
          <ns1:bodyPr wrap="square" lIns="0" tIns="0" rIns="0" bIns="0" anchor="t">
            <ns1:noAutofit/>
          </ns1:bodyPr>
          <ns1:lstStyle>
            <ns1:defPPr algn="l">
              <ns1:defRPr sz="1300" b="0">
                <ns1:solidFill>
                  <ns1:srgbClr val="344854"/>
                </ns1:solidFill>
                <ns1:latin typeface="Arial"/>
                <ns1:ea typeface="Arial"/>
                <ns1:cs typeface="Arial"/>
              </ns1:defRPr>
            </ns1:defPPr>
          </ns1:lstStyle>
          <ns1:p>
            <ns1:pPr algn="l">
              <ns1:defRPr sz="1300" b="0">
                <ns1:solidFill>
                  <ns1:srgbClr val="344854"/>
                </ns1:solidFill>
                <ns1:latin typeface="Arial"/>
                <ns1:ea typeface="Arial"/>
                <ns1:cs typeface="Arial"/>
              </ns1:defRPr>
            </ns1:pPr>
            <ns1:r>
              <ns1:rPr sz="1300" b="0">
                <ns1:solidFill>
                  <ns1:srgbClr val="344854"/>
                </ns1:solidFill>
                <ns1:latin typeface="Arial"/>
                <ns1:ea typeface="Arial"/>
                <ns1:cs typeface="Arial"/>
              </ns1:rPr>
              <ns1:t>BFT improves more consistently across 14B / 32B / 70B and has the best overall GeneAgent ROUGE among aligned open-weight models. Error bars denote decoding variability.</ns1:t>
            </ns1:r>
          </ns1:p>
        </ns0:txBody>
      </ns0:sp>
      <ns0:sp>
        <ns0:nvSpPr>
          <ns0:cNvPr id="86" name="VCWorld heading">
            <ns1:extLst>
              <ns1:ext uri="{FF2B5EF4-FFF2-40B4-BE49-F238E27FC236}">
                <ns2:creationId id="{E14712AB-36A1-41CE-BAC4-75DE025D08A0}"/>
              </ns1:ext>
            </ns1:extLst>
          </ns0:cNvPr>
          <ns0:cNvSpPr>
            <ns1:spLocks noGrp="1"/>
          </ns0:cNvSpPr>
          <ns0:nvPr/>
        </ns0:nvSpPr>
        <ns0:spPr>
          <ns1:xfrm>
            <ns1:off x="22078950" y="5524500"/>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Chemical perturbation reasoning + GRPO</ns1:t>
            </ns1:r>
          </ns1:p>
        </ns0:txBody>
      </ns0:sp>
      <ns0:sp>
        <ns0:nvSpPr>
          <ns0:cNvPr id="87" name="VCWorld setup">
            <ns1:extLst>
              <ns1:ext uri="{FF2B5EF4-FFF2-40B4-BE49-F238E27FC236}">
                <ns2:creationId id="{F053AAD4-9EEC-4F22-8DD8-A3C975E7F00E}"/>
              </ns1:ext>
            </ns1:extLst>
          </ns0:cNvPr>
          <ns0:cNvSpPr>
            <ns1:spLocks noGrp="1"/>
          </ns0:cNvSpPr>
          <ns0:nvPr/>
        </ns0:nvSpPr>
        <ns0:spPr>
          <ns1:xfrm>
            <ns1:off x="22078950" y="6048375"/>
            <ns1:ext cx="10172700" cy="723900"/>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70B Up/Down/No accuracy, five held-out cell lines</ns1:t>
            </ns1:r>
          </ns1:p>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Sparse-reward GRPO uses 45 training cell lines</ns1:t>
            </ns1:r>
          </ns1:p>
        </ns0:txBody>
      </ns0:sp>
      <ns0:graphicFrame>
        <ns0:nvGraphicFramePr>
          <ns0:cNvPr id="88" name="Chart">
            <ns1:extLst>
              <ns1:ext uri="{FF2B5EF4-FFF2-40B4-BE49-F238E27FC236}">
                <ns2:creationId id="{B79A7B94-F0EA-4600-878D-52BEB5E08F5B}"/>
              </ns1:ext>
            </ns1:extLst>
          </ns0:cNvPr>
          <ns0:cNvGraphicFramePr/>
          <ns0:nvPr/>
        </ns0:nvGraphicFramePr>
        <ns0:xfrm>
          <ns1:off x="22078950" y="6905625"/>
          <ns1:ext cx="10172700" cy="2762250"/>
        </ns0:xfrm>
        <ns1:graphic>
          <ns1:graphicData uri="http://schemas.openxmlformats.org/drawingml/2006/chart">
            <ns4:chart ns3:id="R97c7caa430284c91"/>
          </ns1:graphicData>
        </ns1:graphic>
      </ns0:graphicFrame>
      <ns0:sp>
        <ns0:nvSpPr>
          <ns0:cNvPr id="89" name="VCWorld takeaway">
            <ns1:extLst>
              <ns1:ext uri="{FF2B5EF4-FFF2-40B4-BE49-F238E27FC236}">
                <ns2:creationId id="{3213CD5F-0A31-45DC-85AD-CB8E0A67BA74}"/>
              </ns1:ext>
            </ns1:extLst>
          </ns0:cNvPr>
          <ns0:cNvSpPr>
            <ns1:spLocks noGrp="1"/>
          </ns0:cNvSpPr>
          <ns0:nvPr/>
        </ns0:nvSpPr>
        <ns0:spPr>
          <ns1:xfrm>
            <ns1:off x="22078950" y="9763125"/>
            <ns1:ext cx="10172700" cy="714375"/>
          </ns1:xfrm>
          <ns1:prstGeom prst="rect">
            <ns1:avLst/>
          </ns1:prstGeom>
          <ns1:noFill/>
          <ns1:ln w="0">
            <ns1:noFill/>
          </ns1:ln>
        </ns0:spPr>
        <ns0:txBody>
          <ns1:bodyPr wrap="square" lIns="0" tIns="0" rIns="0" bIns="0" anchor="t">
            <ns1:noAutofit/>
          </ns1:bodyPr>
          <ns1:lstStyle>
            <ns1:defPPr algn="l">
              <ns1:defRPr sz="2400" b="1">
                <ns1:solidFill>
                  <ns1:srgbClr val="0054B8"/>
                </ns1:solidFill>
                <ns1:latin typeface="Arial"/>
                <ns1:ea typeface="Arial"/>
                <ns1:cs typeface="Arial"/>
              </ns1:defRPr>
            </ns1:defPPr>
          </ns1:lstStyle>
          <ns1:p>
            <ns1:pPr algn="l">
              <ns1:defRPr sz="2400" b="1">
                <ns1:solidFill>
                  <ns1:srgbClr val="0054B8"/>
                </ns1:solidFill>
                <ns1:latin typeface="Arial"/>
                <ns1:ea typeface="Arial"/>
                <ns1:cs typeface="Arial"/>
              </ns1:defRPr>
            </ns1:pPr>
            <ns1:r>
              <ns1:rPr sz="2400" b="1">
                <ns1:solidFill>
                  <ns1:srgbClr val="0054B8"/>
                </ns1:solidFill>
                <ns1:latin typeface="Arial"/>
                <ns1:ea typeface="Arial"/>
                <ns1:cs typeface="Arial"/>
              </ns1:rPr>
              <ns1:t>+13.4 pp over SFT before GRPO</ns1:t>
            </ns1:r>
          </ns1:p>
          <ns1:p>
            <ns1:pPr algn="l">
              <ns1:defRPr sz="2400" b="1">
                <ns1:solidFill>
                  <ns1:srgbClr val="0054B8"/>
                </ns1:solidFill>
                <ns1:latin typeface="Arial"/>
                <ns1:ea typeface="Arial"/>
                <ns1:cs typeface="Arial"/>
              </ns1:defRPr>
            </ns1:pPr>
            <ns1:r>
              <ns1:rPr sz="2400" b="1">
                <ns1:solidFill>
                  <ns1:srgbClr val="0054B8"/>
                </ns1:solidFill>
                <ns1:latin typeface="Arial"/>
                <ns1:ea typeface="Arial"/>
                <ns1:cs typeface="Arial"/>
              </ns1:rPr>
              <ns1:t>+4.0 pp after GRPO, while SFT / DFT decline</ns1:t>
            </ns1:r>
          </ns1:p>
        </ns0:txBody>
      </ns0:sp>
      <ns0:sp>
        <ns0:nvSpPr>
          <ns0:cNvPr id="90" name="VCWorld caveat">
            <ns1:extLst>
              <ns1:ext uri="{FF2B5EF4-FFF2-40B4-BE49-F238E27FC236}">
                <ns2:creationId id="{0E8887BF-F4DD-429F-B306-E043A969E0E8}"/>
              </ns1:ext>
            </ns1:extLst>
          </ns0:cNvPr>
          <ns0:cNvSpPr>
            <ns1:spLocks noGrp="1"/>
          </ns0:cNvSpPr>
          <ns0:nvPr/>
        </ns0:nvSpPr>
        <ns0:spPr>
          <ns1:xfrm>
            <ns1:off x="22078950" y="10572750"/>
            <ns1:ext cx="10172700" cy="523875"/>
          </ns1:xfrm>
          <ns1:prstGeom prst="rect">
            <ns1:avLst/>
          </ns1:prstGeom>
          <ns1:noFill/>
          <ns1:ln w="0">
            <ns1:noFill/>
          </ns1:ln>
        </ns0:spPr>
        <ns0:txBody>
          <ns1:bodyPr wrap="square" lIns="0" tIns="0" rIns="0" bIns="0" anchor="t">
            <ns1:noAutofit/>
          </ns1:bodyPr>
          <ns1:lstStyle>
            <ns1:defPPr algn="l">
              <ns1:defRPr sz="1600" b="0">
                <ns1:solidFill>
                  <ns1:srgbClr val="344854"/>
                </ns1:solidFill>
                <ns1:latin typeface="Arial"/>
                <ns1:ea typeface="Arial"/>
                <ns1:cs typeface="Arial"/>
              </ns1:defRPr>
            </ns1:defPPr>
          </ns1:lstStyle>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Token-only and sample-only gains are intermediate. BFT vs Gemini-2.5-Flash is not significant: +0.018, 95% CI [−0.004, 0.040], p = 0.088.</ns1:t>
            </ns1:r>
          </ns1:p>
        </ns0:txBody>
      </ns0:sp>
      <ns0:sp>
        <ns0:nvSpPr>
          <ns0:cNvPr id="91" name="Representation heading">
            <ns1:extLst>
              <ns1:ext uri="{FF2B5EF4-FFF2-40B4-BE49-F238E27FC236}">
                <ns2:creationId id="{87ED3A2E-CD41-4125-9509-A14D1095AC36}"/>
              </ns1:ext>
            </ns1:extLst>
          </ns0:cNvPr>
          <ns0:cNvSpPr>
            <ns1:spLocks noGrp="1"/>
          </ns0:cNvSpPr>
          <ns0:nvPr/>
        </ns0:nvSpPr>
        <ns0:spPr>
          <ns1:xfrm>
            <ns1:off x="22078950" y="11239500"/>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Profile embeddings: gene-level AUC</ns1:t>
            </ns1:r>
          </ns1:p>
        </ns0:txBody>
      </ns0:sp>
      <ns0:sp>
        <ns0:nvSpPr>
          <ns0:cNvPr id="92" name="Representation setup">
            <ns1:extLst>
              <ns1:ext uri="{FF2B5EF4-FFF2-40B4-BE49-F238E27FC236}">
                <ns2:creationId id="{B6C4FE00-891E-4578-A810-F1CA6461D923}"/>
              </ns1:ext>
            </ns1:extLst>
          </ns0:cNvPr>
          <ns0:cNvSpPr>
            <ns1:spLocks noGrp="1"/>
          </ns0:cNvSpPr>
          <ns0:nvPr/>
        </ns0:nvSpPr>
        <ns0:spPr>
          <ns1:xfrm>
            <ns1:off x="22078950" y="11763375"/>
            <ns1:ext cx="10172700" cy="714375"/>
          </ns1:xfrm>
          <ns1:prstGeom prst="rect">
            <ns1:avLst/>
          </ns1:prstGeom>
          <ns1:noFill/>
          <ns1:ln w="0">
            <ns1:noFill/>
          </ns1:ln>
        </ns0:spPr>
        <ns0:txBody>
          <ns1:bodyPr wrap="square" lIns="0" tIns="0" rIns="0" bIns="0" anchor="t">
            <ns1:noAutofit/>
          </ns1:bodyPr>
          <ns1:lstStyle>
            <ns1:defPPr algn="l">
              <ns1:defRPr sz="2100" b="0">
                <ns1:solidFill>
                  <ns1:srgbClr val="344854"/>
                </ns1:solidFill>
                <ns1:latin typeface="Arial"/>
                <ns1:ea typeface="Arial"/>
                <ns1:cs typeface="Arial"/>
              </ns1:defRPr>
            </ns1:defPPr>
          </ns1:lstStyle>
          <ns1:p>
            <ns1:pPr algn="l">
              <ns1:defRPr sz="2100" b="0">
                <ns1:solidFill>
                  <ns1:srgbClr val="344854"/>
                </ns1:solidFill>
                <ns1:latin typeface="Arial"/>
                <ns1:ea typeface="Arial"/>
                <ns1:cs typeface="Arial"/>
              </ns1:defRPr>
            </ns1:pPr>
            <ns1:r>
              <ns1:rPr sz="2100" b="0">
                <ns1:solidFill>
                  <ns1:srgbClr val="344854"/>
                </ns1:solidFill>
                <ns1:latin typeface="Arial"/>
                <ns1:ea typeface="Arial"/>
                <ns1:cs typeface="Arial"/>
              </ns1:rPr>
              <ns1:t>BFT profiles use text-embedding-ada-002. Expression-weighted gene embeddings also produce cell representations.</ns1:t>
            </ns1:r>
          </ns1:p>
        </ns0:txBody>
      </ns0:sp>
      <ns0:graphicFrame>
        <ns0:nvGraphicFramePr>
          <ns0:cNvPr id="93" name="Chart">
            <ns1:extLst>
              <ns1:ext uri="{FF2B5EF4-FFF2-40B4-BE49-F238E27FC236}">
                <ns2:creationId id="{AE325B20-F61B-4B71-AD1C-B9B3C4850E07}"/>
              </ns1:ext>
            </ns1:extLst>
          </ns0:cNvPr>
          <ns0:cNvGraphicFramePr/>
          <ns0:nvPr/>
        </ns0:nvGraphicFramePr>
        <ns0:xfrm>
          <ns1:off x="22078950" y="12573000"/>
          <ns1:ext cx="10172700" cy="2476500"/>
        </ns0:xfrm>
        <ns1:graphic>
          <ns1:graphicData uri="http://schemas.openxmlformats.org/drawingml/2006/chart">
            <ns4:chart ns3:id="Rb5e61dab6f59488b"/>
          </ns1:graphicData>
        </ns1:graphic>
      </ns0:graphicFrame>
      <ns0:sp>
        <ns0:nvSpPr>
          <ns0:cNvPr id="94" name="Gene conclusion">
            <ns1:extLst>
              <ns1:ext uri="{FF2B5EF4-FFF2-40B4-BE49-F238E27FC236}">
                <ns2:creationId id="{1433C469-F426-409D-A68C-17D8ED60EC58}"/>
              </ns1:ext>
            </ns1:extLst>
          </ns0:cNvPr>
          <ns0:cNvSpPr>
            <ns1:spLocks noGrp="1"/>
          </ns0:cNvSpPr>
          <ns0:nvPr/>
        </ns0:nvSpPr>
        <ns0:spPr>
          <ns1:xfrm>
            <ns1:off x="22078950" y="15144750"/>
            <ns1:ext cx="10172700" cy="476250"/>
          </ns1:xfrm>
          <ns1:prstGeom prst="rect">
            <ns1:avLst/>
          </ns1:prstGeom>
          <ns1:noFill/>
          <ns1:ln w="0">
            <ns1:noFill/>
          </ns1:ln>
        </ns0:spPr>
        <ns0:txBody>
          <ns1:bodyPr wrap="square" lIns="0" tIns="0" rIns="0" bIns="0" anchor="t">
            <ns1:noAutofit/>
          </ns1:bodyPr>
          <ns1:lstStyle>
            <ns1:defPPr algn="l">
              <ns1:defRPr sz="1600" b="0">
                <ns1:solidFill>
                  <ns1:srgbClr val="344854"/>
                </ns1:solidFill>
                <ns1:latin typeface="Arial"/>
                <ns1:ea typeface="Arial"/>
                <ns1:cs typeface="Arial"/>
              </ns1:defRPr>
            </ns1:defPPr>
          </ns1:lstStyle>
          <ns1:p>
            <ns1:pPr algn="l">
              <ns1:defRPr sz="1600" b="0">
                <ns1:solidFill>
                  <ns1:srgbClr val="344854"/>
                </ns1:solidFill>
                <ns1:latin typeface="Arial"/>
                <ns1:ea typeface="Arial"/>
                <ns1:cs typeface="Arial"/>
              </ns1:defRPr>
            </ns1:pPr>
            <ns1:r>
              <ns1:rPr sz="1600" b="0">
                <ns1:solidFill>
                  <ns1:srgbClr val="344854"/>
                </ns1:solidFill>
                <ns1:latin typeface="Arial"/>
                <ns1:ea typeface="Arial"/>
                <ns1:cs typeface="Arial"/>
              </ns1:rPr>
              <ns1:t>Mean gene AUC: 0.829 vs 0.802. GenePT remains higher on Lys4. The encoder is matched, while profile source and construction differ.</ns1:t>
            </ns1:r>
          </ns1:p>
        </ns0:txBody>
      </ns0:sp>
      <ns0:sp>
        <ns0:nvSpPr>
          <ns0:cNvPr id="95" name="Cell label">
            <ns1:extLst>
              <ns1:ext uri="{FF2B5EF4-FFF2-40B4-BE49-F238E27FC236}">
                <ns2:creationId id="{FE36EC27-1A9E-4B71-AD76-F107D2FA51A1}"/>
              </ns1:ext>
            </ns1:extLst>
          </ns0:cNvPr>
          <ns0:cNvSpPr>
            <ns1:spLocks noGrp="1"/>
          </ns0:cNvSpPr>
          <ns0:nvPr/>
        </ns0:nvSpPr>
        <ns0:spPr>
          <ns1:xfrm>
            <ns1:off x="22078950" y="15716250"/>
            <ns1:ext cx="10172700" cy="333375"/>
          </ns1:xfrm>
          <ns1:prstGeom prst="rect">
            <ns1:avLst/>
          </ns1:prstGeom>
          <ns1:noFill/>
          <ns1:ln w="0">
            <ns1:noFill/>
          </ns1:ln>
        </ns0:spPr>
        <ns0:txBody>
          <ns1:bodyPr wrap="square" lIns="0" tIns="0" rIns="0" bIns="0" anchor="t">
            <ns1:noAutofit/>
          </ns1:bodyPr>
          <ns1:lstStyle>
            <ns1:defPPr algn="l">
              <ns1:defRPr sz="2100" b="1">
                <ns1:solidFill>
                  <ns1:srgbClr val="000000"/>
                </ns1:solidFill>
                <ns1:latin typeface="Arial"/>
                <ns1:ea typeface="Arial"/>
                <ns1:cs typeface="Arial"/>
              </ns1:defRPr>
            </ns1:defPPr>
          </ns1:lstStyle>
          <ns1:p>
            <ns1:pPr algn="l">
              <ns1:defRPr sz="2100" b="1">
                <ns1:solidFill>
                  <ns1:srgbClr val="000000"/>
                </ns1:solidFill>
                <ns1:latin typeface="Arial"/>
                <ns1:ea typeface="Arial"/>
                <ns1:cs typeface="Arial"/>
              </ns1:defRPr>
            </ns1:pPr>
            <ns1:r>
              <ns1:rPr sz="2100" b="1">
                <ns1:solidFill>
                  <ns1:srgbClr val="000000"/>
                </ns1:solidFill>
                <ns1:latin typeface="Arial"/>
                <ns1:ea typeface="Arial"/>
                <ns1:cs typeface="Arial"/>
              </ns1:rPr>
              <ns1:t>Cell-type clustering: ARI / AMI / ASW</ns1:t>
            </ns1:r>
          </ns1:p>
        </ns0:txBody>
      </ns0:sp>
      <ns0:graphicFrame>
        <ns0:nvGraphicFramePr>
          <ns0:cNvPr id="96" name="">
            <ns1:extLst>
              <ns1:ext uri="{FF2B5EF4-FFF2-40B4-BE49-F238E27FC236}">
                <ns2:creationId id="{1CEFBB7C-D4D2-4F97-8ED2-A7D4AC34AF49}"/>
              </ns1:ext>
            </ns1:extLst>
          </ns0:cNvPr>
          <ns0:cNvGraphicFramePr/>
          <ns0:nvPr/>
        </ns0:nvGraphicFramePr>
        <ns0:xfrm>
          <ns1:off x="22078950" y="16144875"/>
          <ns1:ext cx="10172700" cy="1666875"/>
        </ns0:xfrm>
        <ns1:graphic>
          <ns1:graphicData uri="http://schemas.openxmlformats.org/drawingml/2006/table">
            <ns1:tbl>
              <ns1:tblPr/>
              <ns1:tblGrid>
                <ns1:gridCol w="4000500"/>
                <ns1:gridCol w="2057400"/>
                <ns1:gridCol w="2057400"/>
                <ns1:gridCol w="2057400"/>
              </ns1:tblGrid>
              <ns1:tr h="333375">
                <ns1:tc>
                  <ns1:txBody>
                    <ns1:bodyPr lIns="0" tIns="0" rIns="0" bIns="0"/>
                    <ns1:lstStyle/>
                    <ns1:p>
                      <ns1:pPr algn="l"/>
                      <ns1:r>
                        <ns1:rPr sz="2000" b="1">
                          <ns1:solidFill>
                            <ns1:srgbClr val="FFFFFF"/>
                          </ns1:solidFill>
                          <ns1:latin typeface="Arial"/>
                          <ns1:ea typeface="Arial"/>
                          <ns1:cs typeface="Arial"/>
                        </ns1:rPr>
                        <ns1:t>Method</ns1:t>
                      </ns1:r>
                    </ns1:p>
                  </ns1:txBody>
                  <ns1:tcPr marL="114300" marR="114300" marT="38100" marB="38100" anchor="ctr">
                    <ns1:solidFill>
                      <ns1:srgbClr val="183B66"/>
                    </ns1:solidFill>
                  </ns1:tcPr>
                </ns1:tc>
                <ns1:tc>
                  <ns1:txBody>
                    <ns1:bodyPr lIns="0" tIns="0" rIns="0" bIns="0"/>
                    <ns1:lstStyle/>
                    <ns1:p>
                      <ns1:pPr algn="ctr"/>
                      <ns1:r>
                        <ns1:rPr sz="2000" b="1">
                          <ns1:solidFill>
                            <ns1:srgbClr val="FFFFFF"/>
                          </ns1:solidFill>
                          <ns1:latin typeface="Arial"/>
                          <ns1:ea typeface="Arial"/>
                          <ns1:cs typeface="Arial"/>
                        </ns1:rPr>
                        <ns1:t>ARI</ns1:t>
                      </ns1:r>
                    </ns1:p>
                  </ns1:txBody>
                  <ns1:tcPr marL="114300" marR="114300" marT="38100" marB="38100" anchor="ctr">
                    <ns1:solidFill>
                      <ns1:srgbClr val="183B66"/>
                    </ns1:solidFill>
                  </ns1:tcPr>
                </ns1:tc>
                <ns1:tc>
                  <ns1:txBody>
                    <ns1:bodyPr lIns="0" tIns="0" rIns="0" bIns="0"/>
                    <ns1:lstStyle/>
                    <ns1:p>
                      <ns1:pPr algn="ctr"/>
                      <ns1:r>
                        <ns1:rPr sz="2000" b="1">
                          <ns1:solidFill>
                            <ns1:srgbClr val="FFFFFF"/>
                          </ns1:solidFill>
                          <ns1:latin typeface="Arial"/>
                          <ns1:ea typeface="Arial"/>
                          <ns1:cs typeface="Arial"/>
                        </ns1:rPr>
                        <ns1:t>AMI</ns1:t>
                      </ns1:r>
                    </ns1:p>
                  </ns1:txBody>
                  <ns1:tcPr marL="114300" marR="114300" marT="38100" marB="38100" anchor="ctr">
                    <ns1:solidFill>
                      <ns1:srgbClr val="183B66"/>
                    </ns1:solidFill>
                  </ns1:tcPr>
                </ns1:tc>
                <ns1:tc>
                  <ns1:txBody>
                    <ns1:bodyPr lIns="0" tIns="0" rIns="0" bIns="0"/>
                    <ns1:lstStyle/>
                    <ns1:p>
                      <ns1:pPr algn="ctr"/>
                      <ns1:r>
                        <ns1:rPr sz="2000" b="1">
                          <ns1:solidFill>
                            <ns1:srgbClr val="FFFFFF"/>
                          </ns1:solidFill>
                          <ns1:latin typeface="Arial"/>
                          <ns1:ea typeface="Arial"/>
                          <ns1:cs typeface="Arial"/>
                        </ns1:rPr>
                        <ns1:t>ASW</ns1:t>
                      </ns1:r>
                    </ns1:p>
                  </ns1:txBody>
                  <ns1:tcPr marL="114300" marR="114300" marT="38100" marB="38100" anchor="ctr">
                    <ns1:solidFill>
                      <ns1:srgbClr val="183B66"/>
                    </ns1:solidFill>
                  </ns1:tcPr>
                </ns1:tc>
              </ns1:tr>
              <ns1:tr h="333375">
                <ns1:tc>
                  <ns1:txBody>
                    <ns1:bodyPr lIns="0" tIns="0" rIns="0" bIns="0"/>
                    <ns1:lstStyle/>
                    <ns1:p>
                      <ns1:pPr algn="l"/>
                      <ns1:r>
                        <ns1:rPr sz="2000" b="0">
                          <ns1:solidFill>
                            <ns1:srgbClr val="344854"/>
                          </ns1:solidFill>
                          <ns1:latin typeface="Arial"/>
                          <ns1:ea typeface="Arial"/>
                          <ns1:cs typeface="Arial"/>
                        </ns1:rPr>
                        <ns1:t>scGPT</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0.26</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0.32</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0.039</ns1:t>
                      </ns1:r>
                    </ns1:p>
                  </ns1:txBody>
                  <ns1:tcPr marL="114300" marR="114300" marT="38100" marB="38100" anchor="ctr">
                    <ns1:solidFill>
                      <ns1:srgbClr val="FFFFFF"/>
                    </ns1:solidFill>
                  </ns1:tcPr>
                </ns1:tc>
              </ns1:tr>
              <ns1:tr h="333375">
                <ns1:tc>
                  <ns1:txBody>
                    <ns1:bodyPr lIns="0" tIns="0" rIns="0" bIns="0"/>
                    <ns1:lstStyle/>
                    <ns1:p>
                      <ns1:pPr algn="l"/>
                      <ns1:r>
                        <ns1:rPr sz="2000" b="0">
                          <ns1:solidFill>
                            <ns1:srgbClr val="344854"/>
                          </ns1:solidFill>
                          <ns1:latin typeface="Arial"/>
                          <ns1:ea typeface="Arial"/>
                          <ns1:cs typeface="Arial"/>
                        </ns1:rPr>
                        <ns1:t>GenePT</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0.30</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0.46</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0.041</ns1:t>
                      </ns1:r>
                    </ns1:p>
                  </ns1:txBody>
                  <ns1:tcPr marL="114300" marR="114300" marT="38100" marB="38100" anchor="ctr">
                    <ns1:solidFill>
                      <ns1:srgbClr val="FFFFFF"/>
                    </ns1:solidFill>
                  </ns1:tcPr>
                </ns1:tc>
              </ns1:tr>
              <ns1:tr h="333375">
                <ns1:tc>
                  <ns1:txBody>
                    <ns1:bodyPr lIns="0" tIns="0" rIns="0" bIns="0"/>
                    <ns1:lstStyle/>
                    <ns1:p>
                      <ns1:pPr algn="l"/>
                      <ns1:r>
                        <ns1:rPr sz="2000" b="0">
                          <ns1:solidFill>
                            <ns1:srgbClr val="344854"/>
                          </ns1:solidFill>
                          <ns1:latin typeface="Arial"/>
                          <ns1:ea typeface="Arial"/>
                          <ns1:cs typeface="Arial"/>
                        </ns1:rPr>
                        <ns1:t>SFT</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0.12</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0.25</ns1:t>
                      </ns1:r>
                    </ns1:p>
                  </ns1:txBody>
                  <ns1:tcPr marL="114300" marR="114300" marT="38100" marB="38100" anchor="ctr">
                    <ns1:solidFill>
                      <ns1:srgbClr val="FFFFFF"/>
                    </ns1:solidFill>
                  </ns1:tcPr>
                </ns1:tc>
                <ns1:tc>
                  <ns1:txBody>
                    <ns1:bodyPr lIns="0" tIns="0" rIns="0" bIns="0"/>
                    <ns1:lstStyle/>
                    <ns1:p>
                      <ns1:pPr algn="ctr"/>
                      <ns1:r>
                        <ns1:rPr sz="2000" b="0">
                          <ns1:solidFill>
                            <ns1:srgbClr val="344854"/>
                          </ns1:solidFill>
                          <ns1:latin typeface="Arial"/>
                          <ns1:ea typeface="Arial"/>
                          <ns1:cs typeface="Arial"/>
                        </ns1:rPr>
                        <ns1:t>0.021</ns1:t>
                      </ns1:r>
                    </ns1:p>
                  </ns1:txBody>
                  <ns1:tcPr marL="114300" marR="114300" marT="38100" marB="38100" anchor="ctr">
                    <ns1:solidFill>
                      <ns1:srgbClr val="FFFFFF"/>
                    </ns1:solidFill>
                  </ns1:tcPr>
                </ns1:tc>
              </ns1:tr>
              <ns1:tr h="333375">
                <ns1:tc>
                  <ns1:txBody>
                    <ns1:bodyPr lIns="0" tIns="0" rIns="0" bIns="0"/>
                    <ns1:lstStyle/>
                    <ns1:p>
                      <ns1:pPr algn="l"/>
                      <ns1:r>
                        <ns1:rPr sz="2000" b="1">
                          <ns1:solidFill>
                            <ns1:srgbClr val="344854"/>
                          </ns1:solidFill>
                          <ns1:latin typeface="Arial"/>
                          <ns1:ea typeface="Arial"/>
                          <ns1:cs typeface="Arial"/>
                        </ns1:rPr>
                        <ns1:t>BFT</ns1:t>
                      </ns1:r>
                    </ns1:p>
                  </ns1:txBody>
                  <ns1:tcPr marL="114300" marR="114300" marT="38100" marB="38100" anchor="ctr">
                    <ns1:solidFill>
                      <ns1:srgbClr val="EAF1FA"/>
                    </ns1:solidFill>
                  </ns1:tcPr>
                </ns1:tc>
                <ns1:tc>
                  <ns1:txBody>
                    <ns1:bodyPr lIns="0" tIns="0" rIns="0" bIns="0"/>
                    <ns1:lstStyle/>
                    <ns1:p>
                      <ns1:pPr algn="ctr"/>
                      <ns1:r>
                        <ns1:rPr sz="2000" b="1">
                          <ns1:solidFill>
                            <ns1:srgbClr val="344854"/>
                          </ns1:solidFill>
                          <ns1:latin typeface="Arial"/>
                          <ns1:ea typeface="Arial"/>
                          <ns1:cs typeface="Arial"/>
                        </ns1:rPr>
                        <ns1:t>0.34</ns1:t>
                      </ns1:r>
                    </ns1:p>
                  </ns1:txBody>
                  <ns1:tcPr marL="114300" marR="114300" marT="38100" marB="38100" anchor="ctr">
                    <ns1:solidFill>
                      <ns1:srgbClr val="EAF1FA"/>
                    </ns1:solidFill>
                  </ns1:tcPr>
                </ns1:tc>
                <ns1:tc>
                  <ns1:txBody>
                    <ns1:bodyPr lIns="0" tIns="0" rIns="0" bIns="0"/>
                    <ns1:lstStyle/>
                    <ns1:p>
                      <ns1:pPr algn="ctr"/>
                      <ns1:r>
                        <ns1:rPr sz="2000" b="1">
                          <ns1:solidFill>
                            <ns1:srgbClr val="344854"/>
                          </ns1:solidFill>
                          <ns1:latin typeface="Arial"/>
                          <ns1:ea typeface="Arial"/>
                          <ns1:cs typeface="Arial"/>
                        </ns1:rPr>
                        <ns1:t>0.58</ns1:t>
                      </ns1:r>
                    </ns1:p>
                  </ns1:txBody>
                  <ns1:tcPr marL="114300" marR="114300" marT="38100" marB="38100" anchor="ctr">
                    <ns1:solidFill>
                      <ns1:srgbClr val="EAF1FA"/>
                    </ns1:solidFill>
                  </ns1:tcPr>
                </ns1:tc>
                <ns1:tc>
                  <ns1:txBody>
                    <ns1:bodyPr lIns="0" tIns="0" rIns="0" bIns="0"/>
                    <ns1:lstStyle/>
                    <ns1:p>
                      <ns1:pPr algn="ctr"/>
                      <ns1:r>
                        <ns1:rPr sz="2000" b="1">
                          <ns1:solidFill>
                            <ns1:srgbClr val="344854"/>
                          </ns1:solidFill>
                          <ns1:latin typeface="Arial"/>
                          <ns1:ea typeface="Arial"/>
                          <ns1:cs typeface="Arial"/>
                        </ns1:rPr>
                        <ns1:t>0.061</ns1:t>
                      </ns1:r>
                    </ns1:p>
                  </ns1:txBody>
                  <ns1:tcPr marL="114300" marR="114300" marT="38100" marB="38100" anchor="ctr">
                    <ns1:solidFill>
                      <ns1:srgbClr val="EAF1FA"/>
                    </ns1:solidFill>
                  </ns1:tcPr>
                </ns1:tc>
              </ns1:tr>
            </ns1:tbl>
          </ns1:graphicData>
        </ns1:graphic>
      </ns0:graphicFrame>
      <ns0:sp>
        <ns0:nvSpPr>
          <ns0:cNvPr id="97" name="Perturbation heading">
            <ns1:extLst>
              <ns1:ext uri="{FF2B5EF4-FFF2-40B4-BE49-F238E27FC236}">
                <ns2:creationId id="{08167B6A-953C-45D4-917D-351CF8859BD2}"/>
              </ns1:ext>
            </ns1:extLst>
          </ns0:cNvPr>
          <ns0:cNvSpPr>
            <ns1:spLocks noGrp="1"/>
          </ns0:cNvSpPr>
          <ns0:nvPr/>
        </ns0:nvSpPr>
        <ns0:spPr>
          <ns1:xfrm>
            <ns1:off x="22078950" y="18002250"/>
            <ns1:ext cx="10172700" cy="457200"/>
          </ns1:xfrm>
          <ns1:prstGeom prst="rect">
            <ns1:avLst/>
          </ns1:prstGeom>
          <ns1:noFill/>
          <ns1:ln w="0">
            <ns1:noFill/>
          </ns1:ln>
        </ns0:spPr>
        <ns0:txBody>
          <ns1:bodyPr wrap="square" lIns="0" tIns="0" rIns="0" bIns="0" anchor="t">
            <ns1:noAutofit/>
          </ns1:bodyPr>
          <ns1:lstStyle>
            <ns1:defPPr algn="l">
              <ns1:defRPr sz="2600" b="1">
                <ns1:solidFill>
                  <ns1:srgbClr val="183B66"/>
                </ns1:solidFill>
                <ns1:latin typeface="Arial"/>
                <ns1:ea typeface="Arial"/>
                <ns1:cs typeface="Arial"/>
              </ns1:defRPr>
            </ns1:defPPr>
          </ns1:lstStyle>
          <ns1:p>
            <ns1:pPr algn="l">
              <ns1:defRPr sz="2600" b="1">
                <ns1:solidFill>
                  <ns1:srgbClr val="183B66"/>
                </ns1:solidFill>
                <ns1:latin typeface="Arial"/>
                <ns1:ea typeface="Arial"/>
                <ns1:cs typeface="Arial"/>
              </ns1:defRPr>
            </ns1:pPr>
            <ns1:r>
              <ns1:rPr sz="2600" b="1">
                <ns1:solidFill>
                  <ns1:srgbClr val="183B66"/>
                </ns1:solidFill>
                <ns1:latin typeface="Arial"/>
                <ns1:ea typeface="Arial"/>
                <ns1:cs typeface="Arial"/>
              </ns1:rPr>
              <ns1:t>Perturbation-response prediction</ns1:t>
            </ns1:r>
          </ns1:p>
        </ns0:txBody>
      </ns0:sp>
      <ns0:pic>
        <ns0:nvPicPr>
          <ns0:cNvPr id="98" name="">
            <ns1:extLst>
              <ns1:ext uri="{FF2B5EF4-FFF2-40B4-BE49-F238E27FC236}">
                <ns2:creationId id="{B7EF5DB8-510D-4F95-85C5-6073162F28BC}"/>
              </ns1:ext>
            </ns1:extLst>
          </ns0:cNvPr>
          <ns0:cNvPicPr>
            <ns1:picLocks noChangeAspect="1"/>
          </ns0:cNvPicPr>
          <ns0:nvPr/>
        </ns0:nvPicPr>
        <ns0:blipFill>
          <ns1:blip ns3:embed="R66cd16f91312489b"/>
          <ns1:stretch/>
        </ns0:blipFill>
        <ns0:spPr>
          <ns1:xfrm>
            <ns1:off x="22082183" y="18478500"/>
            <ns1:ext cx="10166234" cy="2781300"/>
          </ns1:xfrm>
          <ns1:prstGeom prst="rect">
            <ns1:avLst/>
          </ns1:prstGeom>
        </ns0:spPr>
      </ns0:pic>
      <ns0:sp>
        <ns0:nvSpPr>
          <ns0:cNvPr id="99" name="Perturbation caption">
            <ns1:extLst>
              <ns1:ext uri="{FF2B5EF4-FFF2-40B4-BE49-F238E27FC236}">
                <ns2:creationId id="{874E121F-6745-437D-B1A0-FC66719ADD12}"/>
              </ns1:ext>
            </ns1:extLst>
          </ns0:cNvPr>
          <ns0:cNvSpPr>
            <ns1:spLocks noGrp="1"/>
          </ns0:cNvSpPr>
          <ns0:nvPr/>
        </ns0:nvSpPr>
        <ns0:spPr>
          <ns1:xfrm>
            <ns1:off x="22078950" y="21383625"/>
            <ns1:ext cx="10172700" cy="428625"/>
          </ns1:xfrm>
          <ns1:prstGeom prst="rect">
            <ns1:avLst/>
          </ns1:prstGeom>
          <ns1:noFill/>
          <ns1:ln w="0">
            <ns1:noFill/>
          </ns1:ln>
        </ns0:spPr>
        <ns0:txBody>
          <ns1:bodyPr wrap="square" lIns="0" tIns="0" rIns="0" bIns="0" anchor="t">
            <ns1:noAutofit/>
          </ns1:bodyPr>
          <ns1:lstStyle>
            <ns1:defPPr algn="l">
              <ns1:defRPr sz="1300" b="0">
                <ns1:solidFill>
                  <ns1:srgbClr val="344854"/>
                </ns1:solidFill>
                <ns1:latin typeface="Arial"/>
                <ns1:ea typeface="Arial"/>
                <ns1:cs typeface="Arial"/>
              </ns1:defRPr>
            </ns1:defPPr>
          </ns1:lstStyle>
          <ns1:p>
            <ns1:pPr algn="l">
              <ns1:defRPr sz="1300" b="0">
                <ns1:solidFill>
                  <ns1:srgbClr val="344854"/>
                </ns1:solidFill>
                <ns1:latin typeface="Arial"/>
                <ns1:ea typeface="Arial"/>
                <ns1:cs typeface="Arial"/>
              </ns1:defRPr>
            </ns1:pPr>
            <ns1:r>
              <ns1:rPr sz="1300" b="0">
                <ns1:solidFill>
                  <ns1:srgbClr val="344854"/>
                </ns1:solidFill>
                <ns1:latin typeface="Arial"/>
                <ns1:ea typeface="Arial"/>
                <ns1:cs typeface="Arial"/>
              </ns1:rPr>
              <ns1:t>Comparable to standard STATE inputs across four datasets. Profile generation is zero-shot for these datasets, while the STATE decoder remains trained.</ns1:t>
            </ns1:r>
          </ns1:p>
        </ns0:txBody>
      </ns0:sp>
    </ns0:spTree>
    <ns0:extLst>
      <ns0:ext uri="{BB962C8B-B14F-4D97-AF65-F5344CB8AC3E}">
        <ns5:creationId val="1080485198"/>
      </ns0:ext>
    </ns0:extLst>
  </ns0:cSld>
</ns0: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2026-10-10T08:21:58.2350000Z</dcterms:created>
  <dcterms:modified xsi:type="dcterms:W3CDTF">2026-10-10T08:21:58.2350000Z</dcterms:modified>
</coreProperties>
</file>