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3d38e56eb94d9d" /><Relationship Type="http://schemas.openxmlformats.org/officeDocument/2006/relationships/extended-properties" Target="/docProps/app.xml" Id="Reb27aa603c1d4e49" /><Relationship Type="http://schemas.openxmlformats.org/officeDocument/2006/relationships/officeDocument" Target="/ppt/presentation.xml" Id="R3c98abe641d842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1cc4dd03c24da4"/>
  </p:sldMasterIdLst>
  <p:notesMasterIdLst>
    <p:notesMasterId xmlns:r="http://schemas.openxmlformats.org/officeDocument/2006/relationships" r:id="R8e7d700c2cc5485d"/>
  </p:notesMasterIdLst>
  <p:sldIdLst>
    <p:sldId xmlns:r="http://schemas.openxmlformats.org/officeDocument/2006/relationships" id="256" r:id="Rec2e32ce5a4d4991"/>
  </p:sldIdLst>
  <p:sldSz cx="32918400" cy="21945600"/>
  <p:notesSz cx="6858000" cy="9144000"/>
  <p:defaultTextStyle>
    <a:def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</a:defRPr>
    </a:defPPr>
    <a:lvl1pPr xmlns:a="http://schemas.openxmlformats.org/drawingml/2006/main" marL="0" marR="0" indent="0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1pPr>
    <a:lvl2pPr xmlns:a="http://schemas.openxmlformats.org/drawingml/2006/main" marL="0" marR="0" indent="326532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2pPr>
    <a:lvl3pPr xmlns:a="http://schemas.openxmlformats.org/drawingml/2006/main" marL="0" marR="0" indent="653064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3pPr>
    <a:lvl4pPr xmlns:a="http://schemas.openxmlformats.org/drawingml/2006/main" marL="0" marR="0" indent="979596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4pPr>
    <a:lvl5pPr xmlns:a="http://schemas.openxmlformats.org/drawingml/2006/main" marL="0" marR="0" indent="1306128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5pPr>
    <a:lvl6pPr xmlns:a="http://schemas.openxmlformats.org/drawingml/2006/main" marL="0" marR="0" indent="1632661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6pPr>
    <a:lvl7pPr xmlns:a="http://schemas.openxmlformats.org/drawingml/2006/main" marL="0" marR="0" indent="1959193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7pPr>
    <a:lvl8pPr xmlns:a="http://schemas.openxmlformats.org/drawingml/2006/main" marL="0" marR="0" indent="2285725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8pPr>
    <a:lvl9pPr xmlns:a="http://schemas.openxmlformats.org/drawingml/2006/main" marL="0" marR="0" indent="2612257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bcaae21e4b459f" /><Relationship Type="http://schemas.openxmlformats.org/officeDocument/2006/relationships/slideMaster" Target="/ppt/slideMasters/slideMaster1.xml" Id="R941cc4dd03c24da4" /><Relationship Type="http://schemas.openxmlformats.org/officeDocument/2006/relationships/notesMaster" Target="/ppt/notesMasters/notesMaster1.xml" Id="R8e7d700c2cc5485d" /><Relationship Type="http://schemas.openxmlformats.org/officeDocument/2006/relationships/presProps" Target="/ppt/presProps.xml" Id="R562ee36564644677" /><Relationship Type="http://schemas.openxmlformats.org/officeDocument/2006/relationships/viewProps" Target="/ppt/viewProps.xml" Id="R5261406669844448" /><Relationship Type="http://schemas.openxmlformats.org/officeDocument/2006/relationships/tableStyles" Target="/ppt/tableStyles.xml" Id="R6414139325eb43ff" /><Relationship Type="http://schemas.openxmlformats.org/officeDocument/2006/relationships/slide" Target="/ppt/slides/slide1.xml" Id="Rec2e32ce5a4d49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5195400c544c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fe4cab4cc64886" /><Relationship Type="http://schemas.openxmlformats.org/officeDocument/2006/relationships/notesMaster" Target="/ppt/notesMasters/notesMaster1.xml" Id="R0c8b4accf64f49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Scientific sources: author-supplied camera-ready neurips_2026_arxiv.tex, Figure 1b and 1c crops, original Figures 2, 4, 5, https://arxiv.org/abs/2511.21075. Enrichment chart: diagnostic appendix, PMC 12.5/60.9%, CRAFT 11.2/63.8%, UltraChat 3.6/4.1%, NuminaMath 3.0/3.2% (sparse/dense). CRAFT measures expert concept spans; other corpora use biomedical entity annotations. Confidence regimes are observations, not ground-truth uncertainty labels. Equations: Section 3, numerical token example from the manuscript, masked response loss and detached weights. VCWorld: three-decimal means from the Results section, same shared recipe. Gemini comparison is not significant and exploratory. Figure 2 error bars describe eight decoding passes, not training-seed variability. Representation claims apply to evaluated tasks and do not isolate profile construction from the generating model. Official source template: https://drive.google.com/drive/u/1/folders/16tSJGJryd7NgQCBblaKxTfXLZXDIJJrt, supplied pptTemplate.pptx, 36x24 inches. Institutional logos: author-supplied Tencent and Tencent AI for Life Sciences Lab. Upload specifications: https://wiki.eventhosts.cc/en/reference/posteruploads. Project QR: https://shapsider.github.io/BFT/.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9bb034bc8c4de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ca88ea0d0049bf" /></Relationships>
</file>

<file path=ppt/slideLayouts/slideLayout1.xml><?xml version="1.0" encoding="utf-8"?>
<p:sldLayout xmlns:p="http://schemas.openxmlformats.org/presentationml/2006/main">
  <p:cSld name="FB AI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6482E30-1069-483B-A4B2-83F854508FF8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FB AI Research 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4CDA408-B8FA-4B4B-AF1A-3508C3C942A0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7a834999884088" /><Relationship Type="http://schemas.openxmlformats.org/officeDocument/2006/relationships/slideLayout" Target="/ppt/slideLayouts/slideLayout1.xml" Id="Rb0032452022e41e4" /><Relationship Type="http://schemas.openxmlformats.org/officeDocument/2006/relationships/slideLayout" Target="/ppt/slideLayouts/slideLayout2.xml" Id="Rc38d41dc472c4e4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79A752D2-44E5-4623-B8EF-B73B7328C5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645920" y="294640"/>
            <a:ext cx="29626561" cy="48260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913D6584-99B5-41ED-9021-E93A83E076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645920" y="5120640"/>
            <a:ext cx="29626561" cy="1682496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r>
              <a:t>Body Level One</a:t>
            </a:r>
          </a:p>
          <a:p xmlns:a="http://schemas.openxmlformats.org/drawingml/2006/main">
            <a:pPr lvl="1">
              <a:buNone/>
            </a:pPr>
            <a:r>
              <a:t>Body Level Two</a:t>
            </a:r>
          </a:p>
          <a:p xmlns:a="http://schemas.openxmlformats.org/drawingml/2006/main">
            <a:pPr lvl="2">
              <a:buNone/>
            </a:pPr>
            <a:r>
              <a:t>Body Level Three</a:t>
            </a:r>
          </a:p>
          <a:p xmlns:a="http://schemas.openxmlformats.org/drawingml/2006/main">
            <a:pPr lvl="3">
              <a:buNone/>
            </a:pPr>
            <a:r>
              <a:t>Body Level Four</a:t>
            </a:r>
          </a:p>
          <a:p xmlns:a="http://schemas.openxmlformats.org/drawingml/2006/main">
            <a:pPr lvl="4"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E21C825-D968-42CC-8745-898FDCAA1DC4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15910559" y="19756119"/>
            <a:ext cx="7680961" cy="11684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/>
            </a:lvl1pPr>
          </a:lstStyle>
          <a:p xmlns:a="http://schemas.openxmlformats.org/drawingml/2006/main"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032452022e41e4"/>
    <p:sldLayoutId xmlns:r="http://schemas.openxmlformats.org/officeDocument/2006/relationships" id="2147483650" r:id="Rc38d41dc472c4e45"/>
  </p:sldLayoutIdLst>
  <p:txStyles>
    <p:titleStyle>
      <a:lvl1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731556" marR="0" indent="-731556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2319804" marR="0" indent="-856691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3943547" marR="0" indent="-1017321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5531594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6994707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8457820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9920933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11384047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12847160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326532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653064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979596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306128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1632661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1959193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2285725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2612257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0f9fde76f4499" /><Relationship Type="http://schemas.openxmlformats.org/officeDocument/2006/relationships/image" Target="/ppt/media/image.png" Id="Rd0930b372cea48ec" /><Relationship Type="http://schemas.openxmlformats.org/officeDocument/2006/relationships/image" Target="/ppt/media/image2.png" Id="Re3f60db65f494f62" /><Relationship Type="http://schemas.openxmlformats.org/officeDocument/2006/relationships/image" Target="/ppt/media/image3.png" Id="R248f9486a03d4146" /><Relationship Type="http://schemas.openxmlformats.org/officeDocument/2006/relationships/image" Target="/ppt/media/image4.png" Id="R22f308aee2834b82" /><Relationship Type="http://schemas.openxmlformats.org/officeDocument/2006/relationships/chart" Target="/ppt/slides/charts/chart1.xml" Id="Rb69b1350ae674824" /><Relationship Type="http://schemas.openxmlformats.org/officeDocument/2006/relationships/image" Target="/ppt/media/image5.png" Id="R6d28dcf9cdcb4b0a" /><Relationship Type="http://schemas.openxmlformats.org/officeDocument/2006/relationships/chart" Target="/ppt/slides/charts/chart2.xml" Id="R43889262f3f343be" /><Relationship Type="http://schemas.openxmlformats.org/officeDocument/2006/relationships/image" Target="/ppt/media/image6.png" Id="Re87059b431884081" /><Relationship Type="http://schemas.openxmlformats.org/officeDocument/2006/relationships/image" Target="/ppt/media/image7.png" Id="R11ef9c2eeb814a25" /><Relationship Type="http://schemas.openxmlformats.org/officeDocument/2006/relationships/chart" Target="/ppt/slides/charts/chart3.xml" Id="Rd8cbf83510294920" /><Relationship Type="http://schemas.openxmlformats.org/officeDocument/2006/relationships/image" Target="/ppt/media/image8.png" Id="Rd9992ff5f939443a" /><Relationship Type="http://schemas.openxmlformats.org/officeDocument/2006/relationships/image" Target="/ppt/media/image9.png" Id="Ra688a09cd42d4deb" /><Relationship Type="http://schemas.openxmlformats.org/officeDocument/2006/relationships/notesSlide" Target="/ppt/notesSlides/notesSlide1.xml" Id="R115627385d13407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Sparse-low</c:v>
          </c:tx>
          <c:spPr>
            <a:solidFill xmlns:a="http://schemas.openxmlformats.org/drawingml/2006/main">
              <a:srgbClr val="A5B4C0"/>
            </a:solidFill>
          </c:spPr>
          <c:cat>
            <c:strRef>
              <c:f>'Chart Data'!$A$2:$A$5</c:f>
              <c:strCache>
                <c:ptCount val="4"/>
                <c:pt idx="0">
                  <c:v>PMC</c:v>
                </c:pt>
                <c:pt idx="1">
                  <c:v>CRAFT</c:v>
                </c:pt>
                <c:pt idx="2">
                  <c:v>UltraChat</c:v>
                </c:pt>
                <c:pt idx="3">
                  <c:v>NuminaMath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12.5</c:v>
                </c:pt>
                <c:pt idx="1">
                  <c:v>11.2</c:v>
                </c:pt>
                <c:pt idx="2">
                  <c:v>3.6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v>Dense-low</c:v>
          </c:tx>
          <c:spPr>
            <a:solidFill xmlns:a="http://schemas.openxmlformats.org/drawingml/2006/main">
              <a:srgbClr val="A92C48"/>
            </a:solidFill>
          </c:spPr>
          <c:cat>
            <c:strRef>
              <c:f>'Chart Data'!$C$2:$C$5</c:f>
              <c:strCache>
                <c:ptCount val="4"/>
                <c:pt idx="0">
                  <c:v>PMC</c:v>
                </c:pt>
                <c:pt idx="1">
                  <c:v>CRAFT</c:v>
                </c:pt>
                <c:pt idx="2">
                  <c:v>UltraChat</c:v>
                </c:pt>
                <c:pt idx="3">
                  <c:v>NuminaMath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60.9</c:v>
                </c:pt>
                <c:pt idx="1">
                  <c:v>63.8</c:v>
                </c:pt>
                <c:pt idx="2">
                  <c:v>4.1</c:v>
                </c:pt>
                <c:pt idx="3">
                  <c:v>3.2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344854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1D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00">
              <a:solidFill>
                <a:srgbClr val="344854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Before GRPO</c:v>
          </c:tx>
          <c:spPr>
            <a:solidFill xmlns:a="http://schemas.openxmlformats.org/drawingml/2006/main">
              <a:srgbClr val="A5B4C0"/>
            </a:solidFill>
          </c:spPr>
          <c:cat>
            <c:strRef>
              <c:f>'Chart Data'!$A$2:$A$6</c:f>
              <c:strCache>
                <c:ptCount val="5"/>
                <c:pt idx="0">
                  <c:v>DFT</c:v>
                </c:pt>
                <c:pt idx="1">
                  <c:v>SFT</c:v>
                </c:pt>
                <c:pt idx="2">
                  <c:v>BFT-sample</c:v>
                </c:pt>
                <c:pt idx="3">
                  <c:v>BFT-token</c:v>
                </c:pt>
                <c:pt idx="4">
                  <c:v>BFT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0.49</c:v>
                </c:pt>
                <c:pt idx="1">
                  <c:v>0.562</c:v>
                </c:pt>
                <c:pt idx="2">
                  <c:v>0.596</c:v>
                </c:pt>
                <c:pt idx="3">
                  <c:v>0.66</c:v>
                </c:pt>
                <c:pt idx="4">
                  <c:v>0.696</c:v>
                </c:pt>
              </c:numCache>
            </c:numRef>
          </c:val>
        </c:ser>
        <c:ser>
          <c:idx val="1"/>
          <c:order val="1"/>
          <c:tx>
            <c:v>After GRPO</c:v>
          </c:tx>
          <c:spPr>
            <a:solidFill xmlns:a="http://schemas.openxmlformats.org/drawingml/2006/main">
              <a:srgbClr val="0054B8"/>
            </a:solidFill>
          </c:spPr>
          <c:cat>
            <c:strRef>
              <c:f>'Chart Data'!$C$2:$C$6</c:f>
              <c:strCache>
                <c:ptCount val="5"/>
                <c:pt idx="0">
                  <c:v>DFT</c:v>
                </c:pt>
                <c:pt idx="1">
                  <c:v>SFT</c:v>
                </c:pt>
                <c:pt idx="2">
                  <c:v>BFT-sample</c:v>
                </c:pt>
                <c:pt idx="3">
                  <c:v>BFT-token</c:v>
                </c:pt>
                <c:pt idx="4">
                  <c:v>BFT</c:v>
                </c:pt>
              </c:strCache>
            </c:str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0.42</c:v>
                </c:pt>
                <c:pt idx="1">
                  <c:v>0.486</c:v>
                </c:pt>
                <c:pt idx="2">
                  <c:v>0.624</c:v>
                </c:pt>
                <c:pt idx="3">
                  <c:v>0.694</c:v>
                </c:pt>
                <c:pt idx="4">
                  <c:v>0.736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344854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1D4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344854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GenePT</c:v>
          </c:tx>
          <c:spPr>
            <a:solidFill xmlns:a="http://schemas.openxmlformats.org/drawingml/2006/main">
              <a:srgbClr val="A5B4C0"/>
            </a:solidFill>
          </c:spPr>
          <c:cat>
            <c:strRef>
              <c:f>'Chart Data'!$A$2:$A$7</c:f>
              <c:strCache>
                <c:ptCount val="6"/>
                <c:pt idx="0">
                  <c:v>TF range</c:v>
                </c:pt>
                <c:pt idx="1">
                  <c:v>Dosage</c:v>
                </c:pt>
                <c:pt idx="2">
                  <c:v>No-methy</c:v>
                </c:pt>
                <c:pt idx="3">
                  <c:v>Lys4</c:v>
                </c:pt>
                <c:pt idx="4">
                  <c:v>GGI</c:v>
                </c:pt>
                <c:pt idx="5">
                  <c:v>PPI</c:v>
                </c:pt>
              </c:strCache>
            </c:str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0.585</c:v>
                </c:pt>
                <c:pt idx="1">
                  <c:v>0.891</c:v>
                </c:pt>
                <c:pt idx="2">
                  <c:v>0.91</c:v>
                </c:pt>
                <c:pt idx="3">
                  <c:v>0.939</c:v>
                </c:pt>
                <c:pt idx="4">
                  <c:v>0.806</c:v>
                </c:pt>
                <c:pt idx="5">
                  <c:v>0.681</c:v>
                </c:pt>
              </c:numCache>
            </c:numRef>
          </c:val>
        </c:ser>
        <c:ser>
          <c:idx val="1"/>
          <c:order val="1"/>
          <c:tx>
            <c:v>BFT</c:v>
          </c:tx>
          <c:spPr>
            <a:solidFill xmlns:a="http://schemas.openxmlformats.org/drawingml/2006/main">
              <a:srgbClr val="0054B8"/>
            </a:solidFill>
          </c:spPr>
          <c:cat>
            <c:strRef>
              <c:f>'Chart Data'!$C$2:$C$7</c:f>
              <c:strCache>
                <c:ptCount val="6"/>
                <c:pt idx="0">
                  <c:v>TF range</c:v>
                </c:pt>
                <c:pt idx="1">
                  <c:v>Dosage</c:v>
                </c:pt>
                <c:pt idx="2">
                  <c:v>No-methy</c:v>
                </c:pt>
                <c:pt idx="3">
                  <c:v>Lys4</c:v>
                </c:pt>
                <c:pt idx="4">
                  <c:v>GGI</c:v>
                </c:pt>
                <c:pt idx="5">
                  <c:v>PPI</c:v>
                </c:pt>
              </c:strCache>
            </c:str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0.629</c:v>
                </c:pt>
                <c:pt idx="1">
                  <c:v>0.913</c:v>
                </c:pt>
                <c:pt idx="2">
                  <c:v>0.927</c:v>
                </c:pt>
                <c:pt idx="3">
                  <c:v>0.91</c:v>
                </c:pt>
                <c:pt idx="4">
                  <c:v>0.823</c:v>
                </c:pt>
                <c:pt idx="5">
                  <c:v>0.769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00">
                  <a:solidFill>
                    <a:srgbClr val="344854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1D4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00">
              <a:solidFill>
                <a:srgbClr val="344854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Box 35">
            <a:extLst xmlns:a="http://schemas.openxmlformats.org/drawingml/2006/main">
              <a:ext uri="{FF2B5EF4-FFF2-40B4-BE49-F238E27FC236}">
                <a16:creationId xmlns:a16="http://schemas.microsoft.com/office/drawing/2014/main" id="{10724BFF-27E0-406D-AA3F-A461E685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85800"/>
            <a:ext cx="25050750" cy="176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55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5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5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Aligning LLMs with Biomedical Knowledge</a:t>
            </a:r>
          </a:p>
          <a:p xmlns:a="http://schemas.openxmlformats.org/drawingml/2006/main">
            <a:pPr algn="l">
              <a:defRPr sz="5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5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using Balanced Fine-Tuning</a:t>
            </a:r>
          </a:p>
        </p:txBody>
      </p:sp>
      <p:sp>
        <p:nvSpPr>
          <p:cNvPr id="33" name="TextBox 38">
            <a:extLst xmlns:a="http://schemas.openxmlformats.org/drawingml/2006/main">
              <a:ext uri="{FF2B5EF4-FFF2-40B4-BE49-F238E27FC236}">
                <a16:creationId xmlns:a16="http://schemas.microsoft.com/office/drawing/2014/main" id="{DC669000-1602-431C-9A30-9DA4228B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38750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34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0054B8"/>
                </a:solidFill>
                <a:latin typeface="Arial"/>
                <a:ea typeface="Arial"/>
                <a:cs typeface="Arial"/>
              </a:rPr>
              <a:t>01  Experimental observations</a:t>
            </a:r>
          </a:p>
        </p:txBody>
      </p:sp>
      <p:sp>
        <p:nvSpPr>
          <p:cNvPr id="34" name="TextBox 39">
            <a:extLst xmlns:a="http://schemas.openxmlformats.org/drawingml/2006/main">
              <a:ext uri="{FF2B5EF4-FFF2-40B4-BE49-F238E27FC236}">
                <a16:creationId xmlns:a16="http://schemas.microsoft.com/office/drawing/2014/main" id="{D6BA9FF7-ECD5-4E78-BA37-14563517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48375"/>
            <a:ext cx="9048750" cy="859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>
              <a:lnSpc>
                <a:spcPct val="120000"/>
              </a:lnSpc>
              <a:buNone/>
              <a:defRPr sz="2100">
                <a:solidFill>
                  <a:srgbClr val="344854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Teacher-forced PMC text reveals two regimes: isolated low-confidence tokens and contiguous difficult regions (g = 256).</a:t>
            </a:r>
          </a:p>
        </p:txBody>
      </p:sp>
      <p:sp>
        <p:nvSpPr>
          <p:cNvPr id="37" name="TextBox 43">
            <a:extLst xmlns:a="http://schemas.openxmlformats.org/drawingml/2006/main">
              <a:ext uri="{FF2B5EF4-FFF2-40B4-BE49-F238E27FC236}">
                <a16:creationId xmlns:a16="http://schemas.microsoft.com/office/drawing/2014/main" id="{6A0FE544-C6BE-438D-9C78-DB76D546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5238750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34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0054B8"/>
                </a:solidFill>
                <a:latin typeface="Arial"/>
                <a:ea typeface="Arial"/>
                <a:cs typeface="Arial"/>
              </a:rPr>
              <a:t>03  Balanced Fine-Tuning</a:t>
            </a:r>
          </a:p>
        </p:txBody>
      </p:sp>
      <p:sp>
        <p:nvSpPr>
          <p:cNvPr id="38" name="TextBox 44">
            <a:extLst xmlns:a="http://schemas.openxmlformats.org/drawingml/2006/main">
              <a:ext uri="{FF2B5EF4-FFF2-40B4-BE49-F238E27FC236}">
                <a16:creationId xmlns:a16="http://schemas.microsoft.com/office/drawing/2014/main" id="{453B691E-4F3E-4942-8CD2-958EF67D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6048375"/>
            <a:ext cx="904875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One local confidence signal allocates training budget within each response and across responses.</a:t>
            </a:r>
          </a:p>
        </p:txBody>
      </p:sp>
      <p:sp>
        <p:nvSpPr>
          <p:cNvPr id="39" name="TextBox 45">
            <a:extLst xmlns:a="http://schemas.openxmlformats.org/drawingml/2006/main">
              <a:ext uri="{FF2B5EF4-FFF2-40B4-BE49-F238E27FC236}">
                <a16:creationId xmlns:a16="http://schemas.microsoft.com/office/drawing/2014/main" id="{6D6E17A8-0143-4D1A-B8D6-4066E25D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716000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34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0054B8"/>
                </a:solidFill>
                <a:latin typeface="Arial"/>
                <a:ea typeface="Arial"/>
                <a:cs typeface="Arial"/>
              </a:rPr>
              <a:t>02  Motivation</a:t>
            </a:r>
          </a:p>
        </p:txBody>
      </p:sp>
      <p:sp>
        <p:nvSpPr>
          <p:cNvPr id="40" name="TextBox 46">
            <a:extLst xmlns:a="http://schemas.openxmlformats.org/drawingml/2006/main">
              <a:ext uri="{FF2B5EF4-FFF2-40B4-BE49-F238E27FC236}">
                <a16:creationId xmlns:a16="http://schemas.microsoft.com/office/drawing/2014/main" id="{F5DE315A-F775-4CBB-8131-F8F4BCA9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382750"/>
            <a:ext cx="9048750" cy="105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DFT downweights every low-probability token. Biomedical learning needs to preserve difficult knowledge-bearing runs while controlling isolated outliers, then prioritize sequences containing hard regions.</a:t>
            </a:r>
          </a:p>
        </p:txBody>
      </p:sp>
      <p:sp>
        <p:nvSpPr>
          <p:cNvPr id="42" name="TextBox 51">
            <a:extLst xmlns:a="http://schemas.openxmlformats.org/drawingml/2006/main">
              <a:ext uri="{FF2B5EF4-FFF2-40B4-BE49-F238E27FC236}">
                <a16:creationId xmlns:a16="http://schemas.microsoft.com/office/drawing/2014/main" id="{8C3D0A02-46EA-48DC-8781-FCCA7369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5238750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34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0054B8"/>
                </a:solidFill>
                <a:latin typeface="Arial"/>
                <a:ea typeface="Arial"/>
                <a:cs typeface="Arial"/>
              </a:rPr>
              <a:t>04  Experimental results</a:t>
            </a:r>
          </a:p>
        </p:txBody>
      </p:sp>
      <p:sp>
        <p:nvSpPr>
          <p:cNvPr id="43" name="TextBox 52">
            <a:extLst xmlns:a="http://schemas.openxmlformats.org/drawingml/2006/main">
              <a:ext uri="{FF2B5EF4-FFF2-40B4-BE49-F238E27FC236}">
                <a16:creationId xmlns:a16="http://schemas.microsoft.com/office/drawing/2014/main" id="{326D0C0C-31B3-4534-852A-93FC9E39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6762750"/>
            <a:ext cx="904875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70B backbones, joint Up/Down/No accuracy</a:t>
            </a:r>
          </a:p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GRPO on 45 cell lines, evaluation on 5 held-out lines</a:t>
            </a:r>
          </a:p>
        </p:txBody>
      </p:sp>
      <p:sp>
        <p:nvSpPr>
          <p:cNvPr id="50" name="TextBox 37">
            <a:extLst xmlns:a="http://schemas.openxmlformats.org/drawingml/2006/main">
              <a:ext uri="{FF2B5EF4-FFF2-40B4-BE49-F238E27FC236}">
                <a16:creationId xmlns:a16="http://schemas.microsoft.com/office/drawing/2014/main" id="{DB5EE827-C0A0-4358-99F9-FAF4E76F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33675"/>
            <a:ext cx="24955500" cy="986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spcBef>
                <a:spcPts val="1000"/>
              </a:spcBef>
              <a:buNone/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Zhenchao Tang*¹, Fang Wang*†¹, Haohuai He¹, Jiale Zhou¹, Tianxu Lv¹, Jun Zhu¹, Shouzhi Chen¹, Minghao Yang¹,</a:t>
            </a:r>
          </a:p>
          <a:p xmlns:a="http://schemas.openxmlformats.org/drawingml/2006/main">
            <a:pPr algn="l">
              <a:lnSpc>
                <a:spcPct val="120000"/>
              </a:lnSpc>
              <a:spcBef>
                <a:spcPts val="1000"/>
              </a:spcBef>
              <a:buNone/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Yu Wang¹, Jiayang Wu¹, Yidong Song², Yaokun Li³, Jiehui Huang⁴, Jun Zhou⁵, Bing He¹, Jianhua Yao†¹</a:t>
            </a:r>
          </a:p>
        </p:txBody>
      </p:sp>
      <p:pic>
        <p:nvPicPr>
          <p:cNvPr id="54" name="neurips_logo.pdf">
            <a:extLst xmlns:a="http://schemas.openxmlformats.org/drawingml/2006/main">
              <a:ext uri="{FF2B5EF4-FFF2-40B4-BE49-F238E27FC236}">
                <a16:creationId xmlns:a16="http://schemas.microsoft.com/office/drawing/2014/main" id="{457B4412-86A0-43B7-8230-CD594B8D71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930b372cea48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7816" y="588942"/>
            <a:ext cx="4797779" cy="21590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5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936139D5-37D2-4096-95E9-05E99033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90950"/>
            <a:ext cx="249555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¹Tencent AI for Life Sciences Lab   ²Nankai University   ³Sun Yat-sen University</a:t>
            </a:r>
          </a:p>
          <a:p xmlns:a="http://schemas.openxmlformats.org/drawingml/2006/main">
            <a:pPr algn="l">
              <a:defRPr sz="1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⁴The Hong Kong University of Science and Technology   ⁵Tsinghua University</a:t>
            </a:r>
          </a:p>
          <a:p xmlns:a="http://schemas.openxmlformats.org/drawingml/2006/main">
            <a:pPr algn="l">
              <a:defRPr sz="1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*Equal contribution   †Corresponding authors: avonwanghit@gmail.com, jianhua.yao@gmail.com</a:t>
            </a:r>
          </a:p>
        </p:txBody>
      </p:sp>
      <p:pic>
        <p:nvPic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4AFF25E-2D5A-4A97-ABF7-899248DD18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60db65f494f62"/>
          <a:stretch xmlns:a="http://schemas.openxmlformats.org/drawingml/2006/main"/>
        </p:blipFill>
        <p:spPr>
          <a:xfrm xmlns:a="http://schemas.openxmlformats.org/drawingml/2006/main">
            <a:off x="27336750" y="3173585"/>
            <a:ext cx="2238375" cy="920405"/>
          </a:xfrm>
          <a:prstGeom xmlns:a="http://schemas.openxmlformats.org/drawingml/2006/main" prst="rect">
            <a:avLst/>
          </a:prstGeom>
        </p:spPr>
      </p:pic>
      <p:pic>
        <p:nvPic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2D80F46-C1EE-4DE0-A1C6-CF030D154B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8f9486a03d4146"/>
          <a:stretch xmlns:a="http://schemas.openxmlformats.org/drawingml/2006/main"/>
        </p:blipFill>
        <p:spPr>
          <a:xfrm xmlns:a="http://schemas.openxmlformats.org/drawingml/2006/main">
            <a:off x="29813250" y="3240520"/>
            <a:ext cx="2628900" cy="929409"/>
          </a:xfrm>
          <a:prstGeom xmlns:a="http://schemas.openxmlformats.org/drawingml/2006/main" prst="rect">
            <a:avLst/>
          </a:prstGeom>
        </p:spPr>
      </p:pic>
      <p:pic>
        <p:nvPic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26DB016-2044-4B5A-A1FA-37C11B462F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308aee2834b82"/>
          <a:stretch xmlns:a="http://schemas.openxmlformats.org/drawingml/2006/main"/>
        </p:blipFill>
        <p:spPr>
          <a:xfrm xmlns:a="http://schemas.openxmlformats.org/drawingml/2006/main">
            <a:off x="990600" y="7197149"/>
            <a:ext cx="9048750" cy="2369702"/>
          </a:xfrm>
          <a:prstGeom xmlns:a="http://schemas.openxmlformats.org/drawingml/2006/main" prst="rect">
            <a:avLst/>
          </a:prstGeom>
        </p:spPr>
      </p:pic>
      <p:sp>
        <p:nvSpPr>
          <p:cNvPr id="59" name="Observation chart title">
            <a:extLst xmlns:a="http://schemas.openxmlformats.org/drawingml/2006/main">
              <a:ext uri="{FF2B5EF4-FFF2-40B4-BE49-F238E27FC236}">
                <a16:creationId xmlns:a16="http://schemas.microsoft.com/office/drawing/2014/main" id="{71E90885-AEC8-41B4-B197-80B561EC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9715500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Biomedical entity / expert-concept share (%)</a:t>
            </a:r>
          </a:p>
        </p:txBody>
      </p:sp>
      <p:graphicFrame>
        <p:nvGraphicFramePr>
          <p:cNvPr id="60" name="Chart">
            <a:extLst xmlns:a="http://schemas.openxmlformats.org/drawingml/2006/main">
              <a:ext uri="{FF2B5EF4-FFF2-40B4-BE49-F238E27FC236}">
                <a16:creationId xmlns:a16="http://schemas.microsoft.com/office/drawing/2014/main" id="{A264CB37-B4B5-4444-AB56-91C488199F72}"/>
              </a:ext>
            </a:extLst>
          </p:cNvPr>
          <p:cNvGraphicFramePr/>
          <p:nvPr/>
        </p:nvGraphicFramePr>
        <p:xfrm>
          <a:off xmlns:a="http://schemas.openxmlformats.org/drawingml/2006/main" x="990600" y="10287000"/>
          <a:ext xmlns:a="http://schemas.openxmlformats.org/drawingml/2006/main" cx="9048750" cy="2476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9b1350ae674824"/>
          </a:graphicData>
        </a:graphic>
      </p:graphicFrame>
      <p:sp>
        <p:nvSpPr>
          <p:cNvPr id="61" name="Observation caption">
            <a:extLst xmlns:a="http://schemas.openxmlformats.org/drawingml/2006/main">
              <a:ext uri="{FF2B5EF4-FFF2-40B4-BE49-F238E27FC236}">
                <a16:creationId xmlns:a16="http://schemas.microsoft.com/office/drawing/2014/main" id="{15397B6E-AC6A-47C5-A331-0F024988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858750"/>
            <a:ext cx="904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CRAFT uses expert concept spans. General-domain controls show little entity enrichment. These measurements support a knowledge-gap interpretation, rather than directly labeling epistemic uncertainty.</a:t>
            </a:r>
          </a:p>
        </p:txBody>
      </p:sp>
      <p:pic>
        <p:nvPic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8C5C50E-E8E7-4D62-9E63-B50AC33390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28dcf9cdcb4b0a"/>
          <a:stretch xmlns:a="http://schemas.openxmlformats.org/drawingml/2006/main"/>
        </p:blipFill>
        <p:spPr>
          <a:xfrm xmlns:a="http://schemas.openxmlformats.org/drawingml/2006/main">
            <a:off x="11877675" y="7144662"/>
            <a:ext cx="9048750" cy="3360501"/>
          </a:xfrm>
          <a:prstGeom xmlns:a="http://schemas.openxmlformats.org/drawingml/2006/main" prst="rect">
            <a:avLst/>
          </a:prstGeom>
        </p:spPr>
      </p:pic>
      <p:sp>
        <p:nvSpPr>
          <p:cNvPr id="63" name="Token label">
            <a:extLst xmlns:a="http://schemas.openxmlformats.org/drawingml/2006/main">
              <a:ext uri="{FF2B5EF4-FFF2-40B4-BE49-F238E27FC236}">
                <a16:creationId xmlns:a16="http://schemas.microsoft.com/office/drawing/2014/main" id="{CA73F9A1-E8E0-4D04-AED1-3D3537E2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0715625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Within a sequence: local relative confidence</a:t>
            </a:r>
          </a:p>
        </p:txBody>
      </p:sp>
      <p:sp>
        <p:nvSpPr>
          <p:cNvPr id="64" name="Token equation">
            <a:extLst xmlns:a="http://schemas.openxmlformats.org/drawingml/2006/main">
              <a:ext uri="{FF2B5EF4-FFF2-40B4-BE49-F238E27FC236}">
                <a16:creationId xmlns:a16="http://schemas.microsoft.com/office/drawing/2014/main" id="{F01F9ED5-8401-4B3F-AE2C-D2C57D3F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1239500"/>
            <a:ext cx="904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0">
                <a:solidFill>
                  <a:srgbClr val="0054B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00" b="0">
                <a:solidFill>
                  <a:srgbClr val="0054B8"/>
                </a:solidFill>
                <a:latin typeface="Arial"/>
                <a:ea typeface="Arial"/>
                <a:cs typeface="Arial"/>
              </a:defRPr>
            </a:pPr>
            <a:r>
              <a:rPr sz="2600" b="0">
                <a:solidFill>
                  <a:srgbClr val="0054B8"/>
                </a:solidFill>
                <a:latin typeface="Arial"/>
                <a:ea typeface="Arial"/>
                <a:cs typeface="Arial"/>
              </a:rPr>
              <a:t>ρᵦ,ₜ = clip(cᵦ,ₜ / (Cᵦ,ₜˡᵒᶜ + ε), 0, 1)</a:t>
            </a:r>
          </a:p>
        </p:txBody>
      </p:sp>
      <p:sp>
        <p:nvSpPr>
          <p:cNvPr id="65" name="Token interpretation">
            <a:extLst xmlns:a="http://schemas.openxmlformats.org/drawingml/2006/main">
              <a:ext uri="{FF2B5EF4-FFF2-40B4-BE49-F238E27FC236}">
                <a16:creationId xmlns:a16="http://schemas.microsoft.com/office/drawing/2014/main" id="{18ABEFC8-BFB7-4F4C-8217-F7CB63E1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185862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For c = 0.10: Cˡᵒᶜ = 0.87 gives ρ = 0.115,</a:t>
            </a:r>
          </a:p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while Cˡᵒᶜ = 0.20 gives ρ = 0.50.</a:t>
            </a:r>
          </a:p>
        </p:txBody>
      </p:sp>
      <p:sp>
        <p:nvSpPr>
          <p:cNvPr id="66" name="Sample label">
            <a:extLst xmlns:a="http://schemas.openxmlformats.org/drawingml/2006/main">
              <a:ext uri="{FF2B5EF4-FFF2-40B4-BE49-F238E27FC236}">
                <a16:creationId xmlns:a16="http://schemas.microsoft.com/office/drawing/2014/main" id="{A4F7A47F-7364-4581-90AD-56EBF259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2811125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Across sequences: weakest local region</a:t>
            </a:r>
          </a:p>
        </p:txBody>
      </p:sp>
      <p:sp>
        <p:nvSpPr>
          <p:cNvPr id="67" name="Sample equation">
            <a:extLst xmlns:a="http://schemas.openxmlformats.org/drawingml/2006/main">
              <a:ext uri="{FF2B5EF4-FFF2-40B4-BE49-F238E27FC236}">
                <a16:creationId xmlns:a16="http://schemas.microsoft.com/office/drawing/2014/main" id="{DF706C5C-4D0D-4542-ACE1-36633F28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3335000"/>
            <a:ext cx="904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0">
                <a:solidFill>
                  <a:srgbClr val="0054B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00" b="0">
                <a:solidFill>
                  <a:srgbClr val="0054B8"/>
                </a:solidFill>
                <a:latin typeface="Arial"/>
                <a:ea typeface="Arial"/>
                <a:cs typeface="Arial"/>
              </a:defRPr>
            </a:pPr>
            <a:r>
              <a:rPr sz="2600" b="0">
                <a:solidFill>
                  <a:srgbClr val="0054B8"/>
                </a:solidFill>
                <a:latin typeface="Arial"/>
                <a:ea typeface="Arial"/>
                <a:cs typeface="Arial"/>
              </a:rPr>
              <a:t>sᵦ = sg(1 − minₜ Cᵦ,ₜˡᵒᶜ)</a:t>
            </a:r>
          </a:p>
        </p:txBody>
      </p:sp>
      <p:sp>
        <p:nvSpPr>
          <p:cNvPr id="68" name="Loss equation">
            <a:extLst xmlns:a="http://schemas.openxmlformats.org/drawingml/2006/main">
              <a:ext uri="{FF2B5EF4-FFF2-40B4-BE49-F238E27FC236}">
                <a16:creationId xmlns:a16="http://schemas.microsoft.com/office/drawing/2014/main" id="{F3A205B8-1B19-40EA-A328-962CDFBE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4001750"/>
            <a:ext cx="904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 = (1/B) Σᵦ sᵦ [Σₜ mᵦ,ₜ sg(ρᵦ,ₜ) ℓᵦ,ₜ]</a:t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                       / [Σₜ mᵦ,ₜ + ε]</a:t>
            </a:r>
          </a:p>
        </p:txBody>
      </p:sp>
      <p:sp>
        <p:nvSpPr>
          <p:cNvPr id="69" name="Method definitions">
            <a:extLst xmlns:a="http://schemas.openxmlformats.org/drawingml/2006/main">
              <a:ext uri="{FF2B5EF4-FFF2-40B4-BE49-F238E27FC236}">
                <a16:creationId xmlns:a16="http://schemas.microsoft.com/office/drawing/2014/main" id="{700CC461-641E-484E-B472-6B2C40A5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495425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Cˡᵒᶜ: centered-window mean of target probabilities. ℓ = −log c. m selects response tokens. Both weights use stop-gradient (sg). g = 256 is the only added tunable hyperparameter.</a:t>
            </a:r>
          </a:p>
        </p:txBody>
      </p:sp>
      <p:sp>
        <p:nvSpPr>
          <p:cNvPr id="70" name="VCWorld subheading">
            <a:extLst xmlns:a="http://schemas.openxmlformats.org/drawingml/2006/main">
              <a:ext uri="{FF2B5EF4-FFF2-40B4-BE49-F238E27FC236}">
                <a16:creationId xmlns:a16="http://schemas.microsoft.com/office/drawing/2014/main" id="{E3CD4F8B-5CE1-4849-AC23-75BCA408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6048375"/>
            <a:ext cx="904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Chemical perturbation reasoning</a:t>
            </a:r>
          </a:p>
        </p:txBody>
      </p:sp>
      <p:graphicFrame>
        <p:nvGraphicFramePr>
          <p:cNvPr id="71" name="Chart">
            <a:extLst xmlns:a="http://schemas.openxmlformats.org/drawingml/2006/main">
              <a:ext uri="{FF2B5EF4-FFF2-40B4-BE49-F238E27FC236}">
                <a16:creationId xmlns:a16="http://schemas.microsoft.com/office/drawing/2014/main" id="{4E59ECDD-7A98-4B8C-B16F-0557ABF4159F}"/>
              </a:ext>
            </a:extLst>
          </p:cNvPr>
          <p:cNvGraphicFramePr/>
          <p:nvPr/>
        </p:nvGraphicFramePr>
        <p:xfrm>
          <a:off xmlns:a="http://schemas.openxmlformats.org/drawingml/2006/main" x="22926675" y="8001000"/>
          <a:ext xmlns:a="http://schemas.openxmlformats.org/drawingml/2006/main" cx="90487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889262f3f343be"/>
          </a:graphicData>
        </a:graphic>
      </p:graphicFrame>
      <p:sp>
        <p:nvSpPr>
          <p:cNvPr id="72" name="VCWorld improvement">
            <a:extLst xmlns:a="http://schemas.openxmlformats.org/drawingml/2006/main">
              <a:ext uri="{FF2B5EF4-FFF2-40B4-BE49-F238E27FC236}">
                <a16:creationId xmlns:a16="http://schemas.microsoft.com/office/drawing/2014/main" id="{4BFD45B8-710E-427C-813A-25471490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22872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0054B8"/>
                </a:solidFill>
                <a:latin typeface="Arial"/>
                <a:ea typeface="Arial"/>
                <a:cs typeface="Arial"/>
              </a:rPr>
              <a:t>+13.4 pp over SFT before GRPO</a:t>
            </a:r>
          </a:p>
        </p:txBody>
      </p:sp>
      <p:sp>
        <p:nvSpPr>
          <p:cNvPr id="73" name="VCWorld comparison">
            <a:extLst xmlns:a="http://schemas.openxmlformats.org/drawingml/2006/main">
              <a:ext uri="{FF2B5EF4-FFF2-40B4-BE49-F238E27FC236}">
                <a16:creationId xmlns:a16="http://schemas.microsoft.com/office/drawing/2014/main" id="{66540740-49BE-4850-B105-5013EDE9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2906375"/>
            <a:ext cx="904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BFT 0.696 vs SFT 0.562 under the shared recipe.</a:t>
            </a:r>
          </a:p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Token-only 0.660 and sample-only 0.596 are intermediate.</a:t>
            </a:r>
          </a:p>
        </p:txBody>
      </p:sp>
      <p:sp>
        <p:nvSpPr>
          <p:cNvPr id="74" name="RL improvement">
            <a:extLst xmlns:a="http://schemas.openxmlformats.org/drawingml/2006/main">
              <a:ext uri="{FF2B5EF4-FFF2-40B4-BE49-F238E27FC236}">
                <a16:creationId xmlns:a16="http://schemas.microsoft.com/office/drawing/2014/main" id="{5B4B415E-05DE-4808-8F2D-526AF710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39065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00" b="1">
                <a:solidFill>
                  <a:srgbClr val="0054B8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0054B8"/>
                </a:solidFill>
                <a:latin typeface="Arial"/>
                <a:ea typeface="Arial"/>
                <a:cs typeface="Arial"/>
              </a:rPr>
              <a:t>+4.0 pp after sparse-reward GRPO</a:t>
            </a:r>
          </a:p>
        </p:txBody>
      </p:sp>
      <p:sp>
        <p:nvSpPr>
          <p:cNvPr id="75" name="RL comparison">
            <a:extLst xmlns:a="http://schemas.openxmlformats.org/drawingml/2006/main">
              <a:ext uri="{FF2B5EF4-FFF2-40B4-BE49-F238E27FC236}">
                <a16:creationId xmlns:a16="http://schemas.microsoft.com/office/drawing/2014/main" id="{13C63E96-F355-4D23-94E1-A9D1E35C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4525625"/>
            <a:ext cx="904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All BFT variants improve. SFT loses 7.6 pp and DFT loses 7.0 pp under the same GRPO setup.</a:t>
            </a:r>
          </a:p>
        </p:txBody>
      </p:sp>
      <p:sp>
        <p:nvSpPr>
          <p:cNvPr id="76" name="VCWorld uncertainty">
            <a:extLst xmlns:a="http://schemas.openxmlformats.org/drawingml/2006/main">
              <a:ext uri="{FF2B5EF4-FFF2-40B4-BE49-F238E27FC236}">
                <a16:creationId xmlns:a16="http://schemas.microsoft.com/office/drawing/2014/main" id="{0ACBAF8B-C024-490B-8388-068FCD4D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5430500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BFT vs Gemini-2.5-Flash: +0.018, 95% CI [−0.004, 0.040], p = 0.088. The difference is not statistically significant.</a:t>
            </a:r>
          </a:p>
        </p:txBody>
      </p:sp>
      <p:sp>
        <p:nvSpPr>
          <p:cNvPr id="77" name="Medical heading">
            <a:extLst xmlns:a="http://schemas.openxmlformats.org/drawingml/2006/main">
              <a:ext uri="{FF2B5EF4-FFF2-40B4-BE49-F238E27FC236}">
                <a16:creationId xmlns:a16="http://schemas.microsoft.com/office/drawing/2014/main" id="{869AFA77-F92E-4587-93B0-8C01F942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9725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&amp; biological reasoning</a:t>
            </a:r>
          </a:p>
        </p:txBody>
      </p:sp>
      <p:sp>
        <p:nvSpPr>
          <p:cNvPr id="78" name="Medical setup">
            <a:extLst xmlns:a="http://schemas.openxmlformats.org/drawingml/2006/main">
              <a:ext uri="{FF2B5EF4-FFF2-40B4-BE49-F238E27FC236}">
                <a16:creationId xmlns:a16="http://schemas.microsoft.com/office/drawing/2014/main" id="{4579F6ED-E86F-4FC2-8BDE-CD2F73EB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906875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HealthBench Hard, 70B axis- and theme-wise scores</a:t>
            </a:r>
          </a:p>
        </p:txBody>
      </p:sp>
      <p:pic>
        <p:nvPic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4151016-301A-4B64-8D72-1457952C38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059b431884081"/>
          <a:stretch xmlns:a="http://schemas.openxmlformats.org/drawingml/2006/main"/>
        </p:blipFill>
        <p:spPr>
          <a:xfrm xmlns:a="http://schemas.openxmlformats.org/drawingml/2006/main">
            <a:off x="998323" y="17526000"/>
            <a:ext cx="9033304" cy="2762250"/>
          </a:xfrm>
          <a:prstGeom xmlns:a="http://schemas.openxmlformats.org/drawingml/2006/main" prst="rect">
            <a:avLst/>
          </a:prstGeom>
        </p:spPr>
      </p:pic>
      <p:pic>
        <p:nvPic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2629740-799E-47BB-9045-ED493D6F5E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f9c2eeb814a25"/>
          <a:stretch xmlns:a="http://schemas.openxmlformats.org/drawingml/2006/main"/>
        </p:blipFill>
        <p:spPr>
          <a:xfrm xmlns:a="http://schemas.openxmlformats.org/drawingml/2006/main">
            <a:off x="1993371" y="20288250"/>
            <a:ext cx="7043208" cy="523875"/>
          </a:xfrm>
          <a:prstGeom xmlns:a="http://schemas.openxmlformats.org/drawingml/2006/main" prst="rect">
            <a:avLst/>
          </a:prstGeom>
        </p:spPr>
      </p:pic>
      <p:sp>
        <p:nvSpPr>
          <p:cNvPr id="81" name="Medical caption">
            <a:extLst xmlns:a="http://schemas.openxmlformats.org/drawingml/2006/main">
              <a:ext uri="{FF2B5EF4-FFF2-40B4-BE49-F238E27FC236}">
                <a16:creationId xmlns:a16="http://schemas.microsoft.com/office/drawing/2014/main" id="{B1B3DE22-3ADC-4F4A-B155-07943520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0"/>
            <a:ext cx="904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BFT improves more consistently across 14B / 32B / 70B. In GeneAgent, it achieves the best overall ROUGE among aligned open-weight models. Error bars denote decoding variability, not training-seed variability.</a:t>
            </a:r>
          </a:p>
        </p:txBody>
      </p:sp>
      <p:sp>
        <p:nvSpPr>
          <p:cNvPr id="82" name="Representation heading">
            <a:extLst xmlns:a="http://schemas.openxmlformats.org/drawingml/2006/main">
              <a:ext uri="{FF2B5EF4-FFF2-40B4-BE49-F238E27FC236}">
                <a16:creationId xmlns:a16="http://schemas.microsoft.com/office/drawing/2014/main" id="{B41E26F9-A364-4994-9E46-545E51D2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609725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Gene &amp; cell representations</a:t>
            </a:r>
          </a:p>
        </p:txBody>
      </p:sp>
      <p:sp>
        <p:nvSpPr>
          <p:cNvPr id="83" name="Representation setup">
            <a:extLst xmlns:a="http://schemas.openxmlformats.org/drawingml/2006/main">
              <a:ext uri="{FF2B5EF4-FFF2-40B4-BE49-F238E27FC236}">
                <a16:creationId xmlns:a16="http://schemas.microsoft.com/office/drawing/2014/main" id="{4D2A2BC2-3020-4E85-B774-4271D448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6906875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Gene-level AUC, matched ada-002 encoder</a:t>
            </a:r>
          </a:p>
        </p:txBody>
      </p:sp>
      <p:graphicFrame>
        <p:nvGraphicFramePr>
          <p:cNvPr id="84" name="Chart">
            <a:extLst xmlns:a="http://schemas.openxmlformats.org/drawingml/2006/main">
              <a:ext uri="{FF2B5EF4-FFF2-40B4-BE49-F238E27FC236}">
                <a16:creationId xmlns:a16="http://schemas.microsoft.com/office/drawing/2014/main" id="{C44CF05F-68BF-4D8F-8F37-1C340B7B48D7}"/>
              </a:ext>
            </a:extLst>
          </p:cNvPr>
          <p:cNvGraphicFramePr/>
          <p:nvPr/>
        </p:nvGraphicFramePr>
        <p:xfrm>
          <a:off xmlns:a="http://schemas.openxmlformats.org/drawingml/2006/main" x="11877675" y="17526000"/>
          <a:ext xmlns:a="http://schemas.openxmlformats.org/drawingml/2006/main" cx="904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cbf83510294920"/>
          </a:graphicData>
        </a:graphic>
      </p:graphicFrame>
      <p:sp>
        <p:nvSpPr>
          <p:cNvPr id="85" name="Cell results">
            <a:extLst xmlns:a="http://schemas.openxmlformats.org/drawingml/2006/main">
              <a:ext uri="{FF2B5EF4-FFF2-40B4-BE49-F238E27FC236}">
                <a16:creationId xmlns:a16="http://schemas.microsoft.com/office/drawing/2014/main" id="{1C456421-AA44-44F4-BD75-89B1ED98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20383500"/>
            <a:ext cx="9048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BFT cell-type clustering: ARI 0.34, AMI 0.58,</a:t>
            </a:r>
          </a:p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ASW 0.061, best among evaluated methods.</a:t>
            </a:r>
          </a:p>
        </p:txBody>
      </p:sp>
      <p:sp>
        <p:nvSpPr>
          <p:cNvPr id="86" name="Representation caption">
            <a:extLst xmlns:a="http://schemas.openxmlformats.org/drawingml/2006/main">
              <a:ext uri="{FF2B5EF4-FFF2-40B4-BE49-F238E27FC236}">
                <a16:creationId xmlns:a16="http://schemas.microsoft.com/office/drawing/2014/main" id="{6AFD1D51-7C58-49BF-9A8B-EE9DDD66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21336000"/>
            <a:ext cx="9048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Best average gene AUC: BFT 0.829 vs GenePT 0.802. GenePT remains higher on Lys4. BFT-generated profiles and NCBI summaries differ in source and construction.</a:t>
            </a:r>
          </a:p>
        </p:txBody>
      </p:sp>
      <p:sp>
        <p:nvSpPr>
          <p:cNvPr id="87" name="Perturbation heading">
            <a:extLst xmlns:a="http://schemas.openxmlformats.org/drawingml/2006/main">
              <a:ext uri="{FF2B5EF4-FFF2-40B4-BE49-F238E27FC236}">
                <a16:creationId xmlns:a16="http://schemas.microsoft.com/office/drawing/2014/main" id="{84A87A3F-1DA1-435E-9BDA-C5E0994F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609725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Perturbation-response prediction</a:t>
            </a:r>
          </a:p>
        </p:txBody>
      </p:sp>
      <p:pic>
        <p:nvPic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B22847D-BED8-4B1D-B1E2-0EE706AB80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92ff5f939443a"/>
          <a:stretch xmlns:a="http://schemas.openxmlformats.org/drawingml/2006/main"/>
        </p:blipFill>
        <p:spPr>
          <a:xfrm xmlns:a="http://schemas.openxmlformats.org/drawingml/2006/main">
            <a:off x="22926675" y="16954962"/>
            <a:ext cx="9048750" cy="2475576"/>
          </a:xfrm>
          <a:prstGeom xmlns:a="http://schemas.openxmlformats.org/drawingml/2006/main" prst="rect">
            <a:avLst/>
          </a:prstGeom>
        </p:spPr>
      </p:pic>
      <p:sp>
        <p:nvSpPr>
          <p:cNvPr id="89" name="Perturbation interpretation">
            <a:extLst xmlns:a="http://schemas.openxmlformats.org/drawingml/2006/main">
              <a:ext uri="{FF2B5EF4-FFF2-40B4-BE49-F238E27FC236}">
                <a16:creationId xmlns:a16="http://schemas.microsoft.com/office/drawing/2014/main" id="{85AAF45B-F0BE-4EFB-B8A2-AEFCD061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9526250"/>
            <a:ext cx="666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BFT profile embeddings perform comparably to standard STATE inputs across four datasets. Profile generation is zero-shot for these datasets. The STATE decoder remains trained.</a:t>
            </a:r>
          </a:p>
        </p:txBody>
      </p:sp>
      <p:sp>
        <p:nvSpPr>
          <p:cNvPr id="90" name="Links">
            <a:extLst xmlns:a="http://schemas.openxmlformats.org/drawingml/2006/main">
              <a:ext uri="{FF2B5EF4-FFF2-40B4-BE49-F238E27FC236}">
                <a16:creationId xmlns:a16="http://schemas.microsoft.com/office/drawing/2014/main" id="{028D4D40-26B3-4EE4-AF74-7CFF893F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20955000"/>
            <a:ext cx="695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677B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00" b="0">
                <a:solidFill>
                  <a:srgbClr val="677B8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677B8C"/>
                </a:solidFill>
                <a:latin typeface="Arial"/>
                <a:ea typeface="Arial"/>
                <a:cs typeface="Arial"/>
              </a:rPr>
              <a:t>arxiv.org/abs/2511.21075</a:t>
            </a:r>
          </a:p>
          <a:p xmlns:a="http://schemas.openxmlformats.org/drawingml/2006/main">
            <a:pPr algn="l">
              <a:defRPr sz="1300" b="0">
                <a:solidFill>
                  <a:srgbClr val="677B8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677B8C"/>
                </a:solidFill>
                <a:latin typeface="Arial"/>
                <a:ea typeface="Arial"/>
                <a:cs typeface="Arial"/>
              </a:rPr>
              <a:t>github.com/TencentAILabHealthcare/BFT</a:t>
            </a:r>
          </a:p>
          <a:p xmlns:a="http://schemas.openxmlformats.org/drawingml/2006/main">
            <a:pPr algn="l">
              <a:defRPr sz="1300" b="0">
                <a:solidFill>
                  <a:srgbClr val="677B8C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677B8C"/>
                </a:solidFill>
                <a:latin typeface="Arial"/>
                <a:ea typeface="Arial"/>
                <a:cs typeface="Arial"/>
              </a:rPr>
              <a:t>shapsider.github.io/BFT</a:t>
            </a:r>
          </a:p>
        </p:txBody>
      </p:sp>
      <p:pic>
        <p:nvPic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6C2D29B-9FBD-44A8-9FD4-FA17C7E9F4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8a09cd42d4deb"/>
          <a:stretch xmlns:a="http://schemas.openxmlformats.org/drawingml/2006/main"/>
        </p:blipFill>
        <p:spPr>
          <a:xfrm xmlns:a="http://schemas.openxmlformats.org/drawingml/2006/main">
            <a:off x="30670500" y="19716750"/>
            <a:ext cx="1714500" cy="1714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34848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2026-10-10T08:02:52.0290000Z</dcterms:created>
  <dcterms:modified xsi:type="dcterms:W3CDTF">2026-10-10T08:02:52.0290000Z</dcterms:modified>
</coreProperties>
</file>